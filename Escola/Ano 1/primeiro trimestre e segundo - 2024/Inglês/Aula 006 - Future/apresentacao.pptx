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3" r:id="rId15"/>
    <p:sldId id="274" r:id="rId16"/>
    <p:sldId id="275" r:id="rId17"/>
    <p:sldId id="269" r:id="rId18"/>
    <p:sldId id="270" r:id="rId19"/>
    <p:sldId id="271" r:id="rId20"/>
    <p:sldId id="272" r:id="rId21"/>
    <p:sldId id="268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sem Título" id="{DDCB4894-9547-476D-8937-1B20ABC4E271}">
          <p14:sldIdLst>
            <p14:sldId id="256"/>
            <p14:sldId id="257"/>
            <p14:sldId id="276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eção sem Título" id="{9E08F19B-B961-4438-9AD1-9F97AF103373}">
          <p14:sldIdLst>
            <p14:sldId id="264"/>
            <p14:sldId id="265"/>
            <p14:sldId id="266"/>
            <p14:sldId id="267"/>
            <p14:sldId id="273"/>
            <p14:sldId id="274"/>
            <p14:sldId id="275"/>
            <p14:sldId id="269"/>
            <p14:sldId id="270"/>
            <p14:sldId id="271"/>
            <p14:sldId id="272"/>
          </p14:sldIdLst>
        </p14:section>
        <p14:section name="Seção sem Título" id="{F9C91124-309F-4EEA-B19F-E84AB8493E3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4545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0F52C-E68E-CBC2-82CC-E23BCC7F0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0471E9-2EC9-2051-2DA0-8E4B0172C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65C318-38E9-66FA-B977-26A3E0F9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2304B-A993-4513-9AF8-E691D83EBDB0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64E12C-7DAF-9B7A-F724-F7C12877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C145FE-8774-D5B9-FCDF-3D6C5B9CC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4CEF-5BEB-490B-BBD7-9BEC5ABD5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11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E95BB-6465-7F3E-CDF2-6D80BCB2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CD1DEC-97C9-7EEE-E74E-E43EAB223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D073CC-54D2-16F8-744B-6B834EF1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2304B-A993-4513-9AF8-E691D83EBDB0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3EA276-5FC2-3923-31CB-615BC133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1362EF-FE60-8E30-E4C0-08CD0A27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4CEF-5BEB-490B-BBD7-9BEC5ABD5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277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AFA14-78DC-6511-313C-8B927D3E1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BCE42C-5DE9-B416-D36E-3341D190C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8EC7E7-6571-068C-9898-959D6CE0B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2304B-A993-4513-9AF8-E691D83EBDB0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364C0A-625B-839D-2015-6DB308DC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88080D-2FE3-8FBC-014A-1BFE78F7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4CEF-5BEB-490B-BBD7-9BEC5ABD5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73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0919-F60D-8D71-6139-9C4102403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7C8026-3F05-7A18-D06F-CA21102E4C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3C971B-9405-1673-6677-968D08392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C7C257-FC83-A17C-475E-68C5CBCE3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2304B-A993-4513-9AF8-E691D83EBDB0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8E36BB-6E27-2666-0BDD-9F8AA430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278BFA-6872-E818-C07A-EB61E95D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4CEF-5BEB-490B-BBD7-9BEC5ABD5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9161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9DD95-C45D-BC2E-220A-82529F4E7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809A44-0D7E-83EA-DA9B-BFF5E8248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317247-BDF6-B4E2-12C6-00BC1602A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CAC0E11-401E-5A34-6FCF-2A2C56EFE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C2A74C-544E-2111-4582-939A01BC7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4BCB389-F73B-E7FF-F6BC-C28AE008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2304B-A993-4513-9AF8-E691D83EBDB0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3762E36-1D7C-255E-0942-3EE7B6343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A0E865A-1318-2E7D-0671-4333BD79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4CEF-5BEB-490B-BBD7-9BEC5ABD5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89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BA40D-B03A-4587-DE55-99F5AAA4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B42DB3B-7073-C848-1BF6-880B2882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2304B-A993-4513-9AF8-E691D83EBDB0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010D7A6-AE18-725D-1E97-E4D7C3AE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C7211CD-4BD1-3433-ADC5-813E5FD6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4CEF-5BEB-490B-BBD7-9BEC5ABD5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9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D202649-C348-EFAC-FEB5-9DBE6F35B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2304B-A993-4513-9AF8-E691D83EBDB0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69BEFB6-620A-6BE2-8303-3A861A38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24DD73-6BE8-F393-D456-3F93F807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4CEF-5BEB-490B-BBD7-9BEC5ABD5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15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ACC26-6B8A-6D78-E087-7CE98F8FC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6F6DF2-F7B9-69D6-F8AA-EF16D2209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3A4996-194E-ABAA-94F9-4460C1CCD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ED375D-1E70-D257-6990-9FDE9319A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2304B-A993-4513-9AF8-E691D83EBDB0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40438B-E417-C2B4-1AB3-9B0C76D6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43FC89-30AD-6A30-8172-60E3033E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4CEF-5BEB-490B-BBD7-9BEC5ABD5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183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C95B4-B391-764B-D563-7F713C7A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87F90B-64B8-9E3C-CECF-FBC047D92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752453-F1DF-DEEE-A839-4BAF1CCB1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9869AB-5569-6333-6A20-D9550A9E2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2304B-A993-4513-9AF8-E691D83EBDB0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22061A-1103-95CC-E3EC-36F3A7528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CDA9D5-3639-0AD9-9D42-1E79BB41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4CEF-5BEB-490B-BBD7-9BEC5ABD5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19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BE165-FE06-67CA-F70D-47BDECA1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8ABBB5-B0CF-D39B-E553-A4251F8FA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E09A83-B553-B482-3F55-A9040273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2304B-A993-4513-9AF8-E691D83EBDB0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CA64E0-C93D-C6D8-67F3-B8B093E40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D6FF10-738F-E6B8-AE1D-289CDF57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4CEF-5BEB-490B-BBD7-9BEC5ABD5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18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923AC1-07C7-39B2-E121-E3AC619C9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4BADC2E-41C3-1135-77D2-7DA64EEC2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D087D1-D213-BAFB-7F74-C53DF4BEE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2304B-A993-4513-9AF8-E691D83EBDB0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B9DAAE-BE33-FA3D-2B03-099CCCD47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D8F1E8-F24D-2605-1D12-B3761998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4CEF-5BEB-490B-BBD7-9BEC5ABD5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638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6685A51-DC2D-0413-976F-B1D5721C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8123FE-EFDF-170B-3651-FE569B059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B2257D-0ED7-94F2-61CC-95EE27F5C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2304B-A993-4513-9AF8-E691D83EBDB0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FC2FF0-E4CD-0065-4C71-E42E1EDB6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A534D7-432C-3BEA-BE3C-02B82826A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DF4CEF-5BEB-490B-BBD7-9BEC5ABD5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7627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jpe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jpe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jpe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2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6.jpeg"/><Relationship Id="rId4" Type="http://schemas.openxmlformats.org/officeDocument/2006/relationships/image" Target="../media/image1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Modelo 3D 9" descr="Funilaria preta de Phantom Future">
                <a:extLst>
                  <a:ext uri="{FF2B5EF4-FFF2-40B4-BE49-F238E27FC236}">
                    <a16:creationId xmlns:a16="http://schemas.microsoft.com/office/drawing/2014/main" id="{FA449E80-13F4-2A00-068A-468AE71849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8452757"/>
                  </p:ext>
                </p:extLst>
              </p:nvPr>
            </p:nvGraphicFramePr>
            <p:xfrm>
              <a:off x="-1250657" y="-1184086"/>
              <a:ext cx="3892206" cy="324509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892206" cy="3245091"/>
                    </a:xfrm>
                    <a:prstGeom prst="rect">
                      <a:avLst/>
                    </a:prstGeom>
                  </am3d:spPr>
                  <am3d:camera>
                    <am3d:pos x="0" y="0" z="5570169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9242835" d="1000000"/>
                    <am3d:preTrans dx="0" dy="-3655245" dz="-539827"/>
                    <am3d:scale>
                      <am3d:sx n="1000000" d="1000000"/>
                      <am3d:sy n="1000000" d="1000000"/>
                      <am3d:sz n="1000000" d="1000000"/>
                    </am3d:scale>
                    <am3d:rot ax="2643761" ay="2327268" az="187362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281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Modelo 3D 9" descr="Funilaria preta de Phantom Future">
                <a:extLst>
                  <a:ext uri="{FF2B5EF4-FFF2-40B4-BE49-F238E27FC236}">
                    <a16:creationId xmlns:a16="http://schemas.microsoft.com/office/drawing/2014/main" id="{FA449E80-13F4-2A00-068A-468AE71849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0657" y="-1184086"/>
                <a:ext cx="3892206" cy="3245091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83569C-459A-931B-CB0A-7D85F3F29F27}"/>
              </a:ext>
            </a:extLst>
          </p:cNvPr>
          <p:cNvSpPr txBox="1"/>
          <p:nvPr/>
        </p:nvSpPr>
        <p:spPr>
          <a:xfrm>
            <a:off x="1390891" y="1851645"/>
            <a:ext cx="9410218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FUTURE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F0A8A62-8E7C-7A07-CF57-BF5457583647}"/>
              </a:ext>
            </a:extLst>
          </p:cNvPr>
          <p:cNvSpPr txBox="1"/>
          <p:nvPr/>
        </p:nvSpPr>
        <p:spPr>
          <a:xfrm>
            <a:off x="3381882" y="4083025"/>
            <a:ext cx="5428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i="1" dirty="0">
                <a:solidFill>
                  <a:srgbClr val="454545"/>
                </a:solidFill>
              </a:rPr>
              <a:t>Futuro em inglês</a:t>
            </a:r>
            <a:endParaRPr lang="pt-BR" sz="8000" b="1" i="1" dirty="0">
              <a:solidFill>
                <a:srgbClr val="45454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395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Modelo 3D 9" descr="Funilaria preta de Phantom Future">
                <a:extLst>
                  <a:ext uri="{FF2B5EF4-FFF2-40B4-BE49-F238E27FC236}">
                    <a16:creationId xmlns:a16="http://schemas.microsoft.com/office/drawing/2014/main" id="{FA449E80-13F4-2A00-068A-468AE71849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91765630"/>
                  </p:ext>
                </p:extLst>
              </p:nvPr>
            </p:nvGraphicFramePr>
            <p:xfrm rot="958369">
              <a:off x="9634770" y="4557765"/>
              <a:ext cx="4463190" cy="3207025"/>
            </p:xfrm>
            <a:graphic>
              <a:graphicData uri="http://schemas.microsoft.com/office/drawing/2017/model3d">
                <am3d:model3d r:embed="rId2">
                  <am3d:spPr>
                    <a:xfrm rot="958369">
                      <a:off x="0" y="0"/>
                      <a:ext cx="4463190" cy="3207025"/>
                    </a:xfrm>
                    <a:prstGeom prst="rect">
                      <a:avLst/>
                    </a:prstGeom>
                  </am3d:spPr>
                  <am3d:camera>
                    <am3d:pos x="0" y="0" z="5570169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9242835" d="1000000"/>
                    <am3d:preTrans dx="0" dy="-3655245" dz="-539827"/>
                    <am3d:scale>
                      <am3d:sx n="1000000" d="1000000"/>
                      <am3d:sy n="1000000" d="1000000"/>
                      <am3d:sz n="1000000" d="1000000"/>
                    </am3d:scale>
                    <am3d:rot ax="7679875" ay="-2295609" az="-849590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2815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Modelo 3D 9" descr="Funilaria preta de Phantom Future">
                <a:extLst>
                  <a:ext uri="{FF2B5EF4-FFF2-40B4-BE49-F238E27FC236}">
                    <a16:creationId xmlns:a16="http://schemas.microsoft.com/office/drawing/2014/main" id="{FA449E80-13F4-2A00-068A-468AE71849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958369">
                <a:off x="9634770" y="4557765"/>
                <a:ext cx="4463190" cy="3207025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83569C-459A-931B-CB0A-7D85F3F29F27}"/>
              </a:ext>
            </a:extLst>
          </p:cNvPr>
          <p:cNvSpPr txBox="1"/>
          <p:nvPr/>
        </p:nvSpPr>
        <p:spPr>
          <a:xfrm>
            <a:off x="4720876" y="2465357"/>
            <a:ext cx="41953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dirty="0">
                <a:solidFill>
                  <a:srgbClr val="454545"/>
                </a:solidFill>
              </a:rPr>
              <a:t>FUTURE</a:t>
            </a:r>
            <a:endParaRPr lang="pt-BR" sz="11500" b="1" dirty="0">
              <a:solidFill>
                <a:srgbClr val="454545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F0A8A62-8E7C-7A07-CF57-BF5457583647}"/>
              </a:ext>
            </a:extLst>
          </p:cNvPr>
          <p:cNvSpPr txBox="1"/>
          <p:nvPr/>
        </p:nvSpPr>
        <p:spPr>
          <a:xfrm>
            <a:off x="2594610" y="3547200"/>
            <a:ext cx="700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i="1" dirty="0">
                <a:solidFill>
                  <a:srgbClr val="454545"/>
                </a:solidFill>
              </a:rPr>
              <a:t>Para que é usado o futuro no inglês?</a:t>
            </a:r>
            <a:endParaRPr lang="pt-BR" sz="4800" b="1" i="1" dirty="0">
              <a:solidFill>
                <a:srgbClr val="454545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D86EFC-E6DF-B314-84CF-E80108E68D02}"/>
              </a:ext>
            </a:extLst>
          </p:cNvPr>
          <p:cNvSpPr txBox="1"/>
          <p:nvPr/>
        </p:nvSpPr>
        <p:spPr>
          <a:xfrm>
            <a:off x="919564" y="2533520"/>
            <a:ext cx="4531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 err="1">
                <a:solidFill>
                  <a:srgbClr val="454545"/>
                </a:solidFill>
              </a:rPr>
              <a:t>What</a:t>
            </a:r>
            <a:r>
              <a:rPr lang="pt-BR" sz="5400" b="1" dirty="0">
                <a:solidFill>
                  <a:srgbClr val="454545"/>
                </a:solidFill>
              </a:rPr>
              <a:t> </a:t>
            </a:r>
            <a:r>
              <a:rPr lang="pt-BR" sz="5400" b="1" dirty="0" err="1">
                <a:solidFill>
                  <a:srgbClr val="454545"/>
                </a:solidFill>
              </a:rPr>
              <a:t>is</a:t>
            </a:r>
            <a:r>
              <a:rPr lang="pt-BR" sz="5400" b="1" dirty="0">
                <a:solidFill>
                  <a:srgbClr val="454545"/>
                </a:solidFill>
              </a:rPr>
              <a:t> </a:t>
            </a:r>
            <a:r>
              <a:rPr lang="pt-BR" sz="5400" b="1" dirty="0" err="1">
                <a:solidFill>
                  <a:srgbClr val="454545"/>
                </a:solidFill>
              </a:rPr>
              <a:t>the</a:t>
            </a:r>
            <a:endParaRPr lang="pt-BR" sz="5400" b="1" dirty="0">
              <a:solidFill>
                <a:srgbClr val="45454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505185-F216-0066-8658-5A4F870FBDE0}"/>
              </a:ext>
            </a:extLst>
          </p:cNvPr>
          <p:cNvSpPr txBox="1"/>
          <p:nvPr/>
        </p:nvSpPr>
        <p:spPr>
          <a:xfrm>
            <a:off x="7996659" y="2557690"/>
            <a:ext cx="4195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 err="1">
                <a:solidFill>
                  <a:srgbClr val="454545"/>
                </a:solidFill>
              </a:rPr>
              <a:t>Used</a:t>
            </a:r>
            <a:r>
              <a:rPr lang="pt-BR" sz="5400" b="1" dirty="0">
                <a:solidFill>
                  <a:srgbClr val="454545"/>
                </a:solidFill>
              </a:rPr>
              <a:t> for?</a:t>
            </a:r>
          </a:p>
        </p:txBody>
      </p:sp>
      <p:pic>
        <p:nvPicPr>
          <p:cNvPr id="5" name="Imagem 4" descr="Homem com a luz acesa&#10;&#10;Descrição gerada automaticamente com confiança baixa">
            <a:extLst>
              <a:ext uri="{FF2B5EF4-FFF2-40B4-BE49-F238E27FC236}">
                <a16:creationId xmlns:a16="http://schemas.microsoft.com/office/drawing/2014/main" id="{55B329D4-8E1A-AC5A-5630-0EC5D1B8FF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45632">
            <a:off x="-2222057" y="-2101821"/>
            <a:ext cx="2274922" cy="3115894"/>
          </a:xfrm>
          <a:prstGeom prst="roundRect">
            <a:avLst>
              <a:gd name="adj" fmla="val 18688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m 6" descr="Imagem digital de um carro&#10;&#10;Descrição gerada automaticamente com confiança média">
            <a:extLst>
              <a:ext uri="{FF2B5EF4-FFF2-40B4-BE49-F238E27FC236}">
                <a16:creationId xmlns:a16="http://schemas.microsoft.com/office/drawing/2014/main" id="{C9738A92-0991-CABB-5D87-2B0902D321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1406">
            <a:off x="11392416" y="-2041485"/>
            <a:ext cx="3662250" cy="2441500"/>
          </a:xfrm>
          <a:prstGeom prst="roundRect">
            <a:avLst>
              <a:gd name="adj" fmla="val 253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QUAL A DIFERENÇA ENTRE 'WILL' E 'GOING TO'? | Inglês na sua Casa">
            <a:extLst>
              <a:ext uri="{FF2B5EF4-FFF2-40B4-BE49-F238E27FC236}">
                <a16:creationId xmlns:a16="http://schemas.microsoft.com/office/drawing/2014/main" id="{05111859-B112-4468-0D4D-9BAB31439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155" y="-2120245"/>
            <a:ext cx="3829312" cy="2144415"/>
          </a:xfrm>
          <a:prstGeom prst="roundRect">
            <a:avLst>
              <a:gd name="adj" fmla="val 26386"/>
            </a:avLst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515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Modelo 3D 9" descr="Funilaria preta de Phantom Future">
                <a:extLst>
                  <a:ext uri="{FF2B5EF4-FFF2-40B4-BE49-F238E27FC236}">
                    <a16:creationId xmlns:a16="http://schemas.microsoft.com/office/drawing/2014/main" id="{FA449E80-13F4-2A00-068A-468AE71849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958369">
              <a:off x="9634770" y="4557765"/>
              <a:ext cx="4463190" cy="3207025"/>
            </p:xfrm>
            <a:graphic>
              <a:graphicData uri="http://schemas.microsoft.com/office/drawing/2017/model3d">
                <am3d:model3d r:embed="rId2">
                  <am3d:spPr>
                    <a:xfrm rot="958369">
                      <a:off x="0" y="0"/>
                      <a:ext cx="4463190" cy="3207025"/>
                    </a:xfrm>
                    <a:prstGeom prst="rect">
                      <a:avLst/>
                    </a:prstGeom>
                  </am3d:spPr>
                  <am3d:camera>
                    <am3d:pos x="0" y="0" z="5570169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9242835" d="1000000"/>
                    <am3d:preTrans dx="0" dy="-3655245" dz="-539827"/>
                    <am3d:scale>
                      <am3d:sx n="1000000" d="1000000"/>
                      <am3d:sy n="1000000" d="1000000"/>
                      <am3d:sz n="1000000" d="1000000"/>
                    </am3d:scale>
                    <am3d:rot ax="7679875" ay="-2295609" az="-849590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2815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Modelo 3D 9" descr="Funilaria preta de Phantom Future">
                <a:extLst>
                  <a:ext uri="{FF2B5EF4-FFF2-40B4-BE49-F238E27FC236}">
                    <a16:creationId xmlns:a16="http://schemas.microsoft.com/office/drawing/2014/main" id="{FA449E80-13F4-2A00-068A-468AE71849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958369">
                <a:off x="9634770" y="4557765"/>
                <a:ext cx="4463190" cy="3207025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83569C-459A-931B-CB0A-7D85F3F29F27}"/>
              </a:ext>
            </a:extLst>
          </p:cNvPr>
          <p:cNvSpPr txBox="1"/>
          <p:nvPr/>
        </p:nvSpPr>
        <p:spPr>
          <a:xfrm>
            <a:off x="4720876" y="524797"/>
            <a:ext cx="41953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dirty="0">
                <a:solidFill>
                  <a:srgbClr val="454545"/>
                </a:solidFill>
              </a:rPr>
              <a:t>FUTURE</a:t>
            </a:r>
            <a:endParaRPr lang="pt-BR" sz="11500" b="1" dirty="0">
              <a:solidFill>
                <a:srgbClr val="454545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F0A8A62-8E7C-7A07-CF57-BF5457583647}"/>
              </a:ext>
            </a:extLst>
          </p:cNvPr>
          <p:cNvSpPr txBox="1"/>
          <p:nvPr/>
        </p:nvSpPr>
        <p:spPr>
          <a:xfrm>
            <a:off x="2594610" y="1606640"/>
            <a:ext cx="700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i="1" dirty="0">
                <a:solidFill>
                  <a:srgbClr val="454545"/>
                </a:solidFill>
              </a:rPr>
              <a:t>Para que é usado o futuro no inglês?</a:t>
            </a:r>
            <a:endParaRPr lang="pt-BR" sz="4800" b="1" i="1" dirty="0">
              <a:solidFill>
                <a:srgbClr val="454545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D86EFC-E6DF-B314-84CF-E80108E68D02}"/>
              </a:ext>
            </a:extLst>
          </p:cNvPr>
          <p:cNvSpPr txBox="1"/>
          <p:nvPr/>
        </p:nvSpPr>
        <p:spPr>
          <a:xfrm>
            <a:off x="919564" y="592960"/>
            <a:ext cx="4531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 err="1">
                <a:solidFill>
                  <a:srgbClr val="454545"/>
                </a:solidFill>
              </a:rPr>
              <a:t>What</a:t>
            </a:r>
            <a:r>
              <a:rPr lang="pt-BR" sz="5400" b="1" dirty="0">
                <a:solidFill>
                  <a:srgbClr val="454545"/>
                </a:solidFill>
              </a:rPr>
              <a:t> </a:t>
            </a:r>
            <a:r>
              <a:rPr lang="pt-BR" sz="5400" b="1" dirty="0" err="1">
                <a:solidFill>
                  <a:srgbClr val="454545"/>
                </a:solidFill>
              </a:rPr>
              <a:t>is</a:t>
            </a:r>
            <a:r>
              <a:rPr lang="pt-BR" sz="5400" b="1" dirty="0">
                <a:solidFill>
                  <a:srgbClr val="454545"/>
                </a:solidFill>
              </a:rPr>
              <a:t> </a:t>
            </a:r>
            <a:r>
              <a:rPr lang="pt-BR" sz="5400" b="1" dirty="0" err="1">
                <a:solidFill>
                  <a:srgbClr val="454545"/>
                </a:solidFill>
              </a:rPr>
              <a:t>the</a:t>
            </a:r>
            <a:endParaRPr lang="pt-BR" sz="5400" b="1" dirty="0">
              <a:solidFill>
                <a:srgbClr val="45454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505185-F216-0066-8658-5A4F870FBDE0}"/>
              </a:ext>
            </a:extLst>
          </p:cNvPr>
          <p:cNvSpPr txBox="1"/>
          <p:nvPr/>
        </p:nvSpPr>
        <p:spPr>
          <a:xfrm>
            <a:off x="7996659" y="617130"/>
            <a:ext cx="4195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 err="1">
                <a:solidFill>
                  <a:srgbClr val="454545"/>
                </a:solidFill>
              </a:rPr>
              <a:t>Used</a:t>
            </a:r>
            <a:r>
              <a:rPr lang="pt-BR" sz="5400" b="1" dirty="0">
                <a:solidFill>
                  <a:srgbClr val="454545"/>
                </a:solidFill>
              </a:rPr>
              <a:t> for?</a:t>
            </a:r>
          </a:p>
        </p:txBody>
      </p:sp>
      <p:pic>
        <p:nvPicPr>
          <p:cNvPr id="5" name="Imagem 4" descr="Homem com a luz acesa&#10;&#10;Descrição gerada automaticamente com confiança baixa">
            <a:extLst>
              <a:ext uri="{FF2B5EF4-FFF2-40B4-BE49-F238E27FC236}">
                <a16:creationId xmlns:a16="http://schemas.microsoft.com/office/drawing/2014/main" id="{55B329D4-8E1A-AC5A-5630-0EC5D1B8FF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45632">
            <a:off x="-2222057" y="-2101821"/>
            <a:ext cx="2274922" cy="3115894"/>
          </a:xfrm>
          <a:prstGeom prst="roundRect">
            <a:avLst>
              <a:gd name="adj" fmla="val 18688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m 6" descr="Imagem digital de um carro&#10;&#10;Descrição gerada automaticamente com confiança média">
            <a:extLst>
              <a:ext uri="{FF2B5EF4-FFF2-40B4-BE49-F238E27FC236}">
                <a16:creationId xmlns:a16="http://schemas.microsoft.com/office/drawing/2014/main" id="{C9738A92-0991-CABB-5D87-2B0902D321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1406">
            <a:off x="11392416" y="-2041485"/>
            <a:ext cx="3662250" cy="2441500"/>
          </a:xfrm>
          <a:prstGeom prst="roundRect">
            <a:avLst>
              <a:gd name="adj" fmla="val 253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QUAL A DIFERENÇA ENTRE 'WILL' E 'GOING TO'? | Inglês na sua Casa">
            <a:extLst>
              <a:ext uri="{FF2B5EF4-FFF2-40B4-BE49-F238E27FC236}">
                <a16:creationId xmlns:a16="http://schemas.microsoft.com/office/drawing/2014/main" id="{05111859-B112-4468-0D4D-9BAB31439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155" y="-2120245"/>
            <a:ext cx="3829312" cy="2144415"/>
          </a:xfrm>
          <a:prstGeom prst="roundRect">
            <a:avLst>
              <a:gd name="adj" fmla="val 26386"/>
            </a:avLst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B6B6696-2E72-6471-8425-6BD56FD03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564" y="729488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487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Modelo 3D 9" descr="Funilaria preta de Phantom Future">
                <a:extLst>
                  <a:ext uri="{FF2B5EF4-FFF2-40B4-BE49-F238E27FC236}">
                    <a16:creationId xmlns:a16="http://schemas.microsoft.com/office/drawing/2014/main" id="{FA449E80-13F4-2A00-068A-468AE71849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1795796"/>
                  </p:ext>
                </p:extLst>
              </p:nvPr>
            </p:nvGraphicFramePr>
            <p:xfrm rot="958369">
              <a:off x="-4417451" y="1943687"/>
              <a:ext cx="4463190" cy="3207025"/>
            </p:xfrm>
            <a:graphic>
              <a:graphicData uri="http://schemas.microsoft.com/office/drawing/2017/model3d">
                <am3d:model3d r:embed="rId2">
                  <am3d:spPr>
                    <a:xfrm rot="958369">
                      <a:off x="0" y="0"/>
                      <a:ext cx="4463190" cy="3207025"/>
                    </a:xfrm>
                    <a:prstGeom prst="rect">
                      <a:avLst/>
                    </a:prstGeom>
                  </am3d:spPr>
                  <am3d:camera>
                    <am3d:pos x="0" y="0" z="5570169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9242835" d="1000000"/>
                    <am3d:preTrans dx="0" dy="-3655245" dz="-539827"/>
                    <am3d:scale>
                      <am3d:sx n="1000000" d="1000000"/>
                      <am3d:sy n="1000000" d="1000000"/>
                      <am3d:sz n="1000000" d="1000000"/>
                    </am3d:scale>
                    <am3d:rot ax="7679875" ay="-2295609" az="-849590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2815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Modelo 3D 9" descr="Funilaria preta de Phantom Future">
                <a:extLst>
                  <a:ext uri="{FF2B5EF4-FFF2-40B4-BE49-F238E27FC236}">
                    <a16:creationId xmlns:a16="http://schemas.microsoft.com/office/drawing/2014/main" id="{FA449E80-13F4-2A00-068A-468AE71849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958369">
                <a:off x="-4417451" y="1943687"/>
                <a:ext cx="4463190" cy="3207025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83569C-459A-931B-CB0A-7D85F3F29F27}"/>
              </a:ext>
            </a:extLst>
          </p:cNvPr>
          <p:cNvSpPr txBox="1"/>
          <p:nvPr/>
        </p:nvSpPr>
        <p:spPr>
          <a:xfrm>
            <a:off x="5231008" y="2439204"/>
            <a:ext cx="33106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dirty="0">
                <a:solidFill>
                  <a:srgbClr val="454545"/>
                </a:solidFill>
              </a:rPr>
              <a:t>FUTURE</a:t>
            </a:r>
            <a:endParaRPr lang="pt-BR" sz="11500" b="1" dirty="0">
              <a:solidFill>
                <a:srgbClr val="454545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F0A8A62-8E7C-7A07-CF57-BF5457583647}"/>
              </a:ext>
            </a:extLst>
          </p:cNvPr>
          <p:cNvSpPr txBox="1"/>
          <p:nvPr/>
        </p:nvSpPr>
        <p:spPr>
          <a:xfrm>
            <a:off x="2594610" y="3547200"/>
            <a:ext cx="700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i="1" dirty="0">
                <a:solidFill>
                  <a:srgbClr val="454545"/>
                </a:solidFill>
              </a:rPr>
              <a:t>como representar o futuro no inglês?</a:t>
            </a:r>
            <a:endParaRPr lang="pt-BR" sz="4800" b="1" i="1" dirty="0">
              <a:solidFill>
                <a:srgbClr val="454545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D86EFC-E6DF-B314-84CF-E80108E68D02}"/>
              </a:ext>
            </a:extLst>
          </p:cNvPr>
          <p:cNvSpPr txBox="1"/>
          <p:nvPr/>
        </p:nvSpPr>
        <p:spPr>
          <a:xfrm>
            <a:off x="711504" y="2659559"/>
            <a:ext cx="4683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 err="1">
                <a:solidFill>
                  <a:srgbClr val="454545"/>
                </a:solidFill>
              </a:rPr>
              <a:t>How</a:t>
            </a:r>
            <a:r>
              <a:rPr lang="pt-BR" sz="4400" b="1" dirty="0">
                <a:solidFill>
                  <a:srgbClr val="454545"/>
                </a:solidFill>
              </a:rPr>
              <a:t> </a:t>
            </a:r>
            <a:r>
              <a:rPr lang="pt-BR" sz="4400" b="1" dirty="0" err="1">
                <a:solidFill>
                  <a:srgbClr val="454545"/>
                </a:solidFill>
              </a:rPr>
              <a:t>to</a:t>
            </a:r>
            <a:r>
              <a:rPr lang="pt-BR" sz="4400" b="1" dirty="0">
                <a:solidFill>
                  <a:srgbClr val="454545"/>
                </a:solidFill>
              </a:rPr>
              <a:t> </a:t>
            </a:r>
            <a:r>
              <a:rPr lang="pt-BR" sz="4400" b="1" dirty="0" err="1">
                <a:solidFill>
                  <a:srgbClr val="454545"/>
                </a:solidFill>
              </a:rPr>
              <a:t>represent</a:t>
            </a:r>
            <a:endParaRPr lang="pt-BR" sz="4400" b="1" dirty="0">
              <a:solidFill>
                <a:srgbClr val="45454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505185-F216-0066-8658-5A4F870FBDE0}"/>
              </a:ext>
            </a:extLst>
          </p:cNvPr>
          <p:cNvSpPr txBox="1"/>
          <p:nvPr/>
        </p:nvSpPr>
        <p:spPr>
          <a:xfrm>
            <a:off x="8377659" y="2659559"/>
            <a:ext cx="3102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 err="1">
                <a:solidFill>
                  <a:srgbClr val="454545"/>
                </a:solidFill>
              </a:rPr>
              <a:t>on</a:t>
            </a:r>
            <a:r>
              <a:rPr lang="pt-BR" sz="4400" b="1" dirty="0">
                <a:solidFill>
                  <a:srgbClr val="454545"/>
                </a:solidFill>
              </a:rPr>
              <a:t> </a:t>
            </a:r>
            <a:r>
              <a:rPr lang="pt-BR" sz="4400" b="1" dirty="0" err="1">
                <a:solidFill>
                  <a:srgbClr val="454545"/>
                </a:solidFill>
              </a:rPr>
              <a:t>english</a:t>
            </a:r>
            <a:r>
              <a:rPr lang="pt-BR" sz="4400" b="1" dirty="0">
                <a:solidFill>
                  <a:srgbClr val="454545"/>
                </a:solidFill>
              </a:rPr>
              <a:t>?</a:t>
            </a:r>
          </a:p>
        </p:txBody>
      </p:sp>
      <p:pic>
        <p:nvPicPr>
          <p:cNvPr id="4" name="Imagem 3" descr="Homem com a luz acesa&#10;&#10;Descrição gerada automaticamente com confiança baixa">
            <a:extLst>
              <a:ext uri="{FF2B5EF4-FFF2-40B4-BE49-F238E27FC236}">
                <a16:creationId xmlns:a16="http://schemas.microsoft.com/office/drawing/2014/main" id="{1170A517-31E3-F71F-3265-8115E68576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45632">
            <a:off x="-1308210" y="-1631121"/>
            <a:ext cx="2274922" cy="3115894"/>
          </a:xfrm>
          <a:prstGeom prst="roundRect">
            <a:avLst>
              <a:gd name="adj" fmla="val 18688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m 4" descr="Imagem digital de um carro&#10;&#10;Descrição gerada automaticamente com confiança média">
            <a:extLst>
              <a:ext uri="{FF2B5EF4-FFF2-40B4-BE49-F238E27FC236}">
                <a16:creationId xmlns:a16="http://schemas.microsoft.com/office/drawing/2014/main" id="{5700153B-C1E6-F32F-9CA9-29099E8723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1406">
            <a:off x="10360874" y="-1355685"/>
            <a:ext cx="3662250" cy="2441500"/>
          </a:xfrm>
          <a:prstGeom prst="roundRect">
            <a:avLst>
              <a:gd name="adj" fmla="val 253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2" descr="QUAL A DIFERENÇA ENTRE 'WILL' E 'GOING TO'? | Inglês na sua Casa">
            <a:extLst>
              <a:ext uri="{FF2B5EF4-FFF2-40B4-BE49-F238E27FC236}">
                <a16:creationId xmlns:a16="http://schemas.microsoft.com/office/drawing/2014/main" id="{024DE4CD-9512-EE7E-1FAB-3B560F9C8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344" y="-1323240"/>
            <a:ext cx="3829312" cy="2144415"/>
          </a:xfrm>
          <a:prstGeom prst="roundRect">
            <a:avLst>
              <a:gd name="adj" fmla="val 26386"/>
            </a:avLst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4CB7FF4-D9AE-B072-EEDA-9E90E72A2D9C}"/>
              </a:ext>
            </a:extLst>
          </p:cNvPr>
          <p:cNvSpPr txBox="1"/>
          <p:nvPr/>
        </p:nvSpPr>
        <p:spPr>
          <a:xfrm>
            <a:off x="649040" y="7035593"/>
            <a:ext cx="3496828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700" b="1" dirty="0">
                <a:solidFill>
                  <a:srgbClr val="454545"/>
                </a:solidFill>
              </a:rPr>
              <a:t>1. </a:t>
            </a:r>
          </a:p>
        </p:txBody>
      </p:sp>
    </p:spTree>
    <p:extLst>
      <p:ext uri="{BB962C8B-B14F-4D97-AF65-F5344CB8AC3E}">
        <p14:creationId xmlns:p14="http://schemas.microsoft.com/office/powerpoint/2010/main" val="1972921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 descr="Homem com a luz acesa&#10;&#10;Descrição gerada automaticamente com confiança baixa">
            <a:extLst>
              <a:ext uri="{FF2B5EF4-FFF2-40B4-BE49-F238E27FC236}">
                <a16:creationId xmlns:a16="http://schemas.microsoft.com/office/drawing/2014/main" id="{1170A517-31E3-F71F-3265-8115E6857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45632">
            <a:off x="-2003987" y="-2737414"/>
            <a:ext cx="2274922" cy="3115894"/>
          </a:xfrm>
          <a:prstGeom prst="roundRect">
            <a:avLst>
              <a:gd name="adj" fmla="val 18688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m 4" descr="Imagem digital de um carro&#10;&#10;Descrição gerada automaticamente com confiança média">
            <a:extLst>
              <a:ext uri="{FF2B5EF4-FFF2-40B4-BE49-F238E27FC236}">
                <a16:creationId xmlns:a16="http://schemas.microsoft.com/office/drawing/2014/main" id="{5700153B-C1E6-F32F-9CA9-29099E872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1406">
            <a:off x="11171433" y="-1995519"/>
            <a:ext cx="3662250" cy="2441500"/>
          </a:xfrm>
          <a:prstGeom prst="roundRect">
            <a:avLst>
              <a:gd name="adj" fmla="val 253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2" descr="QUAL A DIFERENÇA ENTRE 'WILL' E 'GOING TO'? | Inglês na sua Casa">
            <a:extLst>
              <a:ext uri="{FF2B5EF4-FFF2-40B4-BE49-F238E27FC236}">
                <a16:creationId xmlns:a16="http://schemas.microsoft.com/office/drawing/2014/main" id="{024DE4CD-9512-EE7E-1FAB-3B560F9C8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129" y="-2144415"/>
            <a:ext cx="3829312" cy="2144415"/>
          </a:xfrm>
          <a:prstGeom prst="roundRect">
            <a:avLst>
              <a:gd name="adj" fmla="val 26386"/>
            </a:avLst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4EB39F-9BCF-DB4B-F2F1-18472F68F030}"/>
              </a:ext>
            </a:extLst>
          </p:cNvPr>
          <p:cNvSpPr txBox="1"/>
          <p:nvPr/>
        </p:nvSpPr>
        <p:spPr>
          <a:xfrm>
            <a:off x="649040" y="695753"/>
            <a:ext cx="3496828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700" b="1" dirty="0">
                <a:solidFill>
                  <a:srgbClr val="454545"/>
                </a:solidFill>
              </a:rPr>
              <a:t>1.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4794908" y="3034205"/>
            <a:ext cx="67480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0" b="1" dirty="0" err="1">
                <a:solidFill>
                  <a:srgbClr val="454545"/>
                </a:solidFill>
              </a:rPr>
              <a:t>Simple</a:t>
            </a:r>
            <a:r>
              <a:rPr lang="pt-BR" sz="8000" b="1" dirty="0">
                <a:solidFill>
                  <a:srgbClr val="454545"/>
                </a:solidFill>
              </a:rPr>
              <a:t> Future</a:t>
            </a:r>
            <a:endParaRPr lang="pt-BR" sz="8000" dirty="0">
              <a:solidFill>
                <a:srgbClr val="454545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BDDC426-5187-DA1C-057D-D416AEDE79DF}"/>
              </a:ext>
            </a:extLst>
          </p:cNvPr>
          <p:cNvSpPr txBox="1"/>
          <p:nvPr/>
        </p:nvSpPr>
        <p:spPr>
          <a:xfrm>
            <a:off x="3025140" y="4663440"/>
            <a:ext cx="614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Pode ser representado de duas formas</a:t>
            </a:r>
          </a:p>
        </p:txBody>
      </p:sp>
    </p:spTree>
    <p:extLst>
      <p:ext uri="{BB962C8B-B14F-4D97-AF65-F5344CB8AC3E}">
        <p14:creationId xmlns:p14="http://schemas.microsoft.com/office/powerpoint/2010/main" val="366296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 descr="Homem com a luz acesa&#10;&#10;Descrição gerada automaticamente com confiança baixa">
            <a:extLst>
              <a:ext uri="{FF2B5EF4-FFF2-40B4-BE49-F238E27FC236}">
                <a16:creationId xmlns:a16="http://schemas.microsoft.com/office/drawing/2014/main" id="{1170A517-31E3-F71F-3265-8115E6857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45632">
            <a:off x="-2352069" y="-3240334"/>
            <a:ext cx="2274922" cy="3115894"/>
          </a:xfrm>
          <a:prstGeom prst="roundRect">
            <a:avLst>
              <a:gd name="adj" fmla="val 18688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m 4" descr="Imagem digital de um carro&#10;&#10;Descrição gerada automaticamente com confiança média">
            <a:extLst>
              <a:ext uri="{FF2B5EF4-FFF2-40B4-BE49-F238E27FC236}">
                <a16:creationId xmlns:a16="http://schemas.microsoft.com/office/drawing/2014/main" id="{5700153B-C1E6-F32F-9CA9-29099E872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1406">
            <a:off x="11262874" y="-2292957"/>
            <a:ext cx="3662250" cy="2441500"/>
          </a:xfrm>
          <a:prstGeom prst="roundRect">
            <a:avLst>
              <a:gd name="adj" fmla="val 253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2" descr="QUAL A DIFERENÇA ENTRE 'WILL' E 'GOING TO'? | Inglês na sua Casa">
            <a:extLst>
              <a:ext uri="{FF2B5EF4-FFF2-40B4-BE49-F238E27FC236}">
                <a16:creationId xmlns:a16="http://schemas.microsoft.com/office/drawing/2014/main" id="{024DE4CD-9512-EE7E-1FAB-3B560F9C8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868" y="-2297313"/>
            <a:ext cx="3829312" cy="2144415"/>
          </a:xfrm>
          <a:prstGeom prst="roundRect">
            <a:avLst>
              <a:gd name="adj" fmla="val 26386"/>
            </a:avLst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4EB39F-9BCF-DB4B-F2F1-18472F68F030}"/>
              </a:ext>
            </a:extLst>
          </p:cNvPr>
          <p:cNvSpPr txBox="1"/>
          <p:nvPr/>
        </p:nvSpPr>
        <p:spPr>
          <a:xfrm>
            <a:off x="1664920" y="1827354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1.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6181160" y="2447449"/>
            <a:ext cx="674805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800" b="1" dirty="0">
                <a:solidFill>
                  <a:srgbClr val="454545"/>
                </a:solidFill>
              </a:rPr>
              <a:t>WILL</a:t>
            </a:r>
            <a:endParaRPr lang="pt-BR" sz="13800" dirty="0">
              <a:solidFill>
                <a:srgbClr val="454545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BDDC426-5187-DA1C-057D-D416AEDE79DF}"/>
              </a:ext>
            </a:extLst>
          </p:cNvPr>
          <p:cNvSpPr txBox="1"/>
          <p:nvPr/>
        </p:nvSpPr>
        <p:spPr>
          <a:xfrm>
            <a:off x="3175995" y="4663440"/>
            <a:ext cx="5840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Verbo auxiliar - Decisão espontânea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4EE10E-2A25-C521-8106-670CA98D6E8A}"/>
              </a:ext>
            </a:extLst>
          </p:cNvPr>
          <p:cNvSpPr txBox="1"/>
          <p:nvPr/>
        </p:nvSpPr>
        <p:spPr>
          <a:xfrm>
            <a:off x="3785340" y="1844010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0:</a:t>
            </a:r>
          </a:p>
        </p:txBody>
      </p:sp>
      <p:pic>
        <p:nvPicPr>
          <p:cNvPr id="3" name="Imagem 2" descr="Par de tênis&#10;&#10;Descrição gerada automaticamente com confiança baixa">
            <a:extLst>
              <a:ext uri="{FF2B5EF4-FFF2-40B4-BE49-F238E27FC236}">
                <a16:creationId xmlns:a16="http://schemas.microsoft.com/office/drawing/2014/main" id="{7C8B5B95-D1C7-227A-4E0F-7A7FB5DB06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30718">
            <a:off x="-5687041" y="4435390"/>
            <a:ext cx="4107180" cy="3080385"/>
          </a:xfrm>
          <a:prstGeom prst="roundRect">
            <a:avLst>
              <a:gd name="adj" fmla="val 2614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 descr="Carro azul estacionado&#10;&#10;Descrição gerada automaticamente">
            <a:extLst>
              <a:ext uri="{FF2B5EF4-FFF2-40B4-BE49-F238E27FC236}">
                <a16:creationId xmlns:a16="http://schemas.microsoft.com/office/drawing/2014/main" id="{E8AA4D68-F4CA-1BB2-52D4-E559653B90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267521">
            <a:off x="12471972" y="4620905"/>
            <a:ext cx="4821869" cy="2709357"/>
          </a:xfrm>
          <a:prstGeom prst="roundRect">
            <a:avLst>
              <a:gd name="adj" fmla="val 25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1552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4EB39F-9BCF-DB4B-F2F1-18472F68F030}"/>
              </a:ext>
            </a:extLst>
          </p:cNvPr>
          <p:cNvSpPr txBox="1"/>
          <p:nvPr/>
        </p:nvSpPr>
        <p:spPr>
          <a:xfrm>
            <a:off x="1668891" y="-2961877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1.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433744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afirmativo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4EE10E-2A25-C521-8106-670CA98D6E8A}"/>
              </a:ext>
            </a:extLst>
          </p:cNvPr>
          <p:cNvSpPr txBox="1"/>
          <p:nvPr/>
        </p:nvSpPr>
        <p:spPr>
          <a:xfrm>
            <a:off x="3789311" y="-2945221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0: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E0BE01-FD43-2ECF-C428-D0AE4763718C}"/>
              </a:ext>
            </a:extLst>
          </p:cNvPr>
          <p:cNvSpPr txBox="1"/>
          <p:nvPr/>
        </p:nvSpPr>
        <p:spPr>
          <a:xfrm>
            <a:off x="433744" y="1614705"/>
            <a:ext cx="7460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Sujeito + </a:t>
            </a:r>
            <a:r>
              <a:rPr lang="pt-BR" sz="2800" dirty="0" err="1">
                <a:solidFill>
                  <a:srgbClr val="454545"/>
                </a:solidFill>
              </a:rPr>
              <a:t>will</a:t>
            </a:r>
            <a:r>
              <a:rPr lang="pt-BR" sz="2800" dirty="0">
                <a:solidFill>
                  <a:srgbClr val="454545"/>
                </a:solidFill>
              </a:rPr>
              <a:t> + verbo principal + complemento.</a:t>
            </a:r>
          </a:p>
          <a:p>
            <a:r>
              <a:rPr lang="pt-BR" sz="2800" dirty="0">
                <a:solidFill>
                  <a:srgbClr val="454545"/>
                </a:solidFill>
              </a:rPr>
              <a:t>Sujeito + </a:t>
            </a:r>
            <a:r>
              <a:rPr lang="pt-BR" sz="2800" dirty="0" err="1">
                <a:solidFill>
                  <a:srgbClr val="454545"/>
                </a:solidFill>
              </a:rPr>
              <a:t>will</a:t>
            </a:r>
            <a:r>
              <a:rPr lang="pt-BR" sz="2800" dirty="0">
                <a:solidFill>
                  <a:srgbClr val="454545"/>
                </a:solidFill>
              </a:rPr>
              <a:t> = </a:t>
            </a:r>
            <a:r>
              <a:rPr lang="pt-BR" sz="2800" dirty="0" err="1">
                <a:solidFill>
                  <a:srgbClr val="454545"/>
                </a:solidFill>
              </a:rPr>
              <a:t>sujeito’ll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</a:p>
        </p:txBody>
      </p:sp>
      <p:pic>
        <p:nvPicPr>
          <p:cNvPr id="9" name="Imagem 8" descr="Par de tênis&#10;&#10;Descrição gerada automaticamente com confiança baixa">
            <a:extLst>
              <a:ext uri="{FF2B5EF4-FFF2-40B4-BE49-F238E27FC236}">
                <a16:creationId xmlns:a16="http://schemas.microsoft.com/office/drawing/2014/main" id="{ED204ECC-A254-5A83-974E-0581A9BD2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61436">
            <a:off x="518430" y="6550604"/>
            <a:ext cx="4107180" cy="3080385"/>
          </a:xfrm>
          <a:prstGeom prst="roundRect">
            <a:avLst>
              <a:gd name="adj" fmla="val 2614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Imagem 12" descr="Carro azul estacionado&#10;&#10;Descrição gerada automaticamente">
            <a:extLst>
              <a:ext uri="{FF2B5EF4-FFF2-40B4-BE49-F238E27FC236}">
                <a16:creationId xmlns:a16="http://schemas.microsoft.com/office/drawing/2014/main" id="{61D12C9C-B24A-A99A-D161-D6F5AA14A4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9826">
            <a:off x="6465320" y="6861720"/>
            <a:ext cx="4821869" cy="2709357"/>
          </a:xfrm>
          <a:prstGeom prst="roundRect">
            <a:avLst>
              <a:gd name="adj" fmla="val 25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A04625CE-E985-C64D-4C70-D5DDF6AEBEF2}"/>
              </a:ext>
            </a:extLst>
          </p:cNvPr>
          <p:cNvSpPr txBox="1"/>
          <p:nvPr/>
        </p:nvSpPr>
        <p:spPr>
          <a:xfrm>
            <a:off x="433744" y="2657613"/>
            <a:ext cx="1110234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54545"/>
                </a:solidFill>
              </a:rPr>
              <a:t> I’ll study more, when </a:t>
            </a:r>
            <a:r>
              <a:rPr lang="en-US" sz="4000" b="1" dirty="0" err="1">
                <a:solidFill>
                  <a:srgbClr val="454545"/>
                </a:solidFill>
              </a:rPr>
              <a:t>i</a:t>
            </a:r>
            <a:r>
              <a:rPr lang="en-US" sz="4000" b="1" dirty="0">
                <a:solidFill>
                  <a:srgbClr val="454545"/>
                </a:solidFill>
              </a:rPr>
              <a:t> am 18 years old.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estudar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mais</a:t>
            </a:r>
            <a:r>
              <a:rPr lang="en-US" sz="3200" b="1" i="1" dirty="0">
                <a:solidFill>
                  <a:srgbClr val="454545"/>
                </a:solidFill>
              </a:rPr>
              <a:t>, </a:t>
            </a:r>
            <a:r>
              <a:rPr lang="en-US" sz="3200" b="1" i="1" dirty="0" err="1">
                <a:solidFill>
                  <a:srgbClr val="454545"/>
                </a:solidFill>
              </a:rPr>
              <a:t>quando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eu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tiver</a:t>
            </a:r>
            <a:r>
              <a:rPr lang="en-US" sz="3200" b="1" i="1" dirty="0">
                <a:solidFill>
                  <a:srgbClr val="454545"/>
                </a:solidFill>
              </a:rPr>
              <a:t> 18 </a:t>
            </a:r>
            <a:r>
              <a:rPr lang="en-US" sz="3200" b="1" i="1" dirty="0" err="1">
                <a:solidFill>
                  <a:srgbClr val="454545"/>
                </a:solidFill>
              </a:rPr>
              <a:t>anos</a:t>
            </a:r>
            <a:r>
              <a:rPr lang="en-US" sz="3200" b="1" i="1" dirty="0">
                <a:solidFill>
                  <a:srgbClr val="454545"/>
                </a:solidFill>
              </a:rPr>
              <a:t> de </a:t>
            </a:r>
            <a:r>
              <a:rPr lang="en-US" sz="3200" b="1" i="1" dirty="0" err="1">
                <a:solidFill>
                  <a:srgbClr val="454545"/>
                </a:solidFill>
              </a:rPr>
              <a:t>idade</a:t>
            </a:r>
            <a:r>
              <a:rPr lang="en-US" sz="3200" b="1" i="1" dirty="0">
                <a:solidFill>
                  <a:srgbClr val="454545"/>
                </a:solidFill>
              </a:rPr>
              <a:t>.</a:t>
            </a:r>
            <a:endParaRPr lang="en-US" sz="4000" b="1" i="1" dirty="0">
              <a:solidFill>
                <a:srgbClr val="45454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54545"/>
                </a:solidFill>
              </a:rPr>
              <a:t> </a:t>
            </a:r>
            <a:r>
              <a:rPr lang="en-US" sz="4000" b="1" dirty="0" err="1">
                <a:solidFill>
                  <a:srgbClr val="454545"/>
                </a:solidFill>
              </a:rPr>
              <a:t>i</a:t>
            </a:r>
            <a:r>
              <a:rPr lang="en-US" sz="4000" b="1" dirty="0">
                <a:solidFill>
                  <a:srgbClr val="454545"/>
                </a:solidFill>
              </a:rPr>
              <a:t> will finance a car, if </a:t>
            </a:r>
            <a:r>
              <a:rPr lang="en-US" sz="4000" b="1" dirty="0" err="1">
                <a:solidFill>
                  <a:srgbClr val="454545"/>
                </a:solidFill>
              </a:rPr>
              <a:t>i</a:t>
            </a:r>
            <a:r>
              <a:rPr lang="en-US" sz="4000" b="1" dirty="0">
                <a:solidFill>
                  <a:srgbClr val="454545"/>
                </a:solidFill>
              </a:rPr>
              <a:t> receive a 2000 wage.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financiar</a:t>
            </a:r>
            <a:r>
              <a:rPr lang="en-US" sz="3200" b="1" i="1" dirty="0">
                <a:solidFill>
                  <a:srgbClr val="454545"/>
                </a:solidFill>
              </a:rPr>
              <a:t> um </a:t>
            </a:r>
            <a:r>
              <a:rPr lang="en-US" sz="3200" b="1" i="1" dirty="0" err="1">
                <a:solidFill>
                  <a:srgbClr val="454545"/>
                </a:solidFill>
              </a:rPr>
              <a:t>carro</a:t>
            </a:r>
            <a:r>
              <a:rPr lang="en-US" sz="3200" b="1" i="1" dirty="0">
                <a:solidFill>
                  <a:srgbClr val="454545"/>
                </a:solidFill>
              </a:rPr>
              <a:t>, se </a:t>
            </a:r>
            <a:r>
              <a:rPr lang="en-US" sz="3200" b="1" i="1" dirty="0" err="1">
                <a:solidFill>
                  <a:srgbClr val="454545"/>
                </a:solidFill>
              </a:rPr>
              <a:t>eu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receber</a:t>
            </a:r>
            <a:r>
              <a:rPr lang="en-US" sz="3200" b="1" i="1" dirty="0">
                <a:solidFill>
                  <a:srgbClr val="454545"/>
                </a:solidFill>
              </a:rPr>
              <a:t> 2000 de </a:t>
            </a:r>
            <a:r>
              <a:rPr lang="en-US" sz="3200" b="1" i="1" dirty="0" err="1">
                <a:solidFill>
                  <a:srgbClr val="454545"/>
                </a:solidFill>
              </a:rPr>
              <a:t>salário</a:t>
            </a:r>
            <a:r>
              <a:rPr lang="en-US" sz="3200" b="1" i="1" dirty="0">
                <a:solidFill>
                  <a:srgbClr val="454545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In the future, we’ll use flying cars.</a:t>
            </a:r>
          </a:p>
          <a:p>
            <a:r>
              <a:rPr lang="pt-BR" sz="3200" b="1" i="1" dirty="0">
                <a:solidFill>
                  <a:srgbClr val="454545"/>
                </a:solidFill>
              </a:rPr>
              <a:t>no futuro, nós usaremos carros voadores</a:t>
            </a:r>
            <a:endParaRPr lang="en-US" sz="3200" b="1" i="1" dirty="0">
              <a:solidFill>
                <a:srgbClr val="454545"/>
              </a:solidFill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B966340-4BB5-A83E-CECB-D1A797F09325}"/>
              </a:ext>
            </a:extLst>
          </p:cNvPr>
          <p:cNvSpPr txBox="1"/>
          <p:nvPr/>
        </p:nvSpPr>
        <p:spPr>
          <a:xfrm>
            <a:off x="-11285816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Negativo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1C22071-0651-D7FB-4E78-54D1AD0D6545}"/>
              </a:ext>
            </a:extLst>
          </p:cNvPr>
          <p:cNvSpPr txBox="1"/>
          <p:nvPr/>
        </p:nvSpPr>
        <p:spPr>
          <a:xfrm>
            <a:off x="-11285816" y="1614705"/>
            <a:ext cx="7460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Sujeito + </a:t>
            </a:r>
            <a:r>
              <a:rPr lang="pt-BR" sz="2800" dirty="0" err="1">
                <a:solidFill>
                  <a:srgbClr val="454545"/>
                </a:solidFill>
              </a:rPr>
              <a:t>will</a:t>
            </a:r>
            <a:r>
              <a:rPr lang="pt-BR" sz="2800" dirty="0">
                <a:solidFill>
                  <a:srgbClr val="454545"/>
                </a:solidFill>
              </a:rPr>
              <a:t> + </a:t>
            </a:r>
            <a:r>
              <a:rPr lang="pt-BR" sz="2800" dirty="0" err="1">
                <a:solidFill>
                  <a:srgbClr val="454545"/>
                </a:solidFill>
              </a:rPr>
              <a:t>not</a:t>
            </a:r>
            <a:r>
              <a:rPr lang="pt-BR" sz="2800" dirty="0">
                <a:solidFill>
                  <a:srgbClr val="454545"/>
                </a:solidFill>
              </a:rPr>
              <a:t>(</a:t>
            </a:r>
            <a:r>
              <a:rPr lang="pt-BR" sz="2800" dirty="0" err="1">
                <a:solidFill>
                  <a:srgbClr val="454545"/>
                </a:solidFill>
              </a:rPr>
              <a:t>won’t</a:t>
            </a:r>
            <a:r>
              <a:rPr lang="pt-BR" sz="2800" dirty="0">
                <a:solidFill>
                  <a:srgbClr val="454545"/>
                </a:solidFill>
              </a:rPr>
              <a:t>) + verbo principal + complemento.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79BE674-68BA-B5FD-6F60-2457A2A53C59}"/>
              </a:ext>
            </a:extLst>
          </p:cNvPr>
          <p:cNvSpPr txBox="1"/>
          <p:nvPr/>
        </p:nvSpPr>
        <p:spPr>
          <a:xfrm>
            <a:off x="-11285816" y="3061255"/>
            <a:ext cx="114223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54545"/>
                </a:solidFill>
              </a:rPr>
              <a:t> I won't study more, when </a:t>
            </a:r>
            <a:r>
              <a:rPr lang="en-US" sz="3200" b="1" dirty="0" err="1">
                <a:solidFill>
                  <a:srgbClr val="454545"/>
                </a:solidFill>
              </a:rPr>
              <a:t>i</a:t>
            </a:r>
            <a:r>
              <a:rPr lang="en-US" sz="3200" b="1" dirty="0">
                <a:solidFill>
                  <a:srgbClr val="454545"/>
                </a:solidFill>
              </a:rPr>
              <a:t> am 18 years old.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não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estudar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mais</a:t>
            </a:r>
            <a:r>
              <a:rPr lang="en-US" sz="3200" b="1" i="1" dirty="0">
                <a:solidFill>
                  <a:srgbClr val="454545"/>
                </a:solidFill>
              </a:rPr>
              <a:t>, </a:t>
            </a:r>
            <a:r>
              <a:rPr lang="en-US" sz="3200" b="1" i="1" dirty="0" err="1">
                <a:solidFill>
                  <a:srgbClr val="454545"/>
                </a:solidFill>
              </a:rPr>
              <a:t>quando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eu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tiver</a:t>
            </a:r>
            <a:r>
              <a:rPr lang="en-US" sz="3200" b="1" i="1" dirty="0">
                <a:solidFill>
                  <a:srgbClr val="454545"/>
                </a:solidFill>
              </a:rPr>
              <a:t> 18 </a:t>
            </a:r>
            <a:r>
              <a:rPr lang="en-US" sz="3200" b="1" i="1" dirty="0" err="1">
                <a:solidFill>
                  <a:srgbClr val="454545"/>
                </a:solidFill>
              </a:rPr>
              <a:t>anos</a:t>
            </a:r>
            <a:r>
              <a:rPr lang="en-US" sz="3200" b="1" i="1" dirty="0">
                <a:solidFill>
                  <a:srgbClr val="454545"/>
                </a:solidFill>
              </a:rPr>
              <a:t> de </a:t>
            </a:r>
            <a:r>
              <a:rPr lang="en-US" sz="3200" b="1" i="1" dirty="0" err="1">
                <a:solidFill>
                  <a:srgbClr val="454545"/>
                </a:solidFill>
              </a:rPr>
              <a:t>idade</a:t>
            </a:r>
            <a:r>
              <a:rPr lang="en-US" sz="3200" b="1" i="1" dirty="0">
                <a:solidFill>
                  <a:srgbClr val="454545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54545"/>
                </a:solidFill>
              </a:rPr>
              <a:t> I won't buy a car, if </a:t>
            </a:r>
            <a:r>
              <a:rPr lang="en-US" sz="3200" b="1" dirty="0" err="1">
                <a:solidFill>
                  <a:srgbClr val="454545"/>
                </a:solidFill>
              </a:rPr>
              <a:t>i</a:t>
            </a:r>
            <a:r>
              <a:rPr lang="en-US" sz="3200" b="1" dirty="0">
                <a:solidFill>
                  <a:srgbClr val="454545"/>
                </a:solidFill>
              </a:rPr>
              <a:t> receive 2000 salary.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não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comprar</a:t>
            </a:r>
            <a:r>
              <a:rPr lang="en-US" sz="3200" b="1" i="1" dirty="0">
                <a:solidFill>
                  <a:srgbClr val="454545"/>
                </a:solidFill>
              </a:rPr>
              <a:t> um </a:t>
            </a:r>
            <a:r>
              <a:rPr lang="en-US" sz="3200" b="1" i="1" dirty="0" err="1">
                <a:solidFill>
                  <a:srgbClr val="454545"/>
                </a:solidFill>
              </a:rPr>
              <a:t>carro</a:t>
            </a:r>
            <a:r>
              <a:rPr lang="en-US" sz="3200" b="1" i="1" dirty="0">
                <a:solidFill>
                  <a:srgbClr val="454545"/>
                </a:solidFill>
              </a:rPr>
              <a:t>, se </a:t>
            </a:r>
            <a:r>
              <a:rPr lang="en-US" sz="3200" b="1" i="1" dirty="0" err="1">
                <a:solidFill>
                  <a:srgbClr val="454545"/>
                </a:solidFill>
              </a:rPr>
              <a:t>eu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receber</a:t>
            </a:r>
            <a:r>
              <a:rPr lang="en-US" sz="3200" b="1" i="1" dirty="0">
                <a:solidFill>
                  <a:srgbClr val="454545"/>
                </a:solidFill>
              </a:rPr>
              <a:t> 2000 de </a:t>
            </a:r>
            <a:r>
              <a:rPr lang="en-US" sz="3200" b="1" i="1" dirty="0" err="1">
                <a:solidFill>
                  <a:srgbClr val="454545"/>
                </a:solidFill>
              </a:rPr>
              <a:t>salário</a:t>
            </a:r>
            <a:r>
              <a:rPr lang="en-US" sz="3200" b="1" i="1" dirty="0">
                <a:solidFill>
                  <a:srgbClr val="454545"/>
                </a:solidFill>
              </a:rPr>
              <a:t>.. </a:t>
            </a:r>
          </a:p>
        </p:txBody>
      </p:sp>
      <p:pic>
        <p:nvPicPr>
          <p:cNvPr id="39" name="Imagem 38" descr="Mulher sentada com criança no colo&#10;&#10;Descrição gerada automaticamente com confiança baixa">
            <a:extLst>
              <a:ext uri="{FF2B5EF4-FFF2-40B4-BE49-F238E27FC236}">
                <a16:creationId xmlns:a16="http://schemas.microsoft.com/office/drawing/2014/main" id="{892F3DD1-2396-6AD0-54AD-B6183DB1FB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5451">
            <a:off x="13086984" y="3928451"/>
            <a:ext cx="4401579" cy="2934386"/>
          </a:xfrm>
          <a:prstGeom prst="roundRect">
            <a:avLst>
              <a:gd name="adj" fmla="val 2153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Imagem 39" descr="Homem ao lado de uma bicicleta&#10;&#10;Descrição gerada automaticamente">
            <a:extLst>
              <a:ext uri="{FF2B5EF4-FFF2-40B4-BE49-F238E27FC236}">
                <a16:creationId xmlns:a16="http://schemas.microsoft.com/office/drawing/2014/main" id="{8CE48FB7-B418-BA64-F0C1-9D3AC486F2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27100">
            <a:off x="-3708627" y="3447680"/>
            <a:ext cx="2959605" cy="4439407"/>
          </a:xfrm>
          <a:prstGeom prst="roundRect">
            <a:avLst>
              <a:gd name="adj" fmla="val 20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3640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9" y="0"/>
            <a:ext cx="12192000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433744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Negativo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4EE10E-2A25-C521-8106-670CA98D6E8A}"/>
              </a:ext>
            </a:extLst>
          </p:cNvPr>
          <p:cNvSpPr txBox="1"/>
          <p:nvPr/>
        </p:nvSpPr>
        <p:spPr>
          <a:xfrm>
            <a:off x="3789311" y="-2945221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E0BE01-FD43-2ECF-C428-D0AE4763718C}"/>
              </a:ext>
            </a:extLst>
          </p:cNvPr>
          <p:cNvSpPr txBox="1"/>
          <p:nvPr/>
        </p:nvSpPr>
        <p:spPr>
          <a:xfrm>
            <a:off x="433744" y="1614705"/>
            <a:ext cx="7460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Sujeito + </a:t>
            </a:r>
            <a:r>
              <a:rPr lang="pt-BR" sz="2800" dirty="0" err="1">
                <a:solidFill>
                  <a:srgbClr val="454545"/>
                </a:solidFill>
              </a:rPr>
              <a:t>will</a:t>
            </a:r>
            <a:r>
              <a:rPr lang="pt-BR" sz="2800" dirty="0">
                <a:solidFill>
                  <a:srgbClr val="454545"/>
                </a:solidFill>
              </a:rPr>
              <a:t> + </a:t>
            </a:r>
            <a:r>
              <a:rPr lang="pt-BR" sz="2800" dirty="0" err="1">
                <a:solidFill>
                  <a:srgbClr val="454545"/>
                </a:solidFill>
              </a:rPr>
              <a:t>not</a:t>
            </a:r>
            <a:r>
              <a:rPr lang="pt-BR" sz="2800" dirty="0">
                <a:solidFill>
                  <a:srgbClr val="454545"/>
                </a:solidFill>
              </a:rPr>
              <a:t>(</a:t>
            </a:r>
            <a:r>
              <a:rPr lang="pt-BR" sz="2800" dirty="0" err="1">
                <a:solidFill>
                  <a:srgbClr val="454545"/>
                </a:solidFill>
              </a:rPr>
              <a:t>won’t</a:t>
            </a:r>
            <a:r>
              <a:rPr lang="pt-BR" sz="2800" dirty="0">
                <a:solidFill>
                  <a:srgbClr val="454545"/>
                </a:solidFill>
              </a:rPr>
              <a:t>) + verbo principal + complemento.</a:t>
            </a:r>
          </a:p>
        </p:txBody>
      </p:sp>
      <p:pic>
        <p:nvPicPr>
          <p:cNvPr id="9" name="Imagem 8" descr="Par de tênis&#10;&#10;Descrição gerada automaticamente com confiança baixa">
            <a:extLst>
              <a:ext uri="{FF2B5EF4-FFF2-40B4-BE49-F238E27FC236}">
                <a16:creationId xmlns:a16="http://schemas.microsoft.com/office/drawing/2014/main" id="{ED204ECC-A254-5A83-974E-0581A9BD2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97451">
            <a:off x="-5482381" y="4109606"/>
            <a:ext cx="4107180" cy="3080385"/>
          </a:xfrm>
          <a:prstGeom prst="roundRect">
            <a:avLst>
              <a:gd name="adj" fmla="val 2614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Imagem 12" descr="Carro azul estacionado&#10;&#10;Descrição gerada automaticamente">
            <a:extLst>
              <a:ext uri="{FF2B5EF4-FFF2-40B4-BE49-F238E27FC236}">
                <a16:creationId xmlns:a16="http://schemas.microsoft.com/office/drawing/2014/main" id="{61D12C9C-B24A-A99A-D161-D6F5AA14A4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76188">
            <a:off x="12471972" y="3783265"/>
            <a:ext cx="4821869" cy="2709357"/>
          </a:xfrm>
          <a:prstGeom prst="roundRect">
            <a:avLst>
              <a:gd name="adj" fmla="val 25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m 9" descr="Par de tênis&#10;&#10;Descrição gerada automaticamente com confiança baixa">
            <a:extLst>
              <a:ext uri="{FF2B5EF4-FFF2-40B4-BE49-F238E27FC236}">
                <a16:creationId xmlns:a16="http://schemas.microsoft.com/office/drawing/2014/main" id="{4EA9C7C1-B4B1-4868-CC52-3585434BB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97451">
            <a:off x="-5329981" y="4262006"/>
            <a:ext cx="4107180" cy="3080385"/>
          </a:xfrm>
          <a:prstGeom prst="roundRect">
            <a:avLst>
              <a:gd name="adj" fmla="val 2614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m 13" descr="Homem sentado em frente a computador&#10;&#10;Descrição gerada automaticamente">
            <a:extLst>
              <a:ext uri="{FF2B5EF4-FFF2-40B4-BE49-F238E27FC236}">
                <a16:creationId xmlns:a16="http://schemas.microsoft.com/office/drawing/2014/main" id="{94BE2C95-D0D9-CF80-F69F-AD2B39D1D76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07" b="27286"/>
          <a:stretch/>
        </p:blipFill>
        <p:spPr>
          <a:xfrm>
            <a:off x="3686595" y="7915852"/>
            <a:ext cx="5105711" cy="4238765"/>
          </a:xfrm>
          <a:prstGeom prst="roundRect">
            <a:avLst>
              <a:gd name="adj" fmla="val 2206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15F18F7F-4A73-A083-782F-235533DB3454}"/>
              </a:ext>
            </a:extLst>
          </p:cNvPr>
          <p:cNvSpPr txBox="1"/>
          <p:nvPr/>
        </p:nvSpPr>
        <p:spPr>
          <a:xfrm>
            <a:off x="-11372977" y="1644774"/>
            <a:ext cx="7460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Will + sujeito + verbo principal + complemento.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AB6944B-24A3-A103-A1E4-5CE988350E00}"/>
              </a:ext>
            </a:extLst>
          </p:cNvPr>
          <p:cNvSpPr txBox="1"/>
          <p:nvPr/>
        </p:nvSpPr>
        <p:spPr>
          <a:xfrm>
            <a:off x="12458104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afirmativo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18C7601-0573-7BB5-0429-F58480EDACEE}"/>
              </a:ext>
            </a:extLst>
          </p:cNvPr>
          <p:cNvSpPr txBox="1"/>
          <p:nvPr/>
        </p:nvSpPr>
        <p:spPr>
          <a:xfrm>
            <a:off x="12458104" y="1614705"/>
            <a:ext cx="7460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Sujeito + </a:t>
            </a:r>
            <a:r>
              <a:rPr lang="pt-BR" sz="2800" dirty="0" err="1">
                <a:solidFill>
                  <a:srgbClr val="454545"/>
                </a:solidFill>
              </a:rPr>
              <a:t>will</a:t>
            </a:r>
            <a:r>
              <a:rPr lang="pt-BR" sz="2800" dirty="0">
                <a:solidFill>
                  <a:srgbClr val="454545"/>
                </a:solidFill>
              </a:rPr>
              <a:t> + verbo principal + complemento.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7434150-307C-0626-47C8-C9036A82A0C7}"/>
              </a:ext>
            </a:extLst>
          </p:cNvPr>
          <p:cNvSpPr txBox="1"/>
          <p:nvPr/>
        </p:nvSpPr>
        <p:spPr>
          <a:xfrm>
            <a:off x="12458104" y="2657613"/>
            <a:ext cx="111023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54545"/>
                </a:solidFill>
              </a:rPr>
              <a:t> I’ll study more, when </a:t>
            </a:r>
            <a:r>
              <a:rPr lang="en-US" sz="4000" b="1" dirty="0" err="1">
                <a:solidFill>
                  <a:srgbClr val="454545"/>
                </a:solidFill>
              </a:rPr>
              <a:t>i</a:t>
            </a:r>
            <a:r>
              <a:rPr lang="en-US" sz="4000" b="1" dirty="0">
                <a:solidFill>
                  <a:srgbClr val="454545"/>
                </a:solidFill>
              </a:rPr>
              <a:t> am 18 years old.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estudar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mais</a:t>
            </a:r>
            <a:r>
              <a:rPr lang="en-US" sz="3200" b="1" i="1" dirty="0">
                <a:solidFill>
                  <a:srgbClr val="454545"/>
                </a:solidFill>
              </a:rPr>
              <a:t>, </a:t>
            </a:r>
            <a:r>
              <a:rPr lang="en-US" sz="3200" b="1" i="1" dirty="0" err="1">
                <a:solidFill>
                  <a:srgbClr val="454545"/>
                </a:solidFill>
              </a:rPr>
              <a:t>quando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eu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tiver</a:t>
            </a:r>
            <a:r>
              <a:rPr lang="en-US" sz="3200" b="1" i="1" dirty="0">
                <a:solidFill>
                  <a:srgbClr val="454545"/>
                </a:solidFill>
              </a:rPr>
              <a:t> 18 </a:t>
            </a:r>
            <a:r>
              <a:rPr lang="en-US" sz="3200" b="1" i="1" dirty="0" err="1">
                <a:solidFill>
                  <a:srgbClr val="454545"/>
                </a:solidFill>
              </a:rPr>
              <a:t>anos</a:t>
            </a:r>
            <a:r>
              <a:rPr lang="en-US" sz="3200" b="1" i="1" dirty="0">
                <a:solidFill>
                  <a:srgbClr val="454545"/>
                </a:solidFill>
              </a:rPr>
              <a:t> de </a:t>
            </a:r>
            <a:r>
              <a:rPr lang="en-US" sz="3200" b="1" i="1" dirty="0" err="1">
                <a:solidFill>
                  <a:srgbClr val="454545"/>
                </a:solidFill>
              </a:rPr>
              <a:t>idade</a:t>
            </a:r>
            <a:r>
              <a:rPr lang="en-US" sz="3200" b="1" i="1" dirty="0">
                <a:solidFill>
                  <a:srgbClr val="454545"/>
                </a:solidFill>
              </a:rPr>
              <a:t>.</a:t>
            </a:r>
            <a:endParaRPr lang="en-US" sz="4000" b="1" i="1" dirty="0">
              <a:solidFill>
                <a:srgbClr val="45454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54545"/>
                </a:solidFill>
              </a:rPr>
              <a:t> </a:t>
            </a:r>
            <a:r>
              <a:rPr lang="en-US" sz="4000" b="1" dirty="0" err="1">
                <a:solidFill>
                  <a:srgbClr val="454545"/>
                </a:solidFill>
              </a:rPr>
              <a:t>i</a:t>
            </a:r>
            <a:r>
              <a:rPr lang="en-US" sz="4000" b="1" dirty="0">
                <a:solidFill>
                  <a:srgbClr val="454545"/>
                </a:solidFill>
              </a:rPr>
              <a:t> will buy a car, if </a:t>
            </a:r>
            <a:r>
              <a:rPr lang="en-US" sz="4000" b="1" dirty="0" err="1">
                <a:solidFill>
                  <a:srgbClr val="454545"/>
                </a:solidFill>
              </a:rPr>
              <a:t>i</a:t>
            </a:r>
            <a:r>
              <a:rPr lang="en-US" sz="4000" b="1" dirty="0">
                <a:solidFill>
                  <a:srgbClr val="454545"/>
                </a:solidFill>
              </a:rPr>
              <a:t> receive 2000 salary.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comprar</a:t>
            </a:r>
            <a:r>
              <a:rPr lang="en-US" sz="3200" b="1" i="1" dirty="0">
                <a:solidFill>
                  <a:srgbClr val="454545"/>
                </a:solidFill>
              </a:rPr>
              <a:t> um </a:t>
            </a:r>
            <a:r>
              <a:rPr lang="en-US" sz="3200" b="1" i="1" dirty="0" err="1">
                <a:solidFill>
                  <a:srgbClr val="454545"/>
                </a:solidFill>
              </a:rPr>
              <a:t>carro</a:t>
            </a:r>
            <a:r>
              <a:rPr lang="en-US" sz="3200" b="1" i="1" dirty="0">
                <a:solidFill>
                  <a:srgbClr val="454545"/>
                </a:solidFill>
              </a:rPr>
              <a:t>, se </a:t>
            </a:r>
            <a:r>
              <a:rPr lang="en-US" sz="3200" b="1" i="1" dirty="0" err="1">
                <a:solidFill>
                  <a:srgbClr val="454545"/>
                </a:solidFill>
              </a:rPr>
              <a:t>eu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receber</a:t>
            </a:r>
            <a:r>
              <a:rPr lang="en-US" sz="3200" b="1" i="1" dirty="0">
                <a:solidFill>
                  <a:srgbClr val="454545"/>
                </a:solidFill>
              </a:rPr>
              <a:t> 2000 de </a:t>
            </a:r>
            <a:r>
              <a:rPr lang="en-US" sz="3200" b="1" i="1" dirty="0" err="1">
                <a:solidFill>
                  <a:srgbClr val="454545"/>
                </a:solidFill>
              </a:rPr>
              <a:t>salário</a:t>
            </a:r>
            <a:r>
              <a:rPr lang="en-US" sz="3200" b="1" i="1" dirty="0">
                <a:solidFill>
                  <a:srgbClr val="454545"/>
                </a:solidFill>
              </a:rPr>
              <a:t>.</a:t>
            </a:r>
            <a:endParaRPr lang="en-US" sz="3600" b="1" i="1" dirty="0">
              <a:solidFill>
                <a:srgbClr val="454545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E4B07A1-3B54-D0BB-56C6-2B8BCCC64857}"/>
              </a:ext>
            </a:extLst>
          </p:cNvPr>
          <p:cNvSpPr txBox="1"/>
          <p:nvPr/>
        </p:nvSpPr>
        <p:spPr>
          <a:xfrm>
            <a:off x="-11849696" y="276867"/>
            <a:ext cx="111334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0" b="1" dirty="0">
                <a:solidFill>
                  <a:srgbClr val="454545"/>
                </a:solidFill>
              </a:rPr>
              <a:t>Exemplos: Interrogativo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0265604-77DD-34EF-2F51-7750341663E4}"/>
              </a:ext>
            </a:extLst>
          </p:cNvPr>
          <p:cNvSpPr txBox="1"/>
          <p:nvPr/>
        </p:nvSpPr>
        <p:spPr>
          <a:xfrm>
            <a:off x="-11849696" y="1614705"/>
            <a:ext cx="7460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Will + sujeito + verbo principal + complemento.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8789B92-ACCA-8746-4C7A-E13F05C56DA5}"/>
              </a:ext>
            </a:extLst>
          </p:cNvPr>
          <p:cNvSpPr txBox="1"/>
          <p:nvPr/>
        </p:nvSpPr>
        <p:spPr>
          <a:xfrm>
            <a:off x="-11849696" y="2599445"/>
            <a:ext cx="1142238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54545"/>
                </a:solidFill>
              </a:rPr>
              <a:t> Will you study more, when you are 18 years old?</a:t>
            </a:r>
          </a:p>
          <a:p>
            <a:r>
              <a:rPr lang="en-US" sz="3200" b="1" i="1" dirty="0" err="1">
                <a:solidFill>
                  <a:srgbClr val="454545"/>
                </a:solidFill>
              </a:rPr>
              <a:t>Você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vai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estudar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mais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quando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tiver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mais</a:t>
            </a:r>
            <a:r>
              <a:rPr lang="en-US" sz="3200" b="1" i="1" dirty="0">
                <a:solidFill>
                  <a:srgbClr val="454545"/>
                </a:solidFill>
              </a:rPr>
              <a:t> de 18?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54545"/>
                </a:solidFill>
              </a:rPr>
              <a:t> Will you buy a car, if you receive 2000 salary?</a:t>
            </a:r>
          </a:p>
          <a:p>
            <a:r>
              <a:rPr lang="en-US" sz="2800" b="1" i="1" dirty="0" err="1">
                <a:solidFill>
                  <a:srgbClr val="454545"/>
                </a:solidFill>
              </a:rPr>
              <a:t>Você</a:t>
            </a:r>
            <a:r>
              <a:rPr lang="en-US" sz="2800" b="1" i="1" dirty="0">
                <a:solidFill>
                  <a:srgbClr val="454545"/>
                </a:solidFill>
              </a:rPr>
              <a:t> </a:t>
            </a:r>
            <a:r>
              <a:rPr lang="en-US" sz="2800" b="1" i="1" dirty="0" err="1">
                <a:solidFill>
                  <a:srgbClr val="454545"/>
                </a:solidFill>
              </a:rPr>
              <a:t>vai</a:t>
            </a:r>
            <a:r>
              <a:rPr lang="en-US" sz="2800" b="1" i="1" dirty="0">
                <a:solidFill>
                  <a:srgbClr val="454545"/>
                </a:solidFill>
              </a:rPr>
              <a:t> </a:t>
            </a:r>
            <a:r>
              <a:rPr lang="en-US" sz="2800" b="1" i="1" dirty="0" err="1">
                <a:solidFill>
                  <a:srgbClr val="454545"/>
                </a:solidFill>
              </a:rPr>
              <a:t>comprar</a:t>
            </a:r>
            <a:r>
              <a:rPr lang="en-US" sz="2800" b="1" i="1" dirty="0">
                <a:solidFill>
                  <a:srgbClr val="454545"/>
                </a:solidFill>
              </a:rPr>
              <a:t> um </a:t>
            </a:r>
            <a:r>
              <a:rPr lang="en-US" sz="2800" b="1" i="1" dirty="0" err="1">
                <a:solidFill>
                  <a:srgbClr val="454545"/>
                </a:solidFill>
              </a:rPr>
              <a:t>carro</a:t>
            </a:r>
            <a:r>
              <a:rPr lang="en-US" sz="2800" b="1" i="1" dirty="0">
                <a:solidFill>
                  <a:srgbClr val="454545"/>
                </a:solidFill>
              </a:rPr>
              <a:t> se </a:t>
            </a:r>
            <a:r>
              <a:rPr lang="en-US" sz="2800" b="1" i="1" dirty="0" err="1">
                <a:solidFill>
                  <a:srgbClr val="454545"/>
                </a:solidFill>
              </a:rPr>
              <a:t>receber</a:t>
            </a:r>
            <a:r>
              <a:rPr lang="en-US" sz="2800" b="1" i="1" dirty="0">
                <a:solidFill>
                  <a:srgbClr val="454545"/>
                </a:solidFill>
              </a:rPr>
              <a:t> </a:t>
            </a:r>
            <a:r>
              <a:rPr lang="en-US" sz="2800" b="1" i="1" dirty="0" err="1">
                <a:solidFill>
                  <a:srgbClr val="454545"/>
                </a:solidFill>
              </a:rPr>
              <a:t>mais</a:t>
            </a:r>
            <a:r>
              <a:rPr lang="en-US" sz="2800" b="1" i="1" dirty="0">
                <a:solidFill>
                  <a:srgbClr val="454545"/>
                </a:solidFill>
              </a:rPr>
              <a:t> de 2000 de </a:t>
            </a:r>
            <a:r>
              <a:rPr lang="en-US" sz="2800" b="1" i="1" dirty="0" err="1">
                <a:solidFill>
                  <a:srgbClr val="454545"/>
                </a:solidFill>
              </a:rPr>
              <a:t>salário</a:t>
            </a:r>
            <a:r>
              <a:rPr lang="en-US" sz="2800" b="1" i="1" dirty="0">
                <a:solidFill>
                  <a:srgbClr val="454545"/>
                </a:solidFill>
              </a:rPr>
              <a:t>?</a:t>
            </a:r>
            <a:endParaRPr lang="en-US" sz="3200" b="1" i="1" dirty="0">
              <a:solidFill>
                <a:srgbClr val="454545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101EE21-6AE3-54BC-B0EE-03F63976A98F}"/>
              </a:ext>
            </a:extLst>
          </p:cNvPr>
          <p:cNvSpPr txBox="1"/>
          <p:nvPr/>
        </p:nvSpPr>
        <p:spPr>
          <a:xfrm>
            <a:off x="433744" y="3061255"/>
            <a:ext cx="114223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54545"/>
                </a:solidFill>
              </a:rPr>
              <a:t> I won't study more, when </a:t>
            </a:r>
            <a:r>
              <a:rPr lang="en-US" sz="3200" b="1" dirty="0" err="1">
                <a:solidFill>
                  <a:srgbClr val="454545"/>
                </a:solidFill>
              </a:rPr>
              <a:t>i</a:t>
            </a:r>
            <a:r>
              <a:rPr lang="en-US" sz="3200" b="1" dirty="0">
                <a:solidFill>
                  <a:srgbClr val="454545"/>
                </a:solidFill>
              </a:rPr>
              <a:t> am 18 years old.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não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estudar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mais</a:t>
            </a:r>
            <a:r>
              <a:rPr lang="en-US" sz="3200" b="1" i="1" dirty="0">
                <a:solidFill>
                  <a:srgbClr val="454545"/>
                </a:solidFill>
              </a:rPr>
              <a:t>, </a:t>
            </a:r>
            <a:r>
              <a:rPr lang="en-US" sz="3200" b="1" i="1" dirty="0" err="1">
                <a:solidFill>
                  <a:srgbClr val="454545"/>
                </a:solidFill>
              </a:rPr>
              <a:t>quando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eu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tiver</a:t>
            </a:r>
            <a:r>
              <a:rPr lang="en-US" sz="3200" b="1" i="1" dirty="0">
                <a:solidFill>
                  <a:srgbClr val="454545"/>
                </a:solidFill>
              </a:rPr>
              <a:t> 18 </a:t>
            </a:r>
            <a:r>
              <a:rPr lang="en-US" sz="3200" b="1" i="1" dirty="0" err="1">
                <a:solidFill>
                  <a:srgbClr val="454545"/>
                </a:solidFill>
              </a:rPr>
              <a:t>anos</a:t>
            </a:r>
            <a:r>
              <a:rPr lang="en-US" sz="3200" b="1" i="1" dirty="0">
                <a:solidFill>
                  <a:srgbClr val="454545"/>
                </a:solidFill>
              </a:rPr>
              <a:t> de </a:t>
            </a:r>
            <a:r>
              <a:rPr lang="en-US" sz="3200" b="1" i="1" dirty="0" err="1">
                <a:solidFill>
                  <a:srgbClr val="454545"/>
                </a:solidFill>
              </a:rPr>
              <a:t>idade</a:t>
            </a:r>
            <a:r>
              <a:rPr lang="en-US" sz="3200" b="1" i="1" dirty="0">
                <a:solidFill>
                  <a:srgbClr val="454545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54545"/>
                </a:solidFill>
              </a:rPr>
              <a:t> I won’t finance a car, if </a:t>
            </a:r>
            <a:r>
              <a:rPr lang="en-US" sz="3200" b="1" dirty="0" err="1">
                <a:solidFill>
                  <a:srgbClr val="454545"/>
                </a:solidFill>
              </a:rPr>
              <a:t>i</a:t>
            </a:r>
            <a:r>
              <a:rPr lang="en-US" sz="3200" b="1" dirty="0">
                <a:solidFill>
                  <a:srgbClr val="454545"/>
                </a:solidFill>
              </a:rPr>
              <a:t> receive a 2000 wage.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não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financiar</a:t>
            </a:r>
            <a:r>
              <a:rPr lang="en-US" sz="3200" b="1" i="1" dirty="0">
                <a:solidFill>
                  <a:srgbClr val="454545"/>
                </a:solidFill>
              </a:rPr>
              <a:t> um </a:t>
            </a:r>
            <a:r>
              <a:rPr lang="en-US" sz="3200" b="1" i="1" dirty="0" err="1">
                <a:solidFill>
                  <a:srgbClr val="454545"/>
                </a:solidFill>
              </a:rPr>
              <a:t>carro</a:t>
            </a:r>
            <a:r>
              <a:rPr lang="en-US" sz="3200" b="1" i="1" dirty="0">
                <a:solidFill>
                  <a:srgbClr val="454545"/>
                </a:solidFill>
              </a:rPr>
              <a:t>, se </a:t>
            </a:r>
            <a:r>
              <a:rPr lang="en-US" sz="3200" b="1" i="1" dirty="0" err="1">
                <a:solidFill>
                  <a:srgbClr val="454545"/>
                </a:solidFill>
              </a:rPr>
              <a:t>eu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receber</a:t>
            </a:r>
            <a:r>
              <a:rPr lang="en-US" sz="3200" b="1" i="1" dirty="0">
                <a:solidFill>
                  <a:srgbClr val="454545"/>
                </a:solidFill>
              </a:rPr>
              <a:t> 2000 de </a:t>
            </a:r>
            <a:r>
              <a:rPr lang="en-US" sz="3200" b="1" i="1" dirty="0" err="1">
                <a:solidFill>
                  <a:srgbClr val="454545"/>
                </a:solidFill>
              </a:rPr>
              <a:t>salário</a:t>
            </a:r>
            <a:r>
              <a:rPr lang="en-US" sz="3200" b="1" i="1" dirty="0">
                <a:solidFill>
                  <a:srgbClr val="454545"/>
                </a:solidFill>
              </a:rPr>
              <a:t>. </a:t>
            </a:r>
          </a:p>
        </p:txBody>
      </p:sp>
      <p:pic>
        <p:nvPicPr>
          <p:cNvPr id="31" name="Imagem 30" descr="Homem ao lado de uma bicicleta&#10;&#10;Descrição gerada automaticamente">
            <a:extLst>
              <a:ext uri="{FF2B5EF4-FFF2-40B4-BE49-F238E27FC236}">
                <a16:creationId xmlns:a16="http://schemas.microsoft.com/office/drawing/2014/main" id="{10D47BF5-CFF2-3D3B-6829-8F4938505B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27100">
            <a:off x="1797135" y="5130739"/>
            <a:ext cx="2959605" cy="4439407"/>
          </a:xfrm>
          <a:prstGeom prst="roundRect">
            <a:avLst>
              <a:gd name="adj" fmla="val 20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Imagem 31" descr="Mulher sentada com criança no colo&#10;&#10;Descrição gerada automaticamente com confiança baixa">
            <a:extLst>
              <a:ext uri="{FF2B5EF4-FFF2-40B4-BE49-F238E27FC236}">
                <a16:creationId xmlns:a16="http://schemas.microsoft.com/office/drawing/2014/main" id="{8F53770A-2DF5-25A2-1146-C17E2530CA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73535">
            <a:off x="6952494" y="5390806"/>
            <a:ext cx="4401579" cy="2934386"/>
          </a:xfrm>
          <a:prstGeom prst="roundRect">
            <a:avLst>
              <a:gd name="adj" fmla="val 2153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1287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4EB39F-9BCF-DB4B-F2F1-18472F68F030}"/>
              </a:ext>
            </a:extLst>
          </p:cNvPr>
          <p:cNvSpPr txBox="1"/>
          <p:nvPr/>
        </p:nvSpPr>
        <p:spPr>
          <a:xfrm>
            <a:off x="1668891" y="-2961877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1.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433744" y="276867"/>
            <a:ext cx="111334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0" b="1" dirty="0">
                <a:solidFill>
                  <a:srgbClr val="454545"/>
                </a:solidFill>
              </a:rPr>
              <a:t>Exemplos: Interrogativo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4EE10E-2A25-C521-8106-670CA98D6E8A}"/>
              </a:ext>
            </a:extLst>
          </p:cNvPr>
          <p:cNvSpPr txBox="1"/>
          <p:nvPr/>
        </p:nvSpPr>
        <p:spPr>
          <a:xfrm>
            <a:off x="3789311" y="-2945221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5: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E0BE01-FD43-2ECF-C428-D0AE4763718C}"/>
              </a:ext>
            </a:extLst>
          </p:cNvPr>
          <p:cNvSpPr txBox="1"/>
          <p:nvPr/>
        </p:nvSpPr>
        <p:spPr>
          <a:xfrm>
            <a:off x="433744" y="1614705"/>
            <a:ext cx="7460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Will + sujeito + verbo principal + complemento.</a:t>
            </a:r>
          </a:p>
        </p:txBody>
      </p:sp>
      <p:pic>
        <p:nvPicPr>
          <p:cNvPr id="4" name="Imagem 3" descr="Homem ao lado de uma bicicleta&#10;&#10;Descrição gerada automaticamente">
            <a:extLst>
              <a:ext uri="{FF2B5EF4-FFF2-40B4-BE49-F238E27FC236}">
                <a16:creationId xmlns:a16="http://schemas.microsoft.com/office/drawing/2014/main" id="{10D47BF5-CFF2-3D3B-6829-8F4938505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27100">
            <a:off x="-5377730" y="5860476"/>
            <a:ext cx="2959605" cy="4439407"/>
          </a:xfrm>
          <a:prstGeom prst="roundRect">
            <a:avLst>
              <a:gd name="adj" fmla="val 20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m 4" descr="Mulher sentada com criança no colo&#10;&#10;Descrição gerada automaticamente com confiança baixa">
            <a:extLst>
              <a:ext uri="{FF2B5EF4-FFF2-40B4-BE49-F238E27FC236}">
                <a16:creationId xmlns:a16="http://schemas.microsoft.com/office/drawing/2014/main" id="{8F53770A-2DF5-25A2-1146-C17E2530CA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73535">
            <a:off x="12886810" y="6267731"/>
            <a:ext cx="4401579" cy="2934386"/>
          </a:xfrm>
          <a:prstGeom prst="roundRect">
            <a:avLst>
              <a:gd name="adj" fmla="val 2153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101EE21-6AE3-54BC-B0EE-03F63976A98F}"/>
              </a:ext>
            </a:extLst>
          </p:cNvPr>
          <p:cNvSpPr txBox="1"/>
          <p:nvPr/>
        </p:nvSpPr>
        <p:spPr>
          <a:xfrm>
            <a:off x="433744" y="2599445"/>
            <a:ext cx="1142238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54545"/>
                </a:solidFill>
              </a:rPr>
              <a:t> Will you study more, when you are 18 years old?</a:t>
            </a:r>
          </a:p>
          <a:p>
            <a:r>
              <a:rPr lang="en-US" sz="3200" b="1" i="1" dirty="0" err="1">
                <a:solidFill>
                  <a:srgbClr val="454545"/>
                </a:solidFill>
              </a:rPr>
              <a:t>Você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vai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estudar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mais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quando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tiver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mais</a:t>
            </a:r>
            <a:r>
              <a:rPr lang="en-US" sz="3200" b="1" i="1" dirty="0">
                <a:solidFill>
                  <a:srgbClr val="454545"/>
                </a:solidFill>
              </a:rPr>
              <a:t> de 18 </a:t>
            </a:r>
            <a:r>
              <a:rPr lang="en-US" sz="3200" b="1" i="1" dirty="0" err="1">
                <a:solidFill>
                  <a:srgbClr val="454545"/>
                </a:solidFill>
              </a:rPr>
              <a:t>anos</a:t>
            </a:r>
            <a:r>
              <a:rPr lang="en-US" sz="3200" b="1" i="1" dirty="0">
                <a:solidFill>
                  <a:srgbClr val="454545"/>
                </a:solidFill>
              </a:rPr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54545"/>
                </a:solidFill>
              </a:rPr>
              <a:t> Will you finance a car, if you receive a 2000 wage?</a:t>
            </a:r>
          </a:p>
          <a:p>
            <a:r>
              <a:rPr lang="en-US" sz="2800" b="1" i="1" dirty="0" err="1">
                <a:solidFill>
                  <a:srgbClr val="454545"/>
                </a:solidFill>
              </a:rPr>
              <a:t>Você</a:t>
            </a:r>
            <a:r>
              <a:rPr lang="en-US" sz="2800" b="1" i="1" dirty="0">
                <a:solidFill>
                  <a:srgbClr val="454545"/>
                </a:solidFill>
              </a:rPr>
              <a:t> </a:t>
            </a:r>
            <a:r>
              <a:rPr lang="en-US" sz="2800" b="1" i="1" dirty="0" err="1">
                <a:solidFill>
                  <a:srgbClr val="454545"/>
                </a:solidFill>
              </a:rPr>
              <a:t>vai</a:t>
            </a:r>
            <a:r>
              <a:rPr lang="en-US" sz="2800" b="1" i="1" dirty="0">
                <a:solidFill>
                  <a:srgbClr val="454545"/>
                </a:solidFill>
              </a:rPr>
              <a:t> </a:t>
            </a:r>
            <a:r>
              <a:rPr lang="en-US" sz="2800" b="1" i="1" dirty="0" err="1">
                <a:solidFill>
                  <a:srgbClr val="454545"/>
                </a:solidFill>
              </a:rPr>
              <a:t>financiar</a:t>
            </a:r>
            <a:r>
              <a:rPr lang="en-US" sz="2800" b="1" i="1" dirty="0">
                <a:solidFill>
                  <a:srgbClr val="454545"/>
                </a:solidFill>
              </a:rPr>
              <a:t> um </a:t>
            </a:r>
            <a:r>
              <a:rPr lang="en-US" sz="2800" b="1" i="1" dirty="0" err="1">
                <a:solidFill>
                  <a:srgbClr val="454545"/>
                </a:solidFill>
              </a:rPr>
              <a:t>carro</a:t>
            </a:r>
            <a:r>
              <a:rPr lang="en-US" sz="2800" b="1" i="1" dirty="0">
                <a:solidFill>
                  <a:srgbClr val="454545"/>
                </a:solidFill>
              </a:rPr>
              <a:t> se </a:t>
            </a:r>
            <a:r>
              <a:rPr lang="en-US" sz="2800" b="1" i="1" dirty="0" err="1">
                <a:solidFill>
                  <a:srgbClr val="454545"/>
                </a:solidFill>
              </a:rPr>
              <a:t>receber</a:t>
            </a:r>
            <a:r>
              <a:rPr lang="en-US" sz="2800" b="1" i="1" dirty="0">
                <a:solidFill>
                  <a:srgbClr val="454545"/>
                </a:solidFill>
              </a:rPr>
              <a:t> 2000 de </a:t>
            </a:r>
            <a:r>
              <a:rPr lang="en-US" sz="2800" b="1" i="1" dirty="0" err="1">
                <a:solidFill>
                  <a:srgbClr val="454545"/>
                </a:solidFill>
              </a:rPr>
              <a:t>salário</a:t>
            </a:r>
            <a:r>
              <a:rPr lang="en-US" sz="2800" b="1" i="1" dirty="0">
                <a:solidFill>
                  <a:srgbClr val="454545"/>
                </a:solidFill>
              </a:rPr>
              <a:t>?</a:t>
            </a:r>
            <a:endParaRPr lang="en-US" sz="3200" b="1" i="1" dirty="0">
              <a:solidFill>
                <a:srgbClr val="454545"/>
              </a:solidFill>
            </a:endParaRPr>
          </a:p>
        </p:txBody>
      </p:sp>
      <p:pic>
        <p:nvPicPr>
          <p:cNvPr id="14" name="Imagem 13" descr="Homem sentado em frente a computador&#10;&#10;Descrição gerada automaticamente">
            <a:extLst>
              <a:ext uri="{FF2B5EF4-FFF2-40B4-BE49-F238E27FC236}">
                <a16:creationId xmlns:a16="http://schemas.microsoft.com/office/drawing/2014/main" id="{D949C47A-1F1F-EB2D-647D-B3B200F4112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07" b="27286"/>
          <a:stretch/>
        </p:blipFill>
        <p:spPr>
          <a:xfrm rot="623169">
            <a:off x="-2216979" y="4380470"/>
            <a:ext cx="5105711" cy="4238765"/>
          </a:xfrm>
          <a:prstGeom prst="roundRect">
            <a:avLst>
              <a:gd name="adj" fmla="val 2206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EA9A4156-F1DC-EE97-E911-0D0883AF2479}"/>
              </a:ext>
            </a:extLst>
          </p:cNvPr>
          <p:cNvSpPr txBox="1"/>
          <p:nvPr/>
        </p:nvSpPr>
        <p:spPr>
          <a:xfrm>
            <a:off x="12412384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Negativo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09B5C10-A42A-56F9-F145-A78A1667BC50}"/>
              </a:ext>
            </a:extLst>
          </p:cNvPr>
          <p:cNvSpPr txBox="1"/>
          <p:nvPr/>
        </p:nvSpPr>
        <p:spPr>
          <a:xfrm>
            <a:off x="12412384" y="1614705"/>
            <a:ext cx="7460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Sujeito + </a:t>
            </a:r>
            <a:r>
              <a:rPr lang="pt-BR" sz="2800" dirty="0" err="1">
                <a:solidFill>
                  <a:srgbClr val="454545"/>
                </a:solidFill>
              </a:rPr>
              <a:t>will</a:t>
            </a:r>
            <a:r>
              <a:rPr lang="pt-BR" sz="2800" dirty="0">
                <a:solidFill>
                  <a:srgbClr val="454545"/>
                </a:solidFill>
              </a:rPr>
              <a:t> + </a:t>
            </a:r>
            <a:r>
              <a:rPr lang="pt-BR" sz="2800" dirty="0" err="1">
                <a:solidFill>
                  <a:srgbClr val="454545"/>
                </a:solidFill>
              </a:rPr>
              <a:t>not</a:t>
            </a:r>
            <a:r>
              <a:rPr lang="pt-BR" sz="2800" dirty="0">
                <a:solidFill>
                  <a:srgbClr val="454545"/>
                </a:solidFill>
              </a:rPr>
              <a:t>(</a:t>
            </a:r>
            <a:r>
              <a:rPr lang="pt-BR" sz="2800" dirty="0" err="1">
                <a:solidFill>
                  <a:srgbClr val="454545"/>
                </a:solidFill>
              </a:rPr>
              <a:t>won’t</a:t>
            </a:r>
            <a:r>
              <a:rPr lang="pt-BR" sz="2800" dirty="0">
                <a:solidFill>
                  <a:srgbClr val="454545"/>
                </a:solidFill>
              </a:rPr>
              <a:t>) + verbo principal + complemento.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FD4DEC2-0D3F-9FFD-D4EF-E98D821152AF}"/>
              </a:ext>
            </a:extLst>
          </p:cNvPr>
          <p:cNvSpPr txBox="1"/>
          <p:nvPr/>
        </p:nvSpPr>
        <p:spPr>
          <a:xfrm>
            <a:off x="12412384" y="3061255"/>
            <a:ext cx="114223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54545"/>
                </a:solidFill>
              </a:rPr>
              <a:t> I won't study more, when </a:t>
            </a:r>
            <a:r>
              <a:rPr lang="en-US" sz="3200" b="1" dirty="0" err="1">
                <a:solidFill>
                  <a:srgbClr val="454545"/>
                </a:solidFill>
              </a:rPr>
              <a:t>i</a:t>
            </a:r>
            <a:r>
              <a:rPr lang="en-US" sz="3200" b="1" dirty="0">
                <a:solidFill>
                  <a:srgbClr val="454545"/>
                </a:solidFill>
              </a:rPr>
              <a:t> am 18 years old.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não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estudar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mais</a:t>
            </a:r>
            <a:r>
              <a:rPr lang="en-US" sz="3200" b="1" i="1" dirty="0">
                <a:solidFill>
                  <a:srgbClr val="454545"/>
                </a:solidFill>
              </a:rPr>
              <a:t>, </a:t>
            </a:r>
            <a:r>
              <a:rPr lang="en-US" sz="3200" b="1" i="1" dirty="0" err="1">
                <a:solidFill>
                  <a:srgbClr val="454545"/>
                </a:solidFill>
              </a:rPr>
              <a:t>quando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eu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tiver</a:t>
            </a:r>
            <a:r>
              <a:rPr lang="en-US" sz="3200" b="1" i="1" dirty="0">
                <a:solidFill>
                  <a:srgbClr val="454545"/>
                </a:solidFill>
              </a:rPr>
              <a:t> 18 </a:t>
            </a:r>
            <a:r>
              <a:rPr lang="en-US" sz="3200" b="1" i="1" dirty="0" err="1">
                <a:solidFill>
                  <a:srgbClr val="454545"/>
                </a:solidFill>
              </a:rPr>
              <a:t>anos</a:t>
            </a:r>
            <a:r>
              <a:rPr lang="en-US" sz="3200" b="1" i="1" dirty="0">
                <a:solidFill>
                  <a:srgbClr val="454545"/>
                </a:solidFill>
              </a:rPr>
              <a:t> de </a:t>
            </a:r>
            <a:r>
              <a:rPr lang="en-US" sz="3200" b="1" i="1" dirty="0" err="1">
                <a:solidFill>
                  <a:srgbClr val="454545"/>
                </a:solidFill>
              </a:rPr>
              <a:t>idade</a:t>
            </a:r>
            <a:r>
              <a:rPr lang="en-US" sz="3200" b="1" i="1" dirty="0">
                <a:solidFill>
                  <a:srgbClr val="454545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54545"/>
                </a:solidFill>
              </a:rPr>
              <a:t> I won't buy a car, if </a:t>
            </a:r>
            <a:r>
              <a:rPr lang="en-US" sz="3200" b="1" dirty="0" err="1">
                <a:solidFill>
                  <a:srgbClr val="454545"/>
                </a:solidFill>
              </a:rPr>
              <a:t>i</a:t>
            </a:r>
            <a:r>
              <a:rPr lang="en-US" sz="3200" b="1" dirty="0">
                <a:solidFill>
                  <a:srgbClr val="454545"/>
                </a:solidFill>
              </a:rPr>
              <a:t> receive 2000 salary.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não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comprar</a:t>
            </a:r>
            <a:r>
              <a:rPr lang="en-US" sz="3200" b="1" i="1" dirty="0">
                <a:solidFill>
                  <a:srgbClr val="454545"/>
                </a:solidFill>
              </a:rPr>
              <a:t> um </a:t>
            </a:r>
            <a:r>
              <a:rPr lang="en-US" sz="3200" b="1" i="1" dirty="0" err="1">
                <a:solidFill>
                  <a:srgbClr val="454545"/>
                </a:solidFill>
              </a:rPr>
              <a:t>carro</a:t>
            </a:r>
            <a:r>
              <a:rPr lang="en-US" sz="3200" b="1" i="1" dirty="0">
                <a:solidFill>
                  <a:srgbClr val="454545"/>
                </a:solidFill>
              </a:rPr>
              <a:t>, se </a:t>
            </a:r>
            <a:r>
              <a:rPr lang="en-US" sz="3200" b="1" i="1" dirty="0" err="1">
                <a:solidFill>
                  <a:srgbClr val="454545"/>
                </a:solidFill>
              </a:rPr>
              <a:t>eu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receber</a:t>
            </a:r>
            <a:r>
              <a:rPr lang="en-US" sz="3200" b="1" i="1" dirty="0">
                <a:solidFill>
                  <a:srgbClr val="454545"/>
                </a:solidFill>
              </a:rPr>
              <a:t> 2000 de </a:t>
            </a:r>
            <a:r>
              <a:rPr lang="en-US" sz="3200" b="1" i="1" dirty="0" err="1">
                <a:solidFill>
                  <a:srgbClr val="454545"/>
                </a:solidFill>
              </a:rPr>
              <a:t>salário</a:t>
            </a:r>
            <a:r>
              <a:rPr lang="en-US" sz="3200" b="1" i="1" dirty="0">
                <a:solidFill>
                  <a:srgbClr val="454545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04948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4EB39F-9BCF-DB4B-F2F1-18472F68F030}"/>
              </a:ext>
            </a:extLst>
          </p:cNvPr>
          <p:cNvSpPr txBox="1"/>
          <p:nvPr/>
        </p:nvSpPr>
        <p:spPr>
          <a:xfrm>
            <a:off x="715017" y="1142052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1.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5264322" y="2255580"/>
            <a:ext cx="67480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600" b="1" dirty="0">
                <a:solidFill>
                  <a:srgbClr val="454545"/>
                </a:solidFill>
              </a:rPr>
              <a:t>GOING TO</a:t>
            </a:r>
            <a:endParaRPr lang="pt-BR" sz="9600" dirty="0">
              <a:solidFill>
                <a:srgbClr val="454545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BDDC426-5187-DA1C-057D-D416AEDE79DF}"/>
              </a:ext>
            </a:extLst>
          </p:cNvPr>
          <p:cNvSpPr txBox="1"/>
          <p:nvPr/>
        </p:nvSpPr>
        <p:spPr>
          <a:xfrm>
            <a:off x="3175995" y="4317610"/>
            <a:ext cx="58400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454545"/>
                </a:solidFill>
              </a:rPr>
              <a:t>Verbo auxiliar – Decisão tomada,  mas não depende de você ou não está totalmente planejada.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4EE10E-2A25-C521-8106-670CA98D6E8A}"/>
              </a:ext>
            </a:extLst>
          </p:cNvPr>
          <p:cNvSpPr txBox="1"/>
          <p:nvPr/>
        </p:nvSpPr>
        <p:spPr>
          <a:xfrm>
            <a:off x="2835437" y="1158708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5:</a:t>
            </a:r>
          </a:p>
        </p:txBody>
      </p:sp>
      <p:pic>
        <p:nvPicPr>
          <p:cNvPr id="9" name="Imagem 8" descr="Homem sentado em frente a computador&#10;&#10;Descrição gerada automaticamente">
            <a:extLst>
              <a:ext uri="{FF2B5EF4-FFF2-40B4-BE49-F238E27FC236}">
                <a16:creationId xmlns:a16="http://schemas.microsoft.com/office/drawing/2014/main" id="{E3B494CD-D7CC-BBEC-54C8-41B09D80EF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07" b="27286"/>
          <a:stretch/>
        </p:blipFill>
        <p:spPr>
          <a:xfrm>
            <a:off x="3785340" y="7192812"/>
            <a:ext cx="5105711" cy="4238765"/>
          </a:xfrm>
          <a:prstGeom prst="roundRect">
            <a:avLst>
              <a:gd name="adj" fmla="val 2206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m 9" descr="Pessoa em ponte&#10;&#10;Descrição gerada automaticamente com confiança média">
            <a:extLst>
              <a:ext uri="{FF2B5EF4-FFF2-40B4-BE49-F238E27FC236}">
                <a16:creationId xmlns:a16="http://schemas.microsoft.com/office/drawing/2014/main" id="{CA72D43F-5FA6-6DE4-6FC3-416169958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82333">
            <a:off x="13857264" y="5170568"/>
            <a:ext cx="2112944" cy="3756345"/>
          </a:xfrm>
          <a:prstGeom prst="roundRect">
            <a:avLst>
              <a:gd name="adj" fmla="val 2123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Imagem 12" descr="Mão de uma pessoa&#10;&#10;Descrição gerada automaticamente com confiança média">
            <a:extLst>
              <a:ext uri="{FF2B5EF4-FFF2-40B4-BE49-F238E27FC236}">
                <a16:creationId xmlns:a16="http://schemas.microsoft.com/office/drawing/2014/main" id="{FE5EDB14-6B1F-9835-DA5C-590EDB815F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92042">
            <a:off x="-5116470" y="5241020"/>
            <a:ext cx="3182116" cy="2118077"/>
          </a:xfrm>
          <a:prstGeom prst="roundRect">
            <a:avLst>
              <a:gd name="adj" fmla="val 354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282CA4B-FAFF-3C9E-DA07-98D4A7F79694}"/>
              </a:ext>
            </a:extLst>
          </p:cNvPr>
          <p:cNvSpPr txBox="1"/>
          <p:nvPr/>
        </p:nvSpPr>
        <p:spPr>
          <a:xfrm>
            <a:off x="5196254" y="3623314"/>
            <a:ext cx="17994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1" dirty="0">
                <a:solidFill>
                  <a:srgbClr val="454545"/>
                </a:solidFill>
              </a:rPr>
              <a:t>Ou </a:t>
            </a:r>
            <a:r>
              <a:rPr lang="pt-BR" sz="2400" b="1" i="1" dirty="0" err="1">
                <a:solidFill>
                  <a:srgbClr val="454545"/>
                </a:solidFill>
              </a:rPr>
              <a:t>gonna</a:t>
            </a:r>
            <a:endParaRPr lang="pt-BR" sz="2400" i="1" dirty="0">
              <a:solidFill>
                <a:srgbClr val="45454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53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4EB39F-9BCF-DB4B-F2F1-18472F68F030}"/>
              </a:ext>
            </a:extLst>
          </p:cNvPr>
          <p:cNvSpPr txBox="1"/>
          <p:nvPr/>
        </p:nvSpPr>
        <p:spPr>
          <a:xfrm>
            <a:off x="1668891" y="-2961877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1.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433744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afirmativo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4EE10E-2A25-C521-8106-670CA98D6E8A}"/>
              </a:ext>
            </a:extLst>
          </p:cNvPr>
          <p:cNvSpPr txBox="1"/>
          <p:nvPr/>
        </p:nvSpPr>
        <p:spPr>
          <a:xfrm>
            <a:off x="3789311" y="-2945221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5: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E0BE01-FD43-2ECF-C428-D0AE4763718C}"/>
              </a:ext>
            </a:extLst>
          </p:cNvPr>
          <p:cNvSpPr txBox="1"/>
          <p:nvPr/>
        </p:nvSpPr>
        <p:spPr>
          <a:xfrm>
            <a:off x="433744" y="1614705"/>
            <a:ext cx="8664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Sujeito + verbo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be</a:t>
            </a:r>
            <a:r>
              <a:rPr lang="pt-BR" sz="2800" dirty="0">
                <a:solidFill>
                  <a:srgbClr val="454545"/>
                </a:solidFill>
              </a:rPr>
              <a:t> + </a:t>
            </a:r>
            <a:r>
              <a:rPr lang="pt-BR" sz="2800" dirty="0" err="1">
                <a:solidFill>
                  <a:srgbClr val="454545"/>
                </a:solidFill>
              </a:rPr>
              <a:t>going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+ verbo principal + </a:t>
            </a:r>
            <a:r>
              <a:rPr lang="pt-BR" sz="2800" dirty="0" err="1">
                <a:solidFill>
                  <a:srgbClr val="454545"/>
                </a:solidFill>
              </a:rPr>
              <a:t>ing</a:t>
            </a:r>
            <a:r>
              <a:rPr lang="pt-BR" sz="2800" dirty="0">
                <a:solidFill>
                  <a:srgbClr val="454545"/>
                </a:solidFill>
              </a:rPr>
              <a:t> + complemento.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45BB10D-4BDA-E0AD-9659-ACB4E55882EE}"/>
              </a:ext>
            </a:extLst>
          </p:cNvPr>
          <p:cNvSpPr txBox="1"/>
          <p:nvPr/>
        </p:nvSpPr>
        <p:spPr>
          <a:xfrm>
            <a:off x="388114" y="2695103"/>
            <a:ext cx="892352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54545"/>
                </a:solidFill>
              </a:rPr>
              <a:t> I’m </a:t>
            </a:r>
            <a:r>
              <a:rPr lang="en-US" sz="4000" b="1" dirty="0" err="1">
                <a:solidFill>
                  <a:srgbClr val="454545"/>
                </a:solidFill>
              </a:rPr>
              <a:t>gonna</a:t>
            </a:r>
            <a:r>
              <a:rPr lang="en-US" sz="4000" b="1" dirty="0">
                <a:solidFill>
                  <a:srgbClr val="454545"/>
                </a:solidFill>
              </a:rPr>
              <a:t> travel next year.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viajar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ano</a:t>
            </a:r>
            <a:r>
              <a:rPr lang="en-US" sz="3200" b="1" i="1" dirty="0">
                <a:solidFill>
                  <a:srgbClr val="454545"/>
                </a:solidFill>
              </a:rPr>
              <a:t> que </a:t>
            </a:r>
            <a:r>
              <a:rPr lang="en-US" sz="3200" b="1" i="1" dirty="0" err="1">
                <a:solidFill>
                  <a:srgbClr val="454545"/>
                </a:solidFill>
              </a:rPr>
              <a:t>vem</a:t>
            </a:r>
            <a:r>
              <a:rPr lang="en-US" sz="3200" b="1" i="1" dirty="0">
                <a:solidFill>
                  <a:srgbClr val="454545"/>
                </a:solidFill>
              </a:rPr>
              <a:t>.</a:t>
            </a:r>
            <a:r>
              <a:rPr lang="en-US" sz="4000" b="1" i="1" dirty="0">
                <a:solidFill>
                  <a:srgbClr val="454545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54545"/>
                </a:solidFill>
              </a:rPr>
              <a:t> I'm going to start work on </a:t>
            </a:r>
            <a:r>
              <a:rPr lang="en-US" sz="4000" b="1" dirty="0" err="1">
                <a:solidFill>
                  <a:srgbClr val="454545"/>
                </a:solidFill>
              </a:rPr>
              <a:t>saturday</a:t>
            </a:r>
            <a:r>
              <a:rPr lang="en-US" sz="4000" b="1" dirty="0">
                <a:solidFill>
                  <a:srgbClr val="454545"/>
                </a:solidFill>
              </a:rPr>
              <a:t>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começar</a:t>
            </a:r>
            <a:r>
              <a:rPr lang="en-US" sz="3600" b="1" i="1" dirty="0">
                <a:solidFill>
                  <a:srgbClr val="454545"/>
                </a:solidFill>
              </a:rPr>
              <a:t> a </a:t>
            </a:r>
            <a:r>
              <a:rPr lang="en-US" sz="3600" b="1" i="1" dirty="0" err="1">
                <a:solidFill>
                  <a:srgbClr val="454545"/>
                </a:solidFill>
              </a:rPr>
              <a:t>trabalhar</a:t>
            </a:r>
            <a:r>
              <a:rPr lang="en-US" sz="3600" b="1" i="1" dirty="0">
                <a:solidFill>
                  <a:srgbClr val="454545"/>
                </a:solidFill>
              </a:rPr>
              <a:t> no </a:t>
            </a:r>
            <a:r>
              <a:rPr lang="en-US" sz="3600" b="1" i="1" dirty="0" err="1">
                <a:solidFill>
                  <a:srgbClr val="454545"/>
                </a:solidFill>
              </a:rPr>
              <a:t>sábado</a:t>
            </a:r>
            <a:r>
              <a:rPr lang="en-US" sz="3600" b="1" i="1" dirty="0">
                <a:solidFill>
                  <a:srgbClr val="454545"/>
                </a:solidFill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112C80-8A20-6F8C-21D1-D3982A977714}"/>
              </a:ext>
            </a:extLst>
          </p:cNvPr>
          <p:cNvSpPr txBox="1"/>
          <p:nvPr/>
        </p:nvSpPr>
        <p:spPr>
          <a:xfrm>
            <a:off x="-10310456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Negativo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804729F-5F74-830F-9264-CDC4396A440E}"/>
              </a:ext>
            </a:extLst>
          </p:cNvPr>
          <p:cNvSpPr txBox="1"/>
          <p:nvPr/>
        </p:nvSpPr>
        <p:spPr>
          <a:xfrm>
            <a:off x="-10310456" y="1614705"/>
            <a:ext cx="9243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454545"/>
                </a:solidFill>
              </a:rPr>
              <a:t>Sujeito</a:t>
            </a:r>
            <a:r>
              <a:rPr lang="en-US" sz="2800" dirty="0">
                <a:solidFill>
                  <a:srgbClr val="454545"/>
                </a:solidFill>
              </a:rPr>
              <a:t> + verbo to be + not + going to + verbo principal + </a:t>
            </a:r>
            <a:r>
              <a:rPr lang="en-US" sz="2800" dirty="0" err="1">
                <a:solidFill>
                  <a:srgbClr val="454545"/>
                </a:solidFill>
              </a:rPr>
              <a:t>ing</a:t>
            </a:r>
            <a:r>
              <a:rPr lang="en-US" sz="2800" dirty="0">
                <a:solidFill>
                  <a:srgbClr val="454545"/>
                </a:solidFill>
              </a:rPr>
              <a:t> + </a:t>
            </a:r>
            <a:r>
              <a:rPr lang="en-US" sz="2800" dirty="0" err="1">
                <a:solidFill>
                  <a:srgbClr val="454545"/>
                </a:solidFill>
              </a:rPr>
              <a:t>complemento</a:t>
            </a:r>
            <a:r>
              <a:rPr lang="en-US" sz="2800" dirty="0">
                <a:solidFill>
                  <a:srgbClr val="454545"/>
                </a:solidFill>
              </a:rPr>
              <a:t>.</a:t>
            </a:r>
            <a:endParaRPr lang="pt-BR" sz="2800" dirty="0">
              <a:solidFill>
                <a:srgbClr val="454545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620599-1EA9-AAD4-BA64-C26FC6E2FBA8}"/>
              </a:ext>
            </a:extLst>
          </p:cNvPr>
          <p:cNvSpPr txBox="1"/>
          <p:nvPr/>
        </p:nvSpPr>
        <p:spPr>
          <a:xfrm>
            <a:off x="-10310456" y="3061255"/>
            <a:ext cx="114223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 am not going to travel next year.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não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viajar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ano</a:t>
            </a:r>
            <a:r>
              <a:rPr lang="en-US" sz="3600" b="1" i="1" dirty="0">
                <a:solidFill>
                  <a:srgbClr val="454545"/>
                </a:solidFill>
              </a:rPr>
              <a:t> que </a:t>
            </a:r>
            <a:r>
              <a:rPr lang="en-US" sz="3600" b="1" i="1" dirty="0" err="1">
                <a:solidFill>
                  <a:srgbClr val="454545"/>
                </a:solidFill>
              </a:rPr>
              <a:t>vem</a:t>
            </a:r>
            <a:r>
              <a:rPr lang="en-US" sz="3600" b="1" i="1" dirty="0">
                <a:solidFill>
                  <a:srgbClr val="454545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not going to start work on </a:t>
            </a:r>
            <a:r>
              <a:rPr lang="en-US" sz="3600" b="1" dirty="0" err="1">
                <a:solidFill>
                  <a:srgbClr val="454545"/>
                </a:solidFill>
              </a:rPr>
              <a:t>saturday</a:t>
            </a:r>
            <a:r>
              <a:rPr lang="en-US" sz="3600" b="1" dirty="0">
                <a:solidFill>
                  <a:srgbClr val="454545"/>
                </a:solidFill>
              </a:rPr>
              <a:t>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não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começar</a:t>
            </a:r>
            <a:r>
              <a:rPr lang="en-US" sz="3600" b="1" i="1" dirty="0">
                <a:solidFill>
                  <a:srgbClr val="454545"/>
                </a:solidFill>
              </a:rPr>
              <a:t> a </a:t>
            </a:r>
            <a:r>
              <a:rPr lang="en-US" sz="3600" b="1" i="1" dirty="0" err="1">
                <a:solidFill>
                  <a:srgbClr val="454545"/>
                </a:solidFill>
              </a:rPr>
              <a:t>trabalhar</a:t>
            </a:r>
            <a:r>
              <a:rPr lang="en-US" sz="3600" b="1" i="1" dirty="0">
                <a:solidFill>
                  <a:srgbClr val="454545"/>
                </a:solidFill>
              </a:rPr>
              <a:t> no </a:t>
            </a:r>
            <a:r>
              <a:rPr lang="en-US" sz="3600" b="1" i="1" dirty="0" err="1">
                <a:solidFill>
                  <a:srgbClr val="454545"/>
                </a:solidFill>
              </a:rPr>
              <a:t>sábado</a:t>
            </a:r>
            <a:r>
              <a:rPr lang="en-US" sz="3600" b="1" i="1" dirty="0">
                <a:solidFill>
                  <a:srgbClr val="454545"/>
                </a:solidFill>
              </a:rPr>
              <a:t>.</a:t>
            </a:r>
          </a:p>
        </p:txBody>
      </p:sp>
      <p:pic>
        <p:nvPicPr>
          <p:cNvPr id="15" name="Imagem 14" descr="Pessoa em ponte&#10;&#10;Descrição gerada automaticamente com confiança média">
            <a:extLst>
              <a:ext uri="{FF2B5EF4-FFF2-40B4-BE49-F238E27FC236}">
                <a16:creationId xmlns:a16="http://schemas.microsoft.com/office/drawing/2014/main" id="{27F32259-5027-5D87-DDFA-A603A5DFB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45051">
            <a:off x="7931757" y="4112606"/>
            <a:ext cx="2112944" cy="3756345"/>
          </a:xfrm>
          <a:prstGeom prst="roundRect">
            <a:avLst>
              <a:gd name="adj" fmla="val 2123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m 18" descr="Mão de uma pessoa&#10;&#10;Descrição gerada automaticamente com confiança média">
            <a:extLst>
              <a:ext uri="{FF2B5EF4-FFF2-40B4-BE49-F238E27FC236}">
                <a16:creationId xmlns:a16="http://schemas.microsoft.com/office/drawing/2014/main" id="{E7FE8F1B-C86A-1A88-B73F-D0D120297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896" y="5711609"/>
            <a:ext cx="3182116" cy="2118077"/>
          </a:xfrm>
          <a:prstGeom prst="roundRect">
            <a:avLst>
              <a:gd name="adj" fmla="val 354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Imagem 21" descr="Mulher sentada em cadeira em frente a janela&#10;&#10;Descrição gerada automaticamente">
            <a:extLst>
              <a:ext uri="{FF2B5EF4-FFF2-40B4-BE49-F238E27FC236}">
                <a16:creationId xmlns:a16="http://schemas.microsoft.com/office/drawing/2014/main" id="{B2A52EF5-4345-6E93-4328-9BE30B8AF5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00061">
            <a:off x="-4010973" y="5536083"/>
            <a:ext cx="2439146" cy="3658719"/>
          </a:xfrm>
          <a:prstGeom prst="roundRect">
            <a:avLst>
              <a:gd name="adj" fmla="val 248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0535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4EB39F-9BCF-DB4B-F2F1-18472F68F030}"/>
              </a:ext>
            </a:extLst>
          </p:cNvPr>
          <p:cNvSpPr txBox="1"/>
          <p:nvPr/>
        </p:nvSpPr>
        <p:spPr>
          <a:xfrm>
            <a:off x="1668891" y="-2961877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1.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433744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Negativo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4EE10E-2A25-C521-8106-670CA98D6E8A}"/>
              </a:ext>
            </a:extLst>
          </p:cNvPr>
          <p:cNvSpPr txBox="1"/>
          <p:nvPr/>
        </p:nvSpPr>
        <p:spPr>
          <a:xfrm>
            <a:off x="3789311" y="-2945221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5: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E0BE01-FD43-2ECF-C428-D0AE4763718C}"/>
              </a:ext>
            </a:extLst>
          </p:cNvPr>
          <p:cNvSpPr txBox="1"/>
          <p:nvPr/>
        </p:nvSpPr>
        <p:spPr>
          <a:xfrm>
            <a:off x="433744" y="1614705"/>
            <a:ext cx="9243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454545"/>
                </a:solidFill>
              </a:rPr>
              <a:t>Sujeito</a:t>
            </a:r>
            <a:r>
              <a:rPr lang="en-US" sz="2800" dirty="0">
                <a:solidFill>
                  <a:srgbClr val="454545"/>
                </a:solidFill>
              </a:rPr>
              <a:t> + verbo to be + not + going to + verbo principal + </a:t>
            </a:r>
            <a:r>
              <a:rPr lang="en-US" sz="2800" dirty="0" err="1">
                <a:solidFill>
                  <a:srgbClr val="454545"/>
                </a:solidFill>
              </a:rPr>
              <a:t>ing</a:t>
            </a:r>
            <a:r>
              <a:rPr lang="en-US" sz="2800" dirty="0">
                <a:solidFill>
                  <a:srgbClr val="454545"/>
                </a:solidFill>
              </a:rPr>
              <a:t> + </a:t>
            </a:r>
            <a:r>
              <a:rPr lang="en-US" sz="2800" dirty="0" err="1">
                <a:solidFill>
                  <a:srgbClr val="454545"/>
                </a:solidFill>
              </a:rPr>
              <a:t>complemento</a:t>
            </a:r>
            <a:r>
              <a:rPr lang="en-US" sz="2800" dirty="0">
                <a:solidFill>
                  <a:srgbClr val="454545"/>
                </a:solidFill>
              </a:rPr>
              <a:t>.</a:t>
            </a:r>
            <a:endParaRPr lang="pt-BR" sz="2800" dirty="0">
              <a:solidFill>
                <a:srgbClr val="454545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01EE21-6AE3-54BC-B0EE-03F63976A98F}"/>
              </a:ext>
            </a:extLst>
          </p:cNvPr>
          <p:cNvSpPr txBox="1"/>
          <p:nvPr/>
        </p:nvSpPr>
        <p:spPr>
          <a:xfrm>
            <a:off x="433744" y="3061255"/>
            <a:ext cx="114223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 am not going to travel next year.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não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viajar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ano</a:t>
            </a:r>
            <a:r>
              <a:rPr lang="en-US" sz="3600" b="1" i="1" dirty="0">
                <a:solidFill>
                  <a:srgbClr val="454545"/>
                </a:solidFill>
              </a:rPr>
              <a:t> que </a:t>
            </a:r>
            <a:r>
              <a:rPr lang="en-US" sz="3600" b="1" i="1" dirty="0" err="1">
                <a:solidFill>
                  <a:srgbClr val="454545"/>
                </a:solidFill>
              </a:rPr>
              <a:t>vem</a:t>
            </a:r>
            <a:r>
              <a:rPr lang="en-US" sz="3600" b="1" i="1" dirty="0">
                <a:solidFill>
                  <a:srgbClr val="454545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not going to start work on </a:t>
            </a:r>
            <a:r>
              <a:rPr lang="en-US" sz="3600" b="1" dirty="0" err="1">
                <a:solidFill>
                  <a:srgbClr val="454545"/>
                </a:solidFill>
              </a:rPr>
              <a:t>saturday</a:t>
            </a:r>
            <a:r>
              <a:rPr lang="en-US" sz="3600" b="1" dirty="0">
                <a:solidFill>
                  <a:srgbClr val="454545"/>
                </a:solidFill>
              </a:rPr>
              <a:t>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não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começar</a:t>
            </a:r>
            <a:r>
              <a:rPr lang="en-US" sz="3600" b="1" i="1" dirty="0">
                <a:solidFill>
                  <a:srgbClr val="454545"/>
                </a:solidFill>
              </a:rPr>
              <a:t> a </a:t>
            </a:r>
            <a:r>
              <a:rPr lang="en-US" sz="3600" b="1" i="1" dirty="0" err="1">
                <a:solidFill>
                  <a:srgbClr val="454545"/>
                </a:solidFill>
              </a:rPr>
              <a:t>trabalhar</a:t>
            </a:r>
            <a:r>
              <a:rPr lang="en-US" sz="3600" b="1" i="1" dirty="0">
                <a:solidFill>
                  <a:srgbClr val="454545"/>
                </a:solidFill>
              </a:rPr>
              <a:t> no </a:t>
            </a:r>
            <a:r>
              <a:rPr lang="en-US" sz="3600" b="1" i="1" dirty="0" err="1">
                <a:solidFill>
                  <a:srgbClr val="454545"/>
                </a:solidFill>
              </a:rPr>
              <a:t>sábado</a:t>
            </a:r>
            <a:r>
              <a:rPr lang="en-US" sz="3600" b="1" i="1" dirty="0">
                <a:solidFill>
                  <a:srgbClr val="454545"/>
                </a:solidFill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74B14ED-8B37-48B5-126A-480C2BAD90DA}"/>
              </a:ext>
            </a:extLst>
          </p:cNvPr>
          <p:cNvSpPr txBox="1"/>
          <p:nvPr/>
        </p:nvSpPr>
        <p:spPr>
          <a:xfrm>
            <a:off x="12320944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afirmativo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5C32D2D-D8D6-752C-22E2-55DE7717B992}"/>
              </a:ext>
            </a:extLst>
          </p:cNvPr>
          <p:cNvSpPr txBox="1"/>
          <p:nvPr/>
        </p:nvSpPr>
        <p:spPr>
          <a:xfrm>
            <a:off x="12320944" y="1614705"/>
            <a:ext cx="8664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Sujeito + verbo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be</a:t>
            </a:r>
            <a:r>
              <a:rPr lang="pt-BR" sz="2800" dirty="0">
                <a:solidFill>
                  <a:srgbClr val="454545"/>
                </a:solidFill>
              </a:rPr>
              <a:t> + </a:t>
            </a:r>
            <a:r>
              <a:rPr lang="pt-BR" sz="2800" dirty="0" err="1">
                <a:solidFill>
                  <a:srgbClr val="454545"/>
                </a:solidFill>
              </a:rPr>
              <a:t>going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+ verbo principal + </a:t>
            </a:r>
            <a:r>
              <a:rPr lang="pt-BR" sz="2800" dirty="0" err="1">
                <a:solidFill>
                  <a:srgbClr val="454545"/>
                </a:solidFill>
              </a:rPr>
              <a:t>ing</a:t>
            </a:r>
            <a:r>
              <a:rPr lang="pt-BR" sz="2800" dirty="0">
                <a:solidFill>
                  <a:srgbClr val="454545"/>
                </a:solidFill>
              </a:rPr>
              <a:t> + complemento.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02071F7-B8FF-E4A3-A6C4-1C3E07252A9C}"/>
              </a:ext>
            </a:extLst>
          </p:cNvPr>
          <p:cNvSpPr txBox="1"/>
          <p:nvPr/>
        </p:nvSpPr>
        <p:spPr>
          <a:xfrm>
            <a:off x="12275314" y="2695103"/>
            <a:ext cx="892352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54545"/>
                </a:solidFill>
              </a:rPr>
              <a:t> I'm going to travel next year.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viajar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ano</a:t>
            </a:r>
            <a:r>
              <a:rPr lang="en-US" sz="3200" b="1" i="1" dirty="0">
                <a:solidFill>
                  <a:srgbClr val="454545"/>
                </a:solidFill>
              </a:rPr>
              <a:t> que </a:t>
            </a:r>
            <a:r>
              <a:rPr lang="en-US" sz="3200" b="1" i="1" dirty="0" err="1">
                <a:solidFill>
                  <a:srgbClr val="454545"/>
                </a:solidFill>
              </a:rPr>
              <a:t>vem</a:t>
            </a:r>
            <a:r>
              <a:rPr lang="en-US" sz="3200" b="1" i="1" dirty="0">
                <a:solidFill>
                  <a:srgbClr val="454545"/>
                </a:solidFill>
              </a:rPr>
              <a:t>.</a:t>
            </a:r>
            <a:r>
              <a:rPr lang="en-US" sz="4000" b="1" i="1" dirty="0">
                <a:solidFill>
                  <a:srgbClr val="454545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54545"/>
                </a:solidFill>
              </a:rPr>
              <a:t> I'm going to start work on </a:t>
            </a:r>
            <a:r>
              <a:rPr lang="en-US" sz="4000" b="1" dirty="0" err="1">
                <a:solidFill>
                  <a:srgbClr val="454545"/>
                </a:solidFill>
              </a:rPr>
              <a:t>saturday</a:t>
            </a:r>
            <a:r>
              <a:rPr lang="en-US" sz="4000" b="1" dirty="0">
                <a:solidFill>
                  <a:srgbClr val="454545"/>
                </a:solidFill>
              </a:rPr>
              <a:t>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começar</a:t>
            </a:r>
            <a:r>
              <a:rPr lang="en-US" sz="3600" b="1" i="1" dirty="0">
                <a:solidFill>
                  <a:srgbClr val="454545"/>
                </a:solidFill>
              </a:rPr>
              <a:t> a </a:t>
            </a:r>
            <a:r>
              <a:rPr lang="en-US" sz="3600" b="1" i="1" dirty="0" err="1">
                <a:solidFill>
                  <a:srgbClr val="454545"/>
                </a:solidFill>
              </a:rPr>
              <a:t>trabalhar</a:t>
            </a:r>
            <a:r>
              <a:rPr lang="en-US" sz="3600" b="1" i="1" dirty="0">
                <a:solidFill>
                  <a:srgbClr val="454545"/>
                </a:solidFill>
              </a:rPr>
              <a:t> no </a:t>
            </a:r>
            <a:r>
              <a:rPr lang="en-US" sz="3600" b="1" i="1" dirty="0" err="1">
                <a:solidFill>
                  <a:srgbClr val="454545"/>
                </a:solidFill>
              </a:rPr>
              <a:t>sábado</a:t>
            </a:r>
            <a:r>
              <a:rPr lang="en-US" sz="3600" b="1" i="1" dirty="0">
                <a:solidFill>
                  <a:srgbClr val="454545"/>
                </a:solidFill>
              </a:rPr>
              <a:t>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8E805ED-E236-1EE0-135A-64027ADBE067}"/>
              </a:ext>
            </a:extLst>
          </p:cNvPr>
          <p:cNvSpPr txBox="1"/>
          <p:nvPr/>
        </p:nvSpPr>
        <p:spPr>
          <a:xfrm>
            <a:off x="-11422976" y="276867"/>
            <a:ext cx="111334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0" b="1" dirty="0">
                <a:solidFill>
                  <a:srgbClr val="454545"/>
                </a:solidFill>
              </a:rPr>
              <a:t>Exemplos: Interrogativo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203650A-25DF-1FBF-2BEF-1ED5B6AC4003}"/>
              </a:ext>
            </a:extLst>
          </p:cNvPr>
          <p:cNvSpPr txBox="1"/>
          <p:nvPr/>
        </p:nvSpPr>
        <p:spPr>
          <a:xfrm>
            <a:off x="-11422976" y="1614705"/>
            <a:ext cx="10447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Verbo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be</a:t>
            </a:r>
            <a:r>
              <a:rPr lang="pt-BR" sz="2800" dirty="0">
                <a:solidFill>
                  <a:srgbClr val="454545"/>
                </a:solidFill>
              </a:rPr>
              <a:t> + Sujeito + </a:t>
            </a:r>
            <a:r>
              <a:rPr lang="pt-BR" sz="2800" dirty="0" err="1">
                <a:solidFill>
                  <a:srgbClr val="454545"/>
                </a:solidFill>
              </a:rPr>
              <a:t>going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+ verbo principal + </a:t>
            </a:r>
            <a:r>
              <a:rPr lang="pt-BR" sz="2800" dirty="0" err="1">
                <a:solidFill>
                  <a:srgbClr val="454545"/>
                </a:solidFill>
              </a:rPr>
              <a:t>ing</a:t>
            </a:r>
            <a:r>
              <a:rPr lang="pt-BR" sz="2800" dirty="0">
                <a:solidFill>
                  <a:srgbClr val="454545"/>
                </a:solidFill>
              </a:rPr>
              <a:t> + complemento.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E218C56-A319-0B74-6267-CD8028BDEC93}"/>
              </a:ext>
            </a:extLst>
          </p:cNvPr>
          <p:cNvSpPr txBox="1"/>
          <p:nvPr/>
        </p:nvSpPr>
        <p:spPr>
          <a:xfrm>
            <a:off x="-11422976" y="2599445"/>
            <a:ext cx="1142238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54545"/>
                </a:solidFill>
              </a:rPr>
              <a:t>Are you going to travel next year?</a:t>
            </a:r>
          </a:p>
          <a:p>
            <a:r>
              <a:rPr lang="en-US" sz="3200" b="1" i="1" dirty="0" err="1">
                <a:solidFill>
                  <a:srgbClr val="454545"/>
                </a:solidFill>
              </a:rPr>
              <a:t>Você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vai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viajar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ano</a:t>
            </a:r>
            <a:r>
              <a:rPr lang="en-US" sz="3200" b="1" i="1" dirty="0">
                <a:solidFill>
                  <a:srgbClr val="454545"/>
                </a:solidFill>
              </a:rPr>
              <a:t> que </a:t>
            </a:r>
            <a:r>
              <a:rPr lang="en-US" sz="3200" b="1" i="1" dirty="0" err="1">
                <a:solidFill>
                  <a:srgbClr val="454545"/>
                </a:solidFill>
              </a:rPr>
              <a:t>vem</a:t>
            </a:r>
            <a:r>
              <a:rPr lang="en-US" sz="3200" b="1" i="1" dirty="0">
                <a:solidFill>
                  <a:srgbClr val="454545"/>
                </a:solidFill>
              </a:rPr>
              <a:t>?</a:t>
            </a:r>
            <a:endParaRPr lang="en-US" sz="2800" b="1" i="1" dirty="0">
              <a:solidFill>
                <a:srgbClr val="45454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54545"/>
                </a:solidFill>
              </a:rPr>
              <a:t>Are you going to work on </a:t>
            </a:r>
            <a:r>
              <a:rPr lang="en-US" sz="4000" b="1" dirty="0" err="1">
                <a:solidFill>
                  <a:srgbClr val="454545"/>
                </a:solidFill>
              </a:rPr>
              <a:t>saturday</a:t>
            </a:r>
            <a:r>
              <a:rPr lang="en-US" sz="4000" b="1" dirty="0">
                <a:solidFill>
                  <a:srgbClr val="454545"/>
                </a:solidFill>
              </a:rPr>
              <a:t>?</a:t>
            </a:r>
          </a:p>
          <a:p>
            <a:r>
              <a:rPr lang="en-US" sz="4000" b="1" i="1" dirty="0" err="1">
                <a:solidFill>
                  <a:srgbClr val="454545"/>
                </a:solidFill>
              </a:rPr>
              <a:t>Você</a:t>
            </a:r>
            <a:r>
              <a:rPr lang="en-US" sz="4000" b="1" i="1" dirty="0">
                <a:solidFill>
                  <a:srgbClr val="454545"/>
                </a:solidFill>
              </a:rPr>
              <a:t> </a:t>
            </a:r>
            <a:r>
              <a:rPr lang="en-US" sz="4000" b="1" i="1" dirty="0" err="1">
                <a:solidFill>
                  <a:srgbClr val="454545"/>
                </a:solidFill>
              </a:rPr>
              <a:t>vai</a:t>
            </a:r>
            <a:r>
              <a:rPr lang="en-US" sz="4000" b="1" i="1" dirty="0">
                <a:solidFill>
                  <a:srgbClr val="454545"/>
                </a:solidFill>
              </a:rPr>
              <a:t> </a:t>
            </a:r>
            <a:r>
              <a:rPr lang="en-US" sz="4000" b="1" i="1" dirty="0" err="1">
                <a:solidFill>
                  <a:srgbClr val="454545"/>
                </a:solidFill>
              </a:rPr>
              <a:t>vai</a:t>
            </a:r>
            <a:r>
              <a:rPr lang="en-US" sz="4000" b="1" i="1" dirty="0">
                <a:solidFill>
                  <a:srgbClr val="454545"/>
                </a:solidFill>
              </a:rPr>
              <a:t> </a:t>
            </a:r>
            <a:r>
              <a:rPr lang="en-US" sz="4000" b="1" i="1" dirty="0" err="1">
                <a:solidFill>
                  <a:srgbClr val="454545"/>
                </a:solidFill>
              </a:rPr>
              <a:t>trabalahar</a:t>
            </a:r>
            <a:r>
              <a:rPr lang="en-US" sz="4000" b="1" i="1" dirty="0">
                <a:solidFill>
                  <a:srgbClr val="454545"/>
                </a:solidFill>
              </a:rPr>
              <a:t> no </a:t>
            </a:r>
            <a:r>
              <a:rPr lang="en-US" sz="4000" b="1" i="1" dirty="0" err="1">
                <a:solidFill>
                  <a:srgbClr val="454545"/>
                </a:solidFill>
              </a:rPr>
              <a:t>sábado</a:t>
            </a:r>
            <a:r>
              <a:rPr lang="en-US" sz="4000" b="1" i="1" dirty="0">
                <a:solidFill>
                  <a:srgbClr val="454545"/>
                </a:solidFill>
              </a:rPr>
              <a:t>?</a:t>
            </a:r>
          </a:p>
        </p:txBody>
      </p:sp>
      <p:pic>
        <p:nvPicPr>
          <p:cNvPr id="29" name="Imagem 28" descr="Pessoa em ponte&#10;&#10;Descrição gerada automaticamente com confiança média">
            <a:extLst>
              <a:ext uri="{FF2B5EF4-FFF2-40B4-BE49-F238E27FC236}">
                <a16:creationId xmlns:a16="http://schemas.microsoft.com/office/drawing/2014/main" id="{0DC55690-849D-BD36-9270-D16DE8DC5D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668">
            <a:off x="14879719" y="6341911"/>
            <a:ext cx="2112944" cy="3756345"/>
          </a:xfrm>
          <a:prstGeom prst="roundRect">
            <a:avLst>
              <a:gd name="adj" fmla="val 2123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Imagem 29" descr="Mão de uma pessoa&#10;&#10;Descrição gerada automaticamente com confiança média">
            <a:extLst>
              <a:ext uri="{FF2B5EF4-FFF2-40B4-BE49-F238E27FC236}">
                <a16:creationId xmlns:a16="http://schemas.microsoft.com/office/drawing/2014/main" id="{8F9B5EE2-A265-69FE-AAB7-E742F96112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13499" y="6882290"/>
            <a:ext cx="3182116" cy="2118077"/>
          </a:xfrm>
          <a:prstGeom prst="roundRect">
            <a:avLst>
              <a:gd name="adj" fmla="val 354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Imagem 30" descr="Mulher sentada em cadeira em frente a janela&#10;&#10;Descrição gerada automaticamente">
            <a:extLst>
              <a:ext uri="{FF2B5EF4-FFF2-40B4-BE49-F238E27FC236}">
                <a16:creationId xmlns:a16="http://schemas.microsoft.com/office/drawing/2014/main" id="{D3FCB41F-F735-7893-3013-52632486EC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00061">
            <a:off x="-1210457" y="4424126"/>
            <a:ext cx="2439146" cy="3658719"/>
          </a:xfrm>
          <a:prstGeom prst="roundRect">
            <a:avLst>
              <a:gd name="adj" fmla="val 248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Imagem 32" descr="Vaso de vidro&#10;&#10;Descrição gerada automaticamente com confiança média">
            <a:extLst>
              <a:ext uri="{FF2B5EF4-FFF2-40B4-BE49-F238E27FC236}">
                <a16:creationId xmlns:a16="http://schemas.microsoft.com/office/drawing/2014/main" id="{C97E90A3-98EE-EAA3-1E73-56867F229B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9711" y="6077717"/>
            <a:ext cx="1970366" cy="2951350"/>
          </a:xfrm>
          <a:prstGeom prst="roundRect">
            <a:avLst>
              <a:gd name="adj" fmla="val 2208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1925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4EB39F-9BCF-DB4B-F2F1-18472F68F030}"/>
              </a:ext>
            </a:extLst>
          </p:cNvPr>
          <p:cNvSpPr txBox="1"/>
          <p:nvPr/>
        </p:nvSpPr>
        <p:spPr>
          <a:xfrm>
            <a:off x="1668891" y="-2961877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1.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433744" y="276867"/>
            <a:ext cx="111334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0" b="1" dirty="0">
                <a:solidFill>
                  <a:srgbClr val="454545"/>
                </a:solidFill>
              </a:rPr>
              <a:t>Exemplos: Interrogativo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4EE10E-2A25-C521-8106-670CA98D6E8A}"/>
              </a:ext>
            </a:extLst>
          </p:cNvPr>
          <p:cNvSpPr txBox="1"/>
          <p:nvPr/>
        </p:nvSpPr>
        <p:spPr>
          <a:xfrm>
            <a:off x="3789311" y="-2945221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5: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E0BE01-FD43-2ECF-C428-D0AE4763718C}"/>
              </a:ext>
            </a:extLst>
          </p:cNvPr>
          <p:cNvSpPr txBox="1"/>
          <p:nvPr/>
        </p:nvSpPr>
        <p:spPr>
          <a:xfrm>
            <a:off x="433744" y="1614705"/>
            <a:ext cx="10447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Verbo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be</a:t>
            </a:r>
            <a:r>
              <a:rPr lang="pt-BR" sz="2800" dirty="0">
                <a:solidFill>
                  <a:srgbClr val="454545"/>
                </a:solidFill>
              </a:rPr>
              <a:t> + Sujeito + </a:t>
            </a:r>
            <a:r>
              <a:rPr lang="pt-BR" sz="2800" dirty="0" err="1">
                <a:solidFill>
                  <a:srgbClr val="454545"/>
                </a:solidFill>
              </a:rPr>
              <a:t>going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+ verbo principal + </a:t>
            </a:r>
            <a:r>
              <a:rPr lang="pt-BR" sz="2800" dirty="0" err="1">
                <a:solidFill>
                  <a:srgbClr val="454545"/>
                </a:solidFill>
              </a:rPr>
              <a:t>ing</a:t>
            </a:r>
            <a:r>
              <a:rPr lang="pt-BR" sz="2800" dirty="0">
                <a:solidFill>
                  <a:srgbClr val="454545"/>
                </a:solidFill>
              </a:rPr>
              <a:t> + complemento.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01EE21-6AE3-54BC-B0EE-03F63976A98F}"/>
              </a:ext>
            </a:extLst>
          </p:cNvPr>
          <p:cNvSpPr txBox="1"/>
          <p:nvPr/>
        </p:nvSpPr>
        <p:spPr>
          <a:xfrm>
            <a:off x="433744" y="2599445"/>
            <a:ext cx="1142238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54545"/>
                </a:solidFill>
              </a:rPr>
              <a:t>Are you going to travel next year?</a:t>
            </a:r>
          </a:p>
          <a:p>
            <a:r>
              <a:rPr lang="en-US" sz="3200" b="1" i="1" dirty="0" err="1">
                <a:solidFill>
                  <a:srgbClr val="454545"/>
                </a:solidFill>
              </a:rPr>
              <a:t>Você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vai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viajar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ano</a:t>
            </a:r>
            <a:r>
              <a:rPr lang="en-US" sz="3200" b="1" i="1" dirty="0">
                <a:solidFill>
                  <a:srgbClr val="454545"/>
                </a:solidFill>
              </a:rPr>
              <a:t> que </a:t>
            </a:r>
            <a:r>
              <a:rPr lang="en-US" sz="3200" b="1" i="1" dirty="0" err="1">
                <a:solidFill>
                  <a:srgbClr val="454545"/>
                </a:solidFill>
              </a:rPr>
              <a:t>vem</a:t>
            </a:r>
            <a:r>
              <a:rPr lang="en-US" sz="3200" b="1" i="1" dirty="0">
                <a:solidFill>
                  <a:srgbClr val="454545"/>
                </a:solidFill>
              </a:rPr>
              <a:t>?</a:t>
            </a:r>
            <a:endParaRPr lang="en-US" sz="2800" b="1" i="1" dirty="0">
              <a:solidFill>
                <a:srgbClr val="45454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54545"/>
                </a:solidFill>
              </a:rPr>
              <a:t>Are you going to work on </a:t>
            </a:r>
            <a:r>
              <a:rPr lang="en-US" sz="4000" b="1" dirty="0" err="1">
                <a:solidFill>
                  <a:srgbClr val="454545"/>
                </a:solidFill>
              </a:rPr>
              <a:t>saturday</a:t>
            </a:r>
            <a:r>
              <a:rPr lang="en-US" sz="4000" b="1" dirty="0">
                <a:solidFill>
                  <a:srgbClr val="454545"/>
                </a:solidFill>
              </a:rPr>
              <a:t>?</a:t>
            </a:r>
          </a:p>
          <a:p>
            <a:r>
              <a:rPr lang="en-US" sz="3600" b="1" i="1" dirty="0" err="1">
                <a:solidFill>
                  <a:srgbClr val="454545"/>
                </a:solidFill>
              </a:rPr>
              <a:t>Você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vai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trabalhar</a:t>
            </a:r>
            <a:r>
              <a:rPr lang="en-US" sz="3600" b="1" i="1" dirty="0">
                <a:solidFill>
                  <a:srgbClr val="454545"/>
                </a:solidFill>
              </a:rPr>
              <a:t> no </a:t>
            </a:r>
            <a:r>
              <a:rPr lang="en-US" sz="3600" b="1" i="1" dirty="0" err="1">
                <a:solidFill>
                  <a:srgbClr val="454545"/>
                </a:solidFill>
              </a:rPr>
              <a:t>sábado</a:t>
            </a:r>
            <a:r>
              <a:rPr lang="en-US" sz="3600" b="1" i="1" dirty="0">
                <a:solidFill>
                  <a:srgbClr val="454545"/>
                </a:solidFill>
              </a:rPr>
              <a:t>?</a:t>
            </a:r>
            <a:endParaRPr lang="en-US" sz="4000" b="1" i="1" dirty="0">
              <a:solidFill>
                <a:srgbClr val="454545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131EF6E-92FC-6294-AF47-F9E036213D02}"/>
              </a:ext>
            </a:extLst>
          </p:cNvPr>
          <p:cNvSpPr txBox="1"/>
          <p:nvPr/>
        </p:nvSpPr>
        <p:spPr>
          <a:xfrm>
            <a:off x="12351424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Negativo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4076030-687F-0063-BA95-643E8BBFF84D}"/>
              </a:ext>
            </a:extLst>
          </p:cNvPr>
          <p:cNvSpPr txBox="1"/>
          <p:nvPr/>
        </p:nvSpPr>
        <p:spPr>
          <a:xfrm>
            <a:off x="12351424" y="1614705"/>
            <a:ext cx="9243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454545"/>
                </a:solidFill>
              </a:rPr>
              <a:t>Sujeito</a:t>
            </a:r>
            <a:r>
              <a:rPr lang="en-US" sz="2800" dirty="0">
                <a:solidFill>
                  <a:srgbClr val="454545"/>
                </a:solidFill>
              </a:rPr>
              <a:t> + verbo to be + not + going to + verbo principal + </a:t>
            </a:r>
            <a:r>
              <a:rPr lang="en-US" sz="2800" dirty="0" err="1">
                <a:solidFill>
                  <a:srgbClr val="454545"/>
                </a:solidFill>
              </a:rPr>
              <a:t>ing</a:t>
            </a:r>
            <a:r>
              <a:rPr lang="en-US" sz="2800" dirty="0">
                <a:solidFill>
                  <a:srgbClr val="454545"/>
                </a:solidFill>
              </a:rPr>
              <a:t> + </a:t>
            </a:r>
            <a:r>
              <a:rPr lang="en-US" sz="2800" dirty="0" err="1">
                <a:solidFill>
                  <a:srgbClr val="454545"/>
                </a:solidFill>
              </a:rPr>
              <a:t>complemento</a:t>
            </a:r>
            <a:r>
              <a:rPr lang="en-US" sz="2800" dirty="0">
                <a:solidFill>
                  <a:srgbClr val="454545"/>
                </a:solidFill>
              </a:rPr>
              <a:t>.</a:t>
            </a:r>
            <a:endParaRPr lang="pt-BR" sz="2800" dirty="0">
              <a:solidFill>
                <a:srgbClr val="454545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D6E1B68-2221-A702-7938-81ACEE591C03}"/>
              </a:ext>
            </a:extLst>
          </p:cNvPr>
          <p:cNvSpPr txBox="1"/>
          <p:nvPr/>
        </p:nvSpPr>
        <p:spPr>
          <a:xfrm>
            <a:off x="12351424" y="3061255"/>
            <a:ext cx="114223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 am not going to travel next year.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não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viajar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ano</a:t>
            </a:r>
            <a:r>
              <a:rPr lang="en-US" sz="3600" b="1" i="1" dirty="0">
                <a:solidFill>
                  <a:srgbClr val="454545"/>
                </a:solidFill>
              </a:rPr>
              <a:t> que </a:t>
            </a:r>
            <a:r>
              <a:rPr lang="en-US" sz="3600" b="1" i="1" dirty="0" err="1">
                <a:solidFill>
                  <a:srgbClr val="454545"/>
                </a:solidFill>
              </a:rPr>
              <a:t>vem</a:t>
            </a:r>
            <a:r>
              <a:rPr lang="en-US" sz="3600" b="1" i="1" dirty="0">
                <a:solidFill>
                  <a:srgbClr val="454545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not going to start work on </a:t>
            </a:r>
            <a:r>
              <a:rPr lang="en-US" sz="3600" b="1" dirty="0" err="1">
                <a:solidFill>
                  <a:srgbClr val="454545"/>
                </a:solidFill>
              </a:rPr>
              <a:t>saturday</a:t>
            </a:r>
            <a:r>
              <a:rPr lang="en-US" sz="3600" b="1" dirty="0">
                <a:solidFill>
                  <a:srgbClr val="454545"/>
                </a:solidFill>
              </a:rPr>
              <a:t>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não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começar</a:t>
            </a:r>
            <a:r>
              <a:rPr lang="en-US" sz="3600" b="1" i="1" dirty="0">
                <a:solidFill>
                  <a:srgbClr val="454545"/>
                </a:solidFill>
              </a:rPr>
              <a:t> a </a:t>
            </a:r>
            <a:r>
              <a:rPr lang="en-US" sz="3600" b="1" i="1" dirty="0" err="1">
                <a:solidFill>
                  <a:srgbClr val="454545"/>
                </a:solidFill>
              </a:rPr>
              <a:t>trabalhar</a:t>
            </a:r>
            <a:r>
              <a:rPr lang="en-US" sz="3600" b="1" i="1" dirty="0">
                <a:solidFill>
                  <a:srgbClr val="454545"/>
                </a:solidFill>
              </a:rPr>
              <a:t> no </a:t>
            </a:r>
            <a:r>
              <a:rPr lang="en-US" sz="3600" b="1" i="1" dirty="0" err="1">
                <a:solidFill>
                  <a:srgbClr val="454545"/>
                </a:solidFill>
              </a:rPr>
              <a:t>sábado</a:t>
            </a:r>
            <a:r>
              <a:rPr lang="en-US" sz="3600" b="1" i="1" dirty="0">
                <a:solidFill>
                  <a:srgbClr val="454545"/>
                </a:solidFill>
              </a:rPr>
              <a:t>.</a:t>
            </a:r>
          </a:p>
        </p:txBody>
      </p:sp>
      <p:pic>
        <p:nvPicPr>
          <p:cNvPr id="13" name="Imagem 12" descr="Vaso de vidro&#10;&#10;Descrição gerada automaticamente com confiança média">
            <a:extLst>
              <a:ext uri="{FF2B5EF4-FFF2-40B4-BE49-F238E27FC236}">
                <a16:creationId xmlns:a16="http://schemas.microsoft.com/office/drawing/2014/main" id="{1B36C2E1-F4D9-9511-E77C-B0DF8FA0C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8563">
            <a:off x="8015083" y="4113787"/>
            <a:ext cx="1970366" cy="2951350"/>
          </a:xfrm>
          <a:prstGeom prst="roundRect">
            <a:avLst>
              <a:gd name="adj" fmla="val 2208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5742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1118643" y="1997839"/>
            <a:ext cx="99547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6000" b="1" dirty="0" err="1">
                <a:solidFill>
                  <a:srgbClr val="454545"/>
                </a:solidFill>
              </a:rPr>
              <a:t>Going</a:t>
            </a:r>
            <a:r>
              <a:rPr lang="pt-BR" sz="6000" b="1" dirty="0">
                <a:solidFill>
                  <a:srgbClr val="454545"/>
                </a:solidFill>
              </a:rPr>
              <a:t> </a:t>
            </a:r>
            <a:r>
              <a:rPr lang="pt-BR" sz="6000" b="1" dirty="0" err="1">
                <a:solidFill>
                  <a:srgbClr val="454545"/>
                </a:solidFill>
              </a:rPr>
              <a:t>to</a:t>
            </a:r>
            <a:r>
              <a:rPr lang="pt-BR" sz="6000" b="1" dirty="0">
                <a:solidFill>
                  <a:srgbClr val="454545"/>
                </a:solidFill>
              </a:rPr>
              <a:t> como verbo auxiliar x como verbo principal </a:t>
            </a:r>
          </a:p>
        </p:txBody>
      </p:sp>
    </p:spTree>
    <p:extLst>
      <p:ext uri="{BB962C8B-B14F-4D97-AF65-F5344CB8AC3E}">
        <p14:creationId xmlns:p14="http://schemas.microsoft.com/office/powerpoint/2010/main" val="1255002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883920" y="409947"/>
            <a:ext cx="126735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0" b="1" dirty="0">
                <a:solidFill>
                  <a:srgbClr val="454545"/>
                </a:solidFill>
              </a:rPr>
              <a:t>Exemplo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A773FB-4EDB-9C34-C89B-635A5549FC16}"/>
              </a:ext>
            </a:extLst>
          </p:cNvPr>
          <p:cNvSpPr txBox="1"/>
          <p:nvPr/>
        </p:nvSpPr>
        <p:spPr>
          <a:xfrm>
            <a:off x="883920" y="2274838"/>
            <a:ext cx="10424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I’m going to the market. - Verbo principal.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estou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indo</a:t>
            </a:r>
            <a:r>
              <a:rPr lang="en-US" sz="3600" b="1" i="1" dirty="0">
                <a:solidFill>
                  <a:srgbClr val="454545"/>
                </a:solidFill>
              </a:rPr>
              <a:t> para o mercado.</a:t>
            </a:r>
            <a:r>
              <a:rPr lang="en-US" sz="3600" b="1" dirty="0">
                <a:solidFill>
                  <a:srgbClr val="454545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I’m going to shop at the market. - Verbo auxiliar.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comprar</a:t>
            </a:r>
            <a:r>
              <a:rPr lang="en-US" sz="3600" b="1" i="1" dirty="0">
                <a:solidFill>
                  <a:srgbClr val="454545"/>
                </a:solidFill>
              </a:rPr>
              <a:t> no mercado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82C72C9-B865-1DD8-347D-08708D9CB7BA}"/>
              </a:ext>
            </a:extLst>
          </p:cNvPr>
          <p:cNvSpPr txBox="1"/>
          <p:nvPr/>
        </p:nvSpPr>
        <p:spPr>
          <a:xfrm>
            <a:off x="1225323" y="-3286936"/>
            <a:ext cx="99547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6000" b="1" dirty="0" err="1">
                <a:solidFill>
                  <a:srgbClr val="454545"/>
                </a:solidFill>
              </a:rPr>
              <a:t>Going</a:t>
            </a:r>
            <a:r>
              <a:rPr lang="pt-BR" sz="6000" b="1" dirty="0">
                <a:solidFill>
                  <a:srgbClr val="454545"/>
                </a:solidFill>
              </a:rPr>
              <a:t> </a:t>
            </a:r>
            <a:r>
              <a:rPr lang="pt-BR" sz="6000" b="1" dirty="0" err="1">
                <a:solidFill>
                  <a:srgbClr val="454545"/>
                </a:solidFill>
              </a:rPr>
              <a:t>to</a:t>
            </a:r>
            <a:r>
              <a:rPr lang="pt-BR" sz="6000" b="1" dirty="0">
                <a:solidFill>
                  <a:srgbClr val="454545"/>
                </a:solidFill>
              </a:rPr>
              <a:t> como verbo auxiliar x como verbo principal </a:t>
            </a:r>
          </a:p>
        </p:txBody>
      </p:sp>
    </p:spTree>
    <p:extLst>
      <p:ext uri="{BB962C8B-B14F-4D97-AF65-F5344CB8AC3E}">
        <p14:creationId xmlns:p14="http://schemas.microsoft.com/office/powerpoint/2010/main" val="1324164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8913EF3-0B9F-B960-4E2D-149C95C2601F}"/>
              </a:ext>
            </a:extLst>
          </p:cNvPr>
          <p:cNvSpPr txBox="1"/>
          <p:nvPr/>
        </p:nvSpPr>
        <p:spPr>
          <a:xfrm>
            <a:off x="1390891" y="1351508"/>
            <a:ext cx="941021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rgbClr val="454545"/>
                </a:solidFill>
              </a:rPr>
              <a:t>Importante sobre a diferença entre </a:t>
            </a:r>
            <a:r>
              <a:rPr lang="pt-BR" sz="8800" b="1" dirty="0" err="1">
                <a:solidFill>
                  <a:srgbClr val="454545"/>
                </a:solidFill>
              </a:rPr>
              <a:t>will</a:t>
            </a:r>
            <a:r>
              <a:rPr lang="pt-BR" sz="8800" b="1" dirty="0">
                <a:solidFill>
                  <a:srgbClr val="454545"/>
                </a:solidFill>
              </a:rPr>
              <a:t> e </a:t>
            </a:r>
            <a:r>
              <a:rPr lang="pt-BR" sz="8800" b="1" dirty="0" err="1">
                <a:solidFill>
                  <a:srgbClr val="454545"/>
                </a:solidFill>
              </a:rPr>
              <a:t>going</a:t>
            </a:r>
            <a:r>
              <a:rPr lang="pt-BR" sz="8800" b="1" dirty="0">
                <a:solidFill>
                  <a:srgbClr val="454545"/>
                </a:solidFill>
              </a:rPr>
              <a:t> </a:t>
            </a:r>
            <a:r>
              <a:rPr lang="pt-BR" sz="8800" b="1" dirty="0" err="1">
                <a:solidFill>
                  <a:srgbClr val="454545"/>
                </a:solidFill>
              </a:rPr>
              <a:t>to</a:t>
            </a:r>
            <a:endParaRPr lang="pt-BR" sz="13800" b="1" dirty="0">
              <a:solidFill>
                <a:srgbClr val="454545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19A885-B55C-6FA0-03E8-E99C6E4758B6}"/>
              </a:ext>
            </a:extLst>
          </p:cNvPr>
          <p:cNvSpPr txBox="1"/>
          <p:nvPr/>
        </p:nvSpPr>
        <p:spPr>
          <a:xfrm>
            <a:off x="2242960" y="-2474570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/>
              <a:t>2.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26A0DE-7825-A107-8711-0D8C23E95C58}"/>
              </a:ext>
            </a:extLst>
          </p:cNvPr>
          <p:cNvSpPr txBox="1"/>
          <p:nvPr/>
        </p:nvSpPr>
        <p:spPr>
          <a:xfrm>
            <a:off x="4383881" y="-1318230"/>
            <a:ext cx="67480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600" b="1" dirty="0" err="1"/>
              <a:t>Continuous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2347665770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4EB39F-9BCF-DB4B-F2F1-18472F68F030}"/>
              </a:ext>
            </a:extLst>
          </p:cNvPr>
          <p:cNvSpPr txBox="1"/>
          <p:nvPr/>
        </p:nvSpPr>
        <p:spPr>
          <a:xfrm>
            <a:off x="1633615" y="1091590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2.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4099601" y="2247930"/>
            <a:ext cx="67480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600" b="1" dirty="0" err="1">
                <a:solidFill>
                  <a:srgbClr val="454545"/>
                </a:solidFill>
              </a:rPr>
              <a:t>Continuous</a:t>
            </a:r>
            <a:endParaRPr lang="pt-BR" sz="9600" dirty="0">
              <a:solidFill>
                <a:srgbClr val="454545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BDDC426-5187-DA1C-057D-D416AEDE79DF}"/>
              </a:ext>
            </a:extLst>
          </p:cNvPr>
          <p:cNvSpPr txBox="1"/>
          <p:nvPr/>
        </p:nvSpPr>
        <p:spPr>
          <a:xfrm>
            <a:off x="3175995" y="3825240"/>
            <a:ext cx="58400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454545"/>
                </a:solidFill>
              </a:rPr>
              <a:t>Usado para coisas planejadas e certas, e de acordo entre as partes que esse futuro acontecerá.</a:t>
            </a:r>
          </a:p>
        </p:txBody>
      </p:sp>
    </p:spTree>
    <p:extLst>
      <p:ext uri="{BB962C8B-B14F-4D97-AF65-F5344CB8AC3E}">
        <p14:creationId xmlns:p14="http://schemas.microsoft.com/office/powerpoint/2010/main" val="588101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4EB39F-9BCF-DB4B-F2F1-18472F68F030}"/>
              </a:ext>
            </a:extLst>
          </p:cNvPr>
          <p:cNvSpPr txBox="1"/>
          <p:nvPr/>
        </p:nvSpPr>
        <p:spPr>
          <a:xfrm>
            <a:off x="1668891" y="-2961877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2.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433744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afirmativo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E0BE01-FD43-2ECF-C428-D0AE4763718C}"/>
              </a:ext>
            </a:extLst>
          </p:cNvPr>
          <p:cNvSpPr txBox="1"/>
          <p:nvPr/>
        </p:nvSpPr>
        <p:spPr>
          <a:xfrm>
            <a:off x="433744" y="1614705"/>
            <a:ext cx="8664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Sujeito + verbo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be</a:t>
            </a:r>
            <a:r>
              <a:rPr lang="pt-BR" sz="2800" dirty="0">
                <a:solidFill>
                  <a:srgbClr val="454545"/>
                </a:solidFill>
              </a:rPr>
              <a:t> + verbo principal + </a:t>
            </a:r>
            <a:r>
              <a:rPr lang="pt-BR" sz="2800" dirty="0" err="1">
                <a:solidFill>
                  <a:srgbClr val="454545"/>
                </a:solidFill>
              </a:rPr>
              <a:t>ing</a:t>
            </a:r>
            <a:r>
              <a:rPr lang="pt-BR" sz="2800" dirty="0">
                <a:solidFill>
                  <a:srgbClr val="454545"/>
                </a:solidFill>
              </a:rPr>
              <a:t> + complemento.</a:t>
            </a:r>
          </a:p>
        </p:txBody>
      </p:sp>
      <p:pic>
        <p:nvPicPr>
          <p:cNvPr id="15" name="Imagem 14" descr="Pessoa em ponte&#10;&#10;Descrição gerada automaticamente com confiança média">
            <a:extLst>
              <a:ext uri="{FF2B5EF4-FFF2-40B4-BE49-F238E27FC236}">
                <a16:creationId xmlns:a16="http://schemas.microsoft.com/office/drawing/2014/main" id="{27F32259-5027-5D87-DDFA-A603A5DFB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668">
            <a:off x="7769059" y="4144875"/>
            <a:ext cx="2112944" cy="3756345"/>
          </a:xfrm>
          <a:prstGeom prst="roundRect">
            <a:avLst>
              <a:gd name="adj" fmla="val 2123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m 18" descr="Mão de uma pessoa&#10;&#10;Descrição gerada automaticamente com confiança média">
            <a:extLst>
              <a:ext uri="{FF2B5EF4-FFF2-40B4-BE49-F238E27FC236}">
                <a16:creationId xmlns:a16="http://schemas.microsoft.com/office/drawing/2014/main" id="{E7FE8F1B-C86A-1A88-B73F-D0D120297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896" y="5711609"/>
            <a:ext cx="3182116" cy="2118077"/>
          </a:xfrm>
          <a:prstGeom prst="roundRect">
            <a:avLst>
              <a:gd name="adj" fmla="val 354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B3296983-5E4B-436E-657A-4463F8B6569A}"/>
              </a:ext>
            </a:extLst>
          </p:cNvPr>
          <p:cNvSpPr txBox="1"/>
          <p:nvPr/>
        </p:nvSpPr>
        <p:spPr>
          <a:xfrm>
            <a:off x="433744" y="2738089"/>
            <a:ext cx="115472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travelling tomorrow.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viajar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amanhã</a:t>
            </a:r>
            <a:endParaRPr lang="en-US" sz="3600" b="1" i="1" dirty="0">
              <a:solidFill>
                <a:srgbClr val="45454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working on weekend.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trabalhar</a:t>
            </a:r>
            <a:r>
              <a:rPr lang="en-US" sz="3600" b="1" i="1" dirty="0">
                <a:solidFill>
                  <a:srgbClr val="454545"/>
                </a:solidFill>
              </a:rPr>
              <a:t> no final de </a:t>
            </a:r>
            <a:r>
              <a:rPr lang="en-US" sz="3600" b="1" i="1" dirty="0" err="1">
                <a:solidFill>
                  <a:srgbClr val="454545"/>
                </a:solidFill>
              </a:rPr>
              <a:t>semana</a:t>
            </a:r>
            <a:r>
              <a:rPr lang="en-US" sz="3600" b="1" i="1" dirty="0">
                <a:solidFill>
                  <a:srgbClr val="454545"/>
                </a:solidFill>
              </a:rPr>
              <a:t>.</a:t>
            </a:r>
          </a:p>
        </p:txBody>
      </p:sp>
      <p:pic>
        <p:nvPicPr>
          <p:cNvPr id="16" name="Imagem 15" descr="Mulher sentada em cadeira em frente a janela&#10;&#10;Descrição gerada automaticamente">
            <a:extLst>
              <a:ext uri="{FF2B5EF4-FFF2-40B4-BE49-F238E27FC236}">
                <a16:creationId xmlns:a16="http://schemas.microsoft.com/office/drawing/2014/main" id="{6F6DC9DE-3659-A8DB-0A2C-46CEC2DAD0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00061">
            <a:off x="-6374802" y="5717568"/>
            <a:ext cx="2439146" cy="3658719"/>
          </a:xfrm>
          <a:prstGeom prst="roundRect">
            <a:avLst>
              <a:gd name="adj" fmla="val 248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154CA6DF-6A21-ABB9-4F2C-AE3E5B4D1C98}"/>
              </a:ext>
            </a:extLst>
          </p:cNvPr>
          <p:cNvSpPr txBox="1"/>
          <p:nvPr/>
        </p:nvSpPr>
        <p:spPr>
          <a:xfrm>
            <a:off x="-10981016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Negativo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77C3406-C848-92DD-75B5-ADD877D311B7}"/>
              </a:ext>
            </a:extLst>
          </p:cNvPr>
          <p:cNvSpPr txBox="1"/>
          <p:nvPr/>
        </p:nvSpPr>
        <p:spPr>
          <a:xfrm>
            <a:off x="-10981016" y="1614705"/>
            <a:ext cx="9243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Sujeito + verbo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be</a:t>
            </a:r>
            <a:r>
              <a:rPr lang="pt-BR" sz="2800" dirty="0">
                <a:solidFill>
                  <a:srgbClr val="454545"/>
                </a:solidFill>
              </a:rPr>
              <a:t> + </a:t>
            </a:r>
            <a:r>
              <a:rPr lang="pt-BR" sz="2800" dirty="0" err="1">
                <a:solidFill>
                  <a:srgbClr val="454545"/>
                </a:solidFill>
              </a:rPr>
              <a:t>not</a:t>
            </a:r>
            <a:r>
              <a:rPr lang="pt-BR" sz="2800" dirty="0">
                <a:solidFill>
                  <a:srgbClr val="454545"/>
                </a:solidFill>
              </a:rPr>
              <a:t> + verbo + </a:t>
            </a:r>
            <a:r>
              <a:rPr lang="pt-BR" sz="2800" dirty="0" err="1">
                <a:solidFill>
                  <a:srgbClr val="454545"/>
                </a:solidFill>
              </a:rPr>
              <a:t>ing</a:t>
            </a:r>
            <a:r>
              <a:rPr lang="pt-BR" sz="2800" dirty="0">
                <a:solidFill>
                  <a:srgbClr val="454545"/>
                </a:solidFill>
              </a:rPr>
              <a:t> + complemento.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1C37090-C1FE-5DC1-8C93-647674EE9040}"/>
              </a:ext>
            </a:extLst>
          </p:cNvPr>
          <p:cNvSpPr txBox="1"/>
          <p:nvPr/>
        </p:nvSpPr>
        <p:spPr>
          <a:xfrm>
            <a:off x="-10981016" y="2369356"/>
            <a:ext cx="178917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not travelling tomorrow.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não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viajar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amanhã</a:t>
            </a:r>
            <a:endParaRPr lang="en-US" sz="3200" b="1" i="1" dirty="0">
              <a:solidFill>
                <a:srgbClr val="45454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not working on weekend.</a:t>
            </a:r>
          </a:p>
          <a:p>
            <a:r>
              <a:rPr lang="en-US" sz="3200" b="1" dirty="0">
                <a:solidFill>
                  <a:srgbClr val="454545"/>
                </a:solidFill>
              </a:rPr>
              <a:t>Eu </a:t>
            </a:r>
            <a:r>
              <a:rPr lang="en-US" sz="3200" b="1" dirty="0" err="1">
                <a:solidFill>
                  <a:srgbClr val="454545"/>
                </a:solidFill>
              </a:rPr>
              <a:t>não</a:t>
            </a:r>
            <a:r>
              <a:rPr lang="en-US" sz="3200" b="1" dirty="0">
                <a:solidFill>
                  <a:srgbClr val="454545"/>
                </a:solidFill>
              </a:rPr>
              <a:t> </a:t>
            </a:r>
            <a:r>
              <a:rPr lang="en-US" sz="3200" b="1" dirty="0" err="1">
                <a:solidFill>
                  <a:srgbClr val="454545"/>
                </a:solidFill>
              </a:rPr>
              <a:t>vou</a:t>
            </a:r>
            <a:r>
              <a:rPr lang="en-US" sz="3200" b="1" dirty="0">
                <a:solidFill>
                  <a:srgbClr val="454545"/>
                </a:solidFill>
              </a:rPr>
              <a:t> </a:t>
            </a:r>
            <a:r>
              <a:rPr lang="en-US" sz="3200" b="1" dirty="0" err="1">
                <a:solidFill>
                  <a:srgbClr val="454545"/>
                </a:solidFill>
              </a:rPr>
              <a:t>trabalhar</a:t>
            </a:r>
            <a:r>
              <a:rPr lang="en-US" sz="3200" b="1" dirty="0">
                <a:solidFill>
                  <a:srgbClr val="454545"/>
                </a:solidFill>
              </a:rPr>
              <a:t> no final de </a:t>
            </a:r>
            <a:r>
              <a:rPr lang="en-US" sz="3200" b="1" dirty="0" err="1">
                <a:solidFill>
                  <a:srgbClr val="454545"/>
                </a:solidFill>
              </a:rPr>
              <a:t>semana</a:t>
            </a:r>
            <a:r>
              <a:rPr lang="en-US" sz="3200" b="1" dirty="0">
                <a:solidFill>
                  <a:srgbClr val="454545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4038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4EB39F-9BCF-DB4B-F2F1-18472F68F030}"/>
              </a:ext>
            </a:extLst>
          </p:cNvPr>
          <p:cNvSpPr txBox="1"/>
          <p:nvPr/>
        </p:nvSpPr>
        <p:spPr>
          <a:xfrm>
            <a:off x="1668891" y="-2961877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1.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433744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Negativo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4EE10E-2A25-C521-8106-670CA98D6E8A}"/>
              </a:ext>
            </a:extLst>
          </p:cNvPr>
          <p:cNvSpPr txBox="1"/>
          <p:nvPr/>
        </p:nvSpPr>
        <p:spPr>
          <a:xfrm>
            <a:off x="3789311" y="-2945221"/>
            <a:ext cx="308476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900" b="1" dirty="0">
                <a:solidFill>
                  <a:srgbClr val="454545"/>
                </a:solidFill>
              </a:rPr>
              <a:t>5: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E0BE01-FD43-2ECF-C428-D0AE4763718C}"/>
              </a:ext>
            </a:extLst>
          </p:cNvPr>
          <p:cNvSpPr txBox="1"/>
          <p:nvPr/>
        </p:nvSpPr>
        <p:spPr>
          <a:xfrm>
            <a:off x="433744" y="1614705"/>
            <a:ext cx="9243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Sujeito + verbo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be</a:t>
            </a:r>
            <a:r>
              <a:rPr lang="pt-BR" sz="2800" dirty="0">
                <a:solidFill>
                  <a:srgbClr val="454545"/>
                </a:solidFill>
              </a:rPr>
              <a:t> + </a:t>
            </a:r>
            <a:r>
              <a:rPr lang="pt-BR" sz="2800" dirty="0" err="1">
                <a:solidFill>
                  <a:srgbClr val="454545"/>
                </a:solidFill>
              </a:rPr>
              <a:t>not</a:t>
            </a:r>
            <a:r>
              <a:rPr lang="pt-BR" sz="2800" dirty="0">
                <a:solidFill>
                  <a:srgbClr val="454545"/>
                </a:solidFill>
              </a:rPr>
              <a:t> + verbo + </a:t>
            </a:r>
            <a:r>
              <a:rPr lang="pt-BR" sz="2800" dirty="0" err="1">
                <a:solidFill>
                  <a:srgbClr val="454545"/>
                </a:solidFill>
              </a:rPr>
              <a:t>ing</a:t>
            </a:r>
            <a:r>
              <a:rPr lang="pt-BR" sz="2800" dirty="0">
                <a:solidFill>
                  <a:srgbClr val="454545"/>
                </a:solidFill>
              </a:rPr>
              <a:t> + complemento.</a:t>
            </a:r>
          </a:p>
        </p:txBody>
      </p:sp>
      <p:pic>
        <p:nvPicPr>
          <p:cNvPr id="29" name="Imagem 28" descr="Pessoa em ponte&#10;&#10;Descrição gerada automaticamente com confiança média">
            <a:extLst>
              <a:ext uri="{FF2B5EF4-FFF2-40B4-BE49-F238E27FC236}">
                <a16:creationId xmlns:a16="http://schemas.microsoft.com/office/drawing/2014/main" id="{0DC55690-849D-BD36-9270-D16DE8DC5D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668">
            <a:off x="14879719" y="6341911"/>
            <a:ext cx="2112944" cy="3756345"/>
          </a:xfrm>
          <a:prstGeom prst="roundRect">
            <a:avLst>
              <a:gd name="adj" fmla="val 2123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Imagem 29" descr="Mão de uma pessoa&#10;&#10;Descrição gerada automaticamente com confiança média">
            <a:extLst>
              <a:ext uri="{FF2B5EF4-FFF2-40B4-BE49-F238E27FC236}">
                <a16:creationId xmlns:a16="http://schemas.microsoft.com/office/drawing/2014/main" id="{8F9B5EE2-A265-69FE-AAB7-E742F96112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13499" y="6882290"/>
            <a:ext cx="3182116" cy="2118077"/>
          </a:xfrm>
          <a:prstGeom prst="roundRect">
            <a:avLst>
              <a:gd name="adj" fmla="val 354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Imagem 32" descr="Vaso de vidro&#10;&#10;Descrição gerada automaticamente com confiança média">
            <a:extLst>
              <a:ext uri="{FF2B5EF4-FFF2-40B4-BE49-F238E27FC236}">
                <a16:creationId xmlns:a16="http://schemas.microsoft.com/office/drawing/2014/main" id="{C97E90A3-98EE-EAA3-1E73-56867F229B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9711" y="6077717"/>
            <a:ext cx="1970366" cy="2951350"/>
          </a:xfrm>
          <a:prstGeom prst="roundRect">
            <a:avLst>
              <a:gd name="adj" fmla="val 2208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9546C56-5DCB-4FEF-8308-DD9F5CF84CA5}"/>
              </a:ext>
            </a:extLst>
          </p:cNvPr>
          <p:cNvSpPr txBox="1"/>
          <p:nvPr/>
        </p:nvSpPr>
        <p:spPr>
          <a:xfrm>
            <a:off x="433744" y="2369356"/>
            <a:ext cx="178917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not travelling tomorrow.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não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viajar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amanhã</a:t>
            </a:r>
            <a:endParaRPr lang="en-US" sz="3200" b="1" i="1" dirty="0">
              <a:solidFill>
                <a:srgbClr val="45454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not working on weekend.</a:t>
            </a:r>
          </a:p>
          <a:p>
            <a:r>
              <a:rPr lang="en-US" sz="3200" b="1" dirty="0">
                <a:solidFill>
                  <a:srgbClr val="454545"/>
                </a:solidFill>
              </a:rPr>
              <a:t>Eu </a:t>
            </a:r>
            <a:r>
              <a:rPr lang="en-US" sz="3200" b="1" dirty="0" err="1">
                <a:solidFill>
                  <a:srgbClr val="454545"/>
                </a:solidFill>
              </a:rPr>
              <a:t>não</a:t>
            </a:r>
            <a:r>
              <a:rPr lang="en-US" sz="3200" b="1" dirty="0">
                <a:solidFill>
                  <a:srgbClr val="454545"/>
                </a:solidFill>
              </a:rPr>
              <a:t> </a:t>
            </a:r>
            <a:r>
              <a:rPr lang="en-US" sz="3200" b="1" dirty="0" err="1">
                <a:solidFill>
                  <a:srgbClr val="454545"/>
                </a:solidFill>
              </a:rPr>
              <a:t>vou</a:t>
            </a:r>
            <a:r>
              <a:rPr lang="en-US" sz="3200" b="1" dirty="0">
                <a:solidFill>
                  <a:srgbClr val="454545"/>
                </a:solidFill>
              </a:rPr>
              <a:t> </a:t>
            </a:r>
            <a:r>
              <a:rPr lang="en-US" sz="3200" b="1" dirty="0" err="1">
                <a:solidFill>
                  <a:srgbClr val="454545"/>
                </a:solidFill>
              </a:rPr>
              <a:t>trabalhar</a:t>
            </a:r>
            <a:r>
              <a:rPr lang="en-US" sz="3200" b="1" dirty="0">
                <a:solidFill>
                  <a:srgbClr val="454545"/>
                </a:solidFill>
              </a:rPr>
              <a:t> no final de </a:t>
            </a:r>
            <a:r>
              <a:rPr lang="en-US" sz="3200" b="1" dirty="0" err="1">
                <a:solidFill>
                  <a:srgbClr val="454545"/>
                </a:solidFill>
              </a:rPr>
              <a:t>semana</a:t>
            </a:r>
            <a:r>
              <a:rPr lang="en-US" sz="3200" b="1" dirty="0">
                <a:solidFill>
                  <a:srgbClr val="454545"/>
                </a:solidFill>
              </a:rPr>
              <a:t>. </a:t>
            </a:r>
          </a:p>
        </p:txBody>
      </p:sp>
      <p:pic>
        <p:nvPicPr>
          <p:cNvPr id="9" name="Imagem 8" descr="Mulher sentada em cadeira em frente a janela&#10;&#10;Descrição gerada automaticamente">
            <a:extLst>
              <a:ext uri="{FF2B5EF4-FFF2-40B4-BE49-F238E27FC236}">
                <a16:creationId xmlns:a16="http://schemas.microsoft.com/office/drawing/2014/main" id="{D3FCB41F-F735-7893-3013-52632486EC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00061">
            <a:off x="-1044520" y="3876926"/>
            <a:ext cx="2439146" cy="3658719"/>
          </a:xfrm>
          <a:prstGeom prst="roundRect">
            <a:avLst>
              <a:gd name="adj" fmla="val 2488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BCE6B2D-FE2F-531A-FCCD-461C614D8E4D}"/>
              </a:ext>
            </a:extLst>
          </p:cNvPr>
          <p:cNvSpPr txBox="1"/>
          <p:nvPr/>
        </p:nvSpPr>
        <p:spPr>
          <a:xfrm>
            <a:off x="13098184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afirmativo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738958-4267-577F-BECE-7BCF3BF02150}"/>
              </a:ext>
            </a:extLst>
          </p:cNvPr>
          <p:cNvSpPr txBox="1"/>
          <p:nvPr/>
        </p:nvSpPr>
        <p:spPr>
          <a:xfrm>
            <a:off x="13098184" y="1614705"/>
            <a:ext cx="8664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Sujeito + verbo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be</a:t>
            </a:r>
            <a:r>
              <a:rPr lang="pt-BR" sz="2800" dirty="0">
                <a:solidFill>
                  <a:srgbClr val="454545"/>
                </a:solidFill>
              </a:rPr>
              <a:t> + verbo principal + </a:t>
            </a:r>
            <a:r>
              <a:rPr lang="pt-BR" sz="2800" dirty="0" err="1">
                <a:solidFill>
                  <a:srgbClr val="454545"/>
                </a:solidFill>
              </a:rPr>
              <a:t>ing</a:t>
            </a:r>
            <a:r>
              <a:rPr lang="pt-BR" sz="2800" dirty="0">
                <a:solidFill>
                  <a:srgbClr val="454545"/>
                </a:solidFill>
              </a:rPr>
              <a:t> + complemento.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44379C8-A951-A29D-1453-54CCB1673063}"/>
              </a:ext>
            </a:extLst>
          </p:cNvPr>
          <p:cNvSpPr txBox="1"/>
          <p:nvPr/>
        </p:nvSpPr>
        <p:spPr>
          <a:xfrm>
            <a:off x="13098184" y="2738089"/>
            <a:ext cx="115472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travelling tomorrow.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viajar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amanhã</a:t>
            </a:r>
            <a:endParaRPr lang="en-US" sz="3600" b="1" i="1" dirty="0">
              <a:solidFill>
                <a:srgbClr val="45454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working on weekend.</a:t>
            </a:r>
          </a:p>
          <a:p>
            <a:r>
              <a:rPr lang="en-US" sz="3600" b="1" i="1" dirty="0">
                <a:solidFill>
                  <a:srgbClr val="454545"/>
                </a:solidFill>
              </a:rPr>
              <a:t>Eu </a:t>
            </a:r>
            <a:r>
              <a:rPr lang="en-US" sz="3600" b="1" i="1" dirty="0" err="1">
                <a:solidFill>
                  <a:srgbClr val="454545"/>
                </a:solidFill>
              </a:rPr>
              <a:t>vou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trabalhar</a:t>
            </a:r>
            <a:r>
              <a:rPr lang="en-US" sz="3600" b="1" i="1" dirty="0">
                <a:solidFill>
                  <a:srgbClr val="454545"/>
                </a:solidFill>
              </a:rPr>
              <a:t> no final de </a:t>
            </a:r>
            <a:r>
              <a:rPr lang="en-US" sz="3600" b="1" i="1" dirty="0" err="1">
                <a:solidFill>
                  <a:srgbClr val="454545"/>
                </a:solidFill>
              </a:rPr>
              <a:t>semana</a:t>
            </a:r>
            <a:r>
              <a:rPr lang="en-US" sz="3600" b="1" i="1" dirty="0">
                <a:solidFill>
                  <a:srgbClr val="454545"/>
                </a:solidFill>
              </a:rPr>
              <a:t>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9A112F0-98C3-80DA-439C-BF02A55B5FA2}"/>
              </a:ext>
            </a:extLst>
          </p:cNvPr>
          <p:cNvSpPr txBox="1"/>
          <p:nvPr/>
        </p:nvSpPr>
        <p:spPr>
          <a:xfrm>
            <a:off x="-11392496" y="276867"/>
            <a:ext cx="111334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0" b="1" dirty="0">
                <a:solidFill>
                  <a:srgbClr val="454545"/>
                </a:solidFill>
              </a:rPr>
              <a:t>Exemplos: Interrogativo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DA55603-A73B-47A5-8862-77E6E8FC4B66}"/>
              </a:ext>
            </a:extLst>
          </p:cNvPr>
          <p:cNvSpPr txBox="1"/>
          <p:nvPr/>
        </p:nvSpPr>
        <p:spPr>
          <a:xfrm>
            <a:off x="-11392496" y="1614705"/>
            <a:ext cx="10447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Verbo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be</a:t>
            </a:r>
            <a:r>
              <a:rPr lang="pt-BR" sz="2800" dirty="0">
                <a:solidFill>
                  <a:srgbClr val="454545"/>
                </a:solidFill>
              </a:rPr>
              <a:t> + sujeito + verbo principal + </a:t>
            </a:r>
            <a:r>
              <a:rPr lang="pt-BR" sz="2800" dirty="0" err="1">
                <a:solidFill>
                  <a:srgbClr val="454545"/>
                </a:solidFill>
              </a:rPr>
              <a:t>ing</a:t>
            </a:r>
            <a:r>
              <a:rPr lang="pt-BR" sz="2800" dirty="0">
                <a:solidFill>
                  <a:srgbClr val="454545"/>
                </a:solidFill>
              </a:rPr>
              <a:t> + complemento.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1A2A471-64B4-442F-138E-BBAB4CA8310F}"/>
              </a:ext>
            </a:extLst>
          </p:cNvPr>
          <p:cNvSpPr txBox="1"/>
          <p:nvPr/>
        </p:nvSpPr>
        <p:spPr>
          <a:xfrm>
            <a:off x="-11407736" y="2491723"/>
            <a:ext cx="94874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Are you travelling tomorrow?</a:t>
            </a:r>
          </a:p>
          <a:p>
            <a:r>
              <a:rPr lang="en-US" sz="3600" b="1" i="1" dirty="0" err="1">
                <a:solidFill>
                  <a:srgbClr val="454545"/>
                </a:solidFill>
              </a:rPr>
              <a:t>Você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você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vai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viajar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amanhã</a:t>
            </a:r>
            <a:r>
              <a:rPr lang="en-US" sz="3600" b="1" i="1" dirty="0">
                <a:solidFill>
                  <a:srgbClr val="454545"/>
                </a:solidFill>
              </a:rPr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Are you working on weekend?</a:t>
            </a:r>
          </a:p>
          <a:p>
            <a:r>
              <a:rPr lang="en-US" sz="3600" b="1" dirty="0" err="1">
                <a:solidFill>
                  <a:srgbClr val="454545"/>
                </a:solidFill>
              </a:rPr>
              <a:t>Você</a:t>
            </a:r>
            <a:r>
              <a:rPr lang="en-US" sz="3600" b="1" dirty="0">
                <a:solidFill>
                  <a:srgbClr val="454545"/>
                </a:solidFill>
              </a:rPr>
              <a:t> </a:t>
            </a:r>
            <a:r>
              <a:rPr lang="en-US" sz="3600" b="1" dirty="0" err="1">
                <a:solidFill>
                  <a:srgbClr val="454545"/>
                </a:solidFill>
              </a:rPr>
              <a:t>vai</a:t>
            </a:r>
            <a:r>
              <a:rPr lang="en-US" sz="3600" b="1" dirty="0">
                <a:solidFill>
                  <a:srgbClr val="454545"/>
                </a:solidFill>
              </a:rPr>
              <a:t> </a:t>
            </a:r>
            <a:r>
              <a:rPr lang="en-US" sz="3600" b="1" dirty="0" err="1">
                <a:solidFill>
                  <a:srgbClr val="454545"/>
                </a:solidFill>
              </a:rPr>
              <a:t>trabalhar</a:t>
            </a:r>
            <a:r>
              <a:rPr lang="en-US" sz="3600" b="1" dirty="0">
                <a:solidFill>
                  <a:srgbClr val="454545"/>
                </a:solidFill>
              </a:rPr>
              <a:t> no final de </a:t>
            </a:r>
            <a:r>
              <a:rPr lang="en-US" sz="3600" b="1" dirty="0" err="1">
                <a:solidFill>
                  <a:srgbClr val="454545"/>
                </a:solidFill>
              </a:rPr>
              <a:t>semana</a:t>
            </a:r>
            <a:r>
              <a:rPr lang="en-US" sz="3600" b="1" dirty="0">
                <a:solidFill>
                  <a:srgbClr val="454545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6790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82656C-BDF5-3900-C0D1-63A934E56E5C}"/>
              </a:ext>
            </a:extLst>
          </p:cNvPr>
          <p:cNvSpPr txBox="1"/>
          <p:nvPr/>
        </p:nvSpPr>
        <p:spPr>
          <a:xfrm>
            <a:off x="433744" y="276867"/>
            <a:ext cx="111334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0" b="1" dirty="0">
                <a:solidFill>
                  <a:srgbClr val="454545"/>
                </a:solidFill>
              </a:rPr>
              <a:t>Exemplos: Interrogativo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E0BE01-FD43-2ECF-C428-D0AE4763718C}"/>
              </a:ext>
            </a:extLst>
          </p:cNvPr>
          <p:cNvSpPr txBox="1"/>
          <p:nvPr/>
        </p:nvSpPr>
        <p:spPr>
          <a:xfrm>
            <a:off x="433744" y="1614705"/>
            <a:ext cx="10447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Verbo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be</a:t>
            </a:r>
            <a:r>
              <a:rPr lang="pt-BR" sz="2800" dirty="0">
                <a:solidFill>
                  <a:srgbClr val="454545"/>
                </a:solidFill>
              </a:rPr>
              <a:t> + sujeito + verbo principal + </a:t>
            </a:r>
            <a:r>
              <a:rPr lang="pt-BR" sz="2800" dirty="0" err="1">
                <a:solidFill>
                  <a:srgbClr val="454545"/>
                </a:solidFill>
              </a:rPr>
              <a:t>ing</a:t>
            </a:r>
            <a:r>
              <a:rPr lang="pt-BR" sz="2800" dirty="0">
                <a:solidFill>
                  <a:srgbClr val="454545"/>
                </a:solidFill>
              </a:rPr>
              <a:t> + complemento.</a:t>
            </a:r>
          </a:p>
        </p:txBody>
      </p:sp>
      <p:pic>
        <p:nvPicPr>
          <p:cNvPr id="13" name="Imagem 12" descr="Vaso de vidro&#10;&#10;Descrição gerada automaticamente com confiança média">
            <a:extLst>
              <a:ext uri="{FF2B5EF4-FFF2-40B4-BE49-F238E27FC236}">
                <a16:creationId xmlns:a16="http://schemas.microsoft.com/office/drawing/2014/main" id="{1B36C2E1-F4D9-9511-E77C-B0DF8FA0C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8563">
            <a:off x="7829411" y="4368683"/>
            <a:ext cx="1970366" cy="2951350"/>
          </a:xfrm>
          <a:prstGeom prst="roundRect">
            <a:avLst>
              <a:gd name="adj" fmla="val 2208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4FA6008-E424-C695-223A-442B65AFA640}"/>
              </a:ext>
            </a:extLst>
          </p:cNvPr>
          <p:cNvSpPr txBox="1"/>
          <p:nvPr/>
        </p:nvSpPr>
        <p:spPr>
          <a:xfrm>
            <a:off x="433744" y="2491723"/>
            <a:ext cx="94874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Are you travelling tomorrow?</a:t>
            </a:r>
          </a:p>
          <a:p>
            <a:r>
              <a:rPr lang="en-US" sz="3600" b="1" i="1" dirty="0" err="1">
                <a:solidFill>
                  <a:srgbClr val="454545"/>
                </a:solidFill>
              </a:rPr>
              <a:t>Você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vai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viajar</a:t>
            </a:r>
            <a:r>
              <a:rPr lang="en-US" sz="3600" b="1" i="1" dirty="0">
                <a:solidFill>
                  <a:srgbClr val="454545"/>
                </a:solidFill>
              </a:rPr>
              <a:t> </a:t>
            </a:r>
            <a:r>
              <a:rPr lang="en-US" sz="3600" b="1" i="1" dirty="0" err="1">
                <a:solidFill>
                  <a:srgbClr val="454545"/>
                </a:solidFill>
              </a:rPr>
              <a:t>amanhã</a:t>
            </a:r>
            <a:r>
              <a:rPr lang="en-US" sz="3600" b="1" i="1" dirty="0">
                <a:solidFill>
                  <a:srgbClr val="454545"/>
                </a:solidFill>
              </a:rPr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Are you working on weekend?</a:t>
            </a:r>
          </a:p>
          <a:p>
            <a:r>
              <a:rPr lang="en-US" sz="3600" b="1" dirty="0" err="1">
                <a:solidFill>
                  <a:srgbClr val="454545"/>
                </a:solidFill>
              </a:rPr>
              <a:t>Você</a:t>
            </a:r>
            <a:r>
              <a:rPr lang="en-US" sz="3600" b="1" dirty="0">
                <a:solidFill>
                  <a:srgbClr val="454545"/>
                </a:solidFill>
              </a:rPr>
              <a:t> </a:t>
            </a:r>
            <a:r>
              <a:rPr lang="en-US" sz="3600" b="1" dirty="0" err="1">
                <a:solidFill>
                  <a:srgbClr val="454545"/>
                </a:solidFill>
              </a:rPr>
              <a:t>vai</a:t>
            </a:r>
            <a:r>
              <a:rPr lang="en-US" sz="3600" b="1" dirty="0">
                <a:solidFill>
                  <a:srgbClr val="454545"/>
                </a:solidFill>
              </a:rPr>
              <a:t> </a:t>
            </a:r>
            <a:r>
              <a:rPr lang="en-US" sz="3600" b="1" dirty="0" err="1">
                <a:solidFill>
                  <a:srgbClr val="454545"/>
                </a:solidFill>
              </a:rPr>
              <a:t>trabalhar</a:t>
            </a:r>
            <a:r>
              <a:rPr lang="en-US" sz="3600" b="1" dirty="0">
                <a:solidFill>
                  <a:srgbClr val="454545"/>
                </a:solidFill>
              </a:rPr>
              <a:t> no final de </a:t>
            </a:r>
            <a:r>
              <a:rPr lang="en-US" sz="3600" b="1" dirty="0" err="1">
                <a:solidFill>
                  <a:srgbClr val="454545"/>
                </a:solidFill>
              </a:rPr>
              <a:t>semana</a:t>
            </a:r>
            <a:r>
              <a:rPr lang="en-US" sz="3600" b="1" dirty="0">
                <a:solidFill>
                  <a:srgbClr val="454545"/>
                </a:solidFill>
              </a:rPr>
              <a:t>?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1D73D9C-54AF-5DF4-0AD7-C609F1A96E02}"/>
              </a:ext>
            </a:extLst>
          </p:cNvPr>
          <p:cNvSpPr txBox="1"/>
          <p:nvPr/>
        </p:nvSpPr>
        <p:spPr>
          <a:xfrm>
            <a:off x="12732424" y="276867"/>
            <a:ext cx="1113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800" b="1" dirty="0">
                <a:solidFill>
                  <a:srgbClr val="454545"/>
                </a:solidFill>
              </a:rPr>
              <a:t>Exemplos: Negativo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088F8AC-A713-3C72-AE62-613D15BFE999}"/>
              </a:ext>
            </a:extLst>
          </p:cNvPr>
          <p:cNvSpPr txBox="1"/>
          <p:nvPr/>
        </p:nvSpPr>
        <p:spPr>
          <a:xfrm>
            <a:off x="12732424" y="1614705"/>
            <a:ext cx="9243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454545"/>
                </a:solidFill>
              </a:rPr>
              <a:t>Sujeito + verbo </a:t>
            </a:r>
            <a:r>
              <a:rPr lang="pt-BR" sz="2800" dirty="0" err="1">
                <a:solidFill>
                  <a:srgbClr val="454545"/>
                </a:solidFill>
              </a:rPr>
              <a:t>to</a:t>
            </a:r>
            <a:r>
              <a:rPr lang="pt-BR" sz="2800" dirty="0">
                <a:solidFill>
                  <a:srgbClr val="454545"/>
                </a:solidFill>
              </a:rPr>
              <a:t> </a:t>
            </a:r>
            <a:r>
              <a:rPr lang="pt-BR" sz="2800" dirty="0" err="1">
                <a:solidFill>
                  <a:srgbClr val="454545"/>
                </a:solidFill>
              </a:rPr>
              <a:t>be</a:t>
            </a:r>
            <a:r>
              <a:rPr lang="pt-BR" sz="2800" dirty="0">
                <a:solidFill>
                  <a:srgbClr val="454545"/>
                </a:solidFill>
              </a:rPr>
              <a:t> + </a:t>
            </a:r>
            <a:r>
              <a:rPr lang="pt-BR" sz="2800" dirty="0" err="1">
                <a:solidFill>
                  <a:srgbClr val="454545"/>
                </a:solidFill>
              </a:rPr>
              <a:t>not</a:t>
            </a:r>
            <a:r>
              <a:rPr lang="pt-BR" sz="2800" dirty="0">
                <a:solidFill>
                  <a:srgbClr val="454545"/>
                </a:solidFill>
              </a:rPr>
              <a:t> + verbo + </a:t>
            </a:r>
            <a:r>
              <a:rPr lang="pt-BR" sz="2800" dirty="0" err="1">
                <a:solidFill>
                  <a:srgbClr val="454545"/>
                </a:solidFill>
              </a:rPr>
              <a:t>ing</a:t>
            </a:r>
            <a:r>
              <a:rPr lang="pt-BR" sz="2800" dirty="0">
                <a:solidFill>
                  <a:srgbClr val="454545"/>
                </a:solidFill>
              </a:rPr>
              <a:t> + complemento.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19D7756-8698-94AF-191C-FB1F9AC4C477}"/>
              </a:ext>
            </a:extLst>
          </p:cNvPr>
          <p:cNvSpPr txBox="1"/>
          <p:nvPr/>
        </p:nvSpPr>
        <p:spPr>
          <a:xfrm>
            <a:off x="12732424" y="2369356"/>
            <a:ext cx="178917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not travelling tomorrow.</a:t>
            </a:r>
          </a:p>
          <a:p>
            <a:r>
              <a:rPr lang="en-US" sz="3200" b="1" i="1" dirty="0">
                <a:solidFill>
                  <a:srgbClr val="454545"/>
                </a:solidFill>
              </a:rPr>
              <a:t>Eu </a:t>
            </a:r>
            <a:r>
              <a:rPr lang="en-US" sz="3200" b="1" i="1" dirty="0" err="1">
                <a:solidFill>
                  <a:srgbClr val="454545"/>
                </a:solidFill>
              </a:rPr>
              <a:t>não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vou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viajar</a:t>
            </a:r>
            <a:r>
              <a:rPr lang="en-US" sz="3200" b="1" i="1" dirty="0">
                <a:solidFill>
                  <a:srgbClr val="454545"/>
                </a:solidFill>
              </a:rPr>
              <a:t> </a:t>
            </a:r>
            <a:r>
              <a:rPr lang="en-US" sz="3200" b="1" i="1" dirty="0" err="1">
                <a:solidFill>
                  <a:srgbClr val="454545"/>
                </a:solidFill>
              </a:rPr>
              <a:t>amanhã</a:t>
            </a:r>
            <a:endParaRPr lang="en-US" sz="3200" b="1" i="1" dirty="0">
              <a:solidFill>
                <a:srgbClr val="45454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454545"/>
                </a:solidFill>
              </a:rPr>
              <a:t>I'm not working on weekend.</a:t>
            </a:r>
          </a:p>
          <a:p>
            <a:r>
              <a:rPr lang="en-US" sz="3200" b="1" dirty="0">
                <a:solidFill>
                  <a:srgbClr val="454545"/>
                </a:solidFill>
              </a:rPr>
              <a:t>Eu </a:t>
            </a:r>
            <a:r>
              <a:rPr lang="en-US" sz="3200" b="1" dirty="0" err="1">
                <a:solidFill>
                  <a:srgbClr val="454545"/>
                </a:solidFill>
              </a:rPr>
              <a:t>não</a:t>
            </a:r>
            <a:r>
              <a:rPr lang="en-US" sz="3200" b="1" dirty="0">
                <a:solidFill>
                  <a:srgbClr val="454545"/>
                </a:solidFill>
              </a:rPr>
              <a:t> </a:t>
            </a:r>
            <a:r>
              <a:rPr lang="en-US" sz="3200" b="1" dirty="0" err="1">
                <a:solidFill>
                  <a:srgbClr val="454545"/>
                </a:solidFill>
              </a:rPr>
              <a:t>vou</a:t>
            </a:r>
            <a:r>
              <a:rPr lang="en-US" sz="3200" b="1" dirty="0">
                <a:solidFill>
                  <a:srgbClr val="454545"/>
                </a:solidFill>
              </a:rPr>
              <a:t> </a:t>
            </a:r>
            <a:r>
              <a:rPr lang="en-US" sz="3200" b="1" dirty="0" err="1">
                <a:solidFill>
                  <a:srgbClr val="454545"/>
                </a:solidFill>
              </a:rPr>
              <a:t>trabalhar</a:t>
            </a:r>
            <a:r>
              <a:rPr lang="en-US" sz="3200" b="1" dirty="0">
                <a:solidFill>
                  <a:srgbClr val="454545"/>
                </a:solidFill>
              </a:rPr>
              <a:t> no final de </a:t>
            </a:r>
            <a:r>
              <a:rPr lang="en-US" sz="3200" b="1" dirty="0" err="1">
                <a:solidFill>
                  <a:srgbClr val="454545"/>
                </a:solidFill>
              </a:rPr>
              <a:t>semana</a:t>
            </a:r>
            <a:r>
              <a:rPr lang="en-US" sz="3200" b="1" dirty="0">
                <a:solidFill>
                  <a:srgbClr val="454545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03736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porta, em pé, homem, mesa&#10;&#10;Descrição gerada automaticamente">
            <a:extLst>
              <a:ext uri="{FF2B5EF4-FFF2-40B4-BE49-F238E27FC236}">
                <a16:creationId xmlns:a16="http://schemas.microsoft.com/office/drawing/2014/main" id="{CD79F5B5-0A89-DF04-F719-7FFA66E1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8913EF3-0B9F-B960-4E2D-149C95C2601F}"/>
              </a:ext>
            </a:extLst>
          </p:cNvPr>
          <p:cNvSpPr txBox="1"/>
          <p:nvPr/>
        </p:nvSpPr>
        <p:spPr>
          <a:xfrm>
            <a:off x="522790" y="184890"/>
            <a:ext cx="941021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b="1" dirty="0" err="1">
                <a:solidFill>
                  <a:srgbClr val="454545"/>
                </a:solidFill>
              </a:rPr>
              <a:t>And</a:t>
            </a:r>
            <a:r>
              <a:rPr lang="pt-BR" sz="11500" b="1" dirty="0">
                <a:solidFill>
                  <a:srgbClr val="454545"/>
                </a:solidFill>
              </a:rPr>
              <a:t> </a:t>
            </a:r>
            <a:r>
              <a:rPr lang="pt-BR" sz="11500" b="1" dirty="0" err="1">
                <a:solidFill>
                  <a:srgbClr val="454545"/>
                </a:solidFill>
              </a:rPr>
              <a:t>that's</a:t>
            </a:r>
            <a:r>
              <a:rPr lang="pt-BR" sz="11500" b="1" dirty="0">
                <a:solidFill>
                  <a:srgbClr val="454545"/>
                </a:solidFill>
              </a:rPr>
              <a:t> it</a:t>
            </a:r>
            <a:endParaRPr lang="pt-BR" sz="19900" b="1" dirty="0">
              <a:solidFill>
                <a:srgbClr val="454545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1DF54EE-F7C0-C5FF-CAA0-C3BE5D5C0459}"/>
              </a:ext>
            </a:extLst>
          </p:cNvPr>
          <p:cNvSpPr txBox="1"/>
          <p:nvPr/>
        </p:nvSpPr>
        <p:spPr>
          <a:xfrm>
            <a:off x="667474" y="4037808"/>
            <a:ext cx="54285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Made</a:t>
            </a:r>
            <a:r>
              <a:rPr lang="pt-BR" sz="2400" b="1" dirty="0"/>
              <a:t> </a:t>
            </a:r>
            <a:r>
              <a:rPr lang="pt-BR" sz="2400" b="1" dirty="0" err="1"/>
              <a:t>by</a:t>
            </a:r>
            <a:r>
              <a:rPr lang="pt-BR" sz="24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João Victor Ferreira Da Silveira</a:t>
            </a:r>
            <a:r>
              <a:rPr lang="pt-BR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i="0" dirty="0">
                <a:solidFill>
                  <a:srgbClr val="1E3231"/>
                </a:solidFill>
                <a:effectLst/>
                <a:latin typeface="Open Sans" panose="020B0606030504020204" pitchFamily="34" charset="0"/>
              </a:rPr>
              <a:t>Matheus Da Silva De Campos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i="0" dirty="0">
                <a:solidFill>
                  <a:srgbClr val="1E3231"/>
                </a:solidFill>
                <a:effectLst/>
                <a:latin typeface="Open Sans" panose="020B0606030504020204" pitchFamily="34" charset="0"/>
              </a:rPr>
              <a:t>Pedro Makoski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i="0" dirty="0">
                <a:solidFill>
                  <a:srgbClr val="1E3231"/>
                </a:solidFill>
                <a:effectLst/>
                <a:latin typeface="Open Sans" panose="020B0606030504020204" pitchFamily="34" charset="0"/>
              </a:rPr>
              <a:t>Thiago Da Silva Fermino</a:t>
            </a:r>
          </a:p>
        </p:txBody>
      </p:sp>
      <p:pic>
        <p:nvPicPr>
          <p:cNvPr id="3" name="Imagem 2" descr="Código QR&#10;&#10;Descrição gerada automaticamente">
            <a:extLst>
              <a:ext uri="{FF2B5EF4-FFF2-40B4-BE49-F238E27FC236}">
                <a16:creationId xmlns:a16="http://schemas.microsoft.com/office/drawing/2014/main" id="{B185C8B5-32D6-BE9A-65F5-3559730552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750" y="2570566"/>
            <a:ext cx="3406234" cy="3406234"/>
          </a:xfrm>
          <a:prstGeom prst="roundRect">
            <a:avLst>
              <a:gd name="adj" fmla="val 1897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6060801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1372</Words>
  <Application>Microsoft Office PowerPoint</Application>
  <PresentationFormat>Widescreen</PresentationFormat>
  <Paragraphs>190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Open Sans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Nivaldo makoski</dc:creator>
  <cp:lastModifiedBy>Nivaldo makoski</cp:lastModifiedBy>
  <cp:revision>12</cp:revision>
  <dcterms:created xsi:type="dcterms:W3CDTF">2024-07-30T17:15:04Z</dcterms:created>
  <dcterms:modified xsi:type="dcterms:W3CDTF">2024-08-10T17:31:01Z</dcterms:modified>
</cp:coreProperties>
</file>