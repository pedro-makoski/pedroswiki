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d5bfc45466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d5bfc45466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d5c1666414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d5c1666414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d5c1666414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d5c1666414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d5c1666414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d5c1666414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d5c058367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d5c058367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d5c0583677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d5c0583677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d5c1666414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d5c1666414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d5c1666414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2d5c1666414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d5c1666414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2d5c1666414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d5c1666414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2d5c1666414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jpg"/><Relationship Id="rId4" Type="http://schemas.openxmlformats.org/officeDocument/2006/relationships/image" Target="../media/image11.jpg"/><Relationship Id="rId5" Type="http://schemas.openxmlformats.org/officeDocument/2006/relationships/image" Target="../media/image17.jpg"/><Relationship Id="rId6" Type="http://schemas.openxmlformats.org/officeDocument/2006/relationships/image" Target="../media/image7.jpg"/><Relationship Id="rId7" Type="http://schemas.openxmlformats.org/officeDocument/2006/relationships/image" Target="../media/image16.jpg"/><Relationship Id="rId8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jpg"/><Relationship Id="rId4" Type="http://schemas.openxmlformats.org/officeDocument/2006/relationships/image" Target="../media/image15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jpg"/><Relationship Id="rId4" Type="http://schemas.openxmlformats.org/officeDocument/2006/relationships/image" Target="../media/image4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www.youtube.com/watch?v=Zo4kR8Q1qWE" TargetMode="External"/><Relationship Id="rId4" Type="http://schemas.openxmlformats.org/officeDocument/2006/relationships/hyperlink" Target="https://pt.wikipedia.org/wiki/Teclado_(inform%C3%A1tica)" TargetMode="External"/><Relationship Id="rId5" Type="http://schemas.openxmlformats.org/officeDocument/2006/relationships/hyperlink" Target="https://pt.wikipedia.org/wiki/M%C3%A1quina_de_escrever" TargetMode="External"/><Relationship Id="rId6" Type="http://schemas.openxmlformats.org/officeDocument/2006/relationships/hyperlink" Target="https://pt.wikipedia.org/wiki/QWERTY" TargetMode="External"/><Relationship Id="rId7" Type="http://schemas.openxmlformats.org/officeDocument/2006/relationships/hyperlink" Target="https://www.bringit.com.br/blog/dicas-e-tutoriais-para-notebook/o-que-e-o-teclado-mecanico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810275"/>
            <a:ext cx="8520600" cy="93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0"/>
              <a:t>Teclados</a:t>
            </a:r>
            <a:endParaRPr sz="60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2570250" y="2648150"/>
            <a:ext cx="4003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    Grupo:Arthur Greskiv</a:t>
            </a:r>
            <a:br>
              <a:rPr lang="pt-BR"/>
            </a:br>
            <a:r>
              <a:rPr lang="pt-BR"/>
              <a:t>Yago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2657250" y="163175"/>
            <a:ext cx="3829500" cy="10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0">
                <a:solidFill>
                  <a:srgbClr val="FFE599"/>
                </a:solidFill>
              </a:rPr>
              <a:t>Introdução</a:t>
            </a:r>
            <a:endParaRPr sz="6000">
              <a:solidFill>
                <a:srgbClr val="FFE599"/>
              </a:solidFill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948175"/>
            <a:ext cx="8520600" cy="10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0900">
                <a:solidFill>
                  <a:srgbClr val="F1C232"/>
                </a:solidFill>
                <a:highlight>
                  <a:schemeClr val="dk1"/>
                </a:highlight>
              </a:rPr>
              <a:t>O teclado é um dos periféricos mais importantes na interação entre o ser humano e o computador.</a:t>
            </a:r>
            <a:br>
              <a:rPr lang="pt-BR">
                <a:solidFill>
                  <a:srgbClr val="F1C232"/>
                </a:solidFill>
              </a:rPr>
            </a:br>
            <a:br>
              <a:rPr lang="pt-BR">
                <a:solidFill>
                  <a:srgbClr val="F1C232"/>
                </a:solidFill>
              </a:rPr>
            </a:br>
            <a:endParaRPr>
              <a:solidFill>
                <a:srgbClr val="F1C232"/>
              </a:solidFill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255450" y="3046175"/>
            <a:ext cx="8520600" cy="9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700">
                <a:solidFill>
                  <a:srgbClr val="F1C232"/>
                </a:solidFill>
                <a:highlight>
                  <a:schemeClr val="dk1"/>
                </a:highlight>
              </a:rPr>
              <a:t>É utilizado para digitação, jogos, programação e muito mais.</a:t>
            </a:r>
            <a:endParaRPr sz="2700">
              <a:solidFill>
                <a:srgbClr val="F1C232"/>
              </a:solidFill>
              <a:highlight>
                <a:schemeClr val="dk1"/>
              </a:highlight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255450" y="4051500"/>
            <a:ext cx="8408100" cy="9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700">
                <a:solidFill>
                  <a:srgbClr val="F1C232"/>
                </a:solidFill>
                <a:highlight>
                  <a:schemeClr val="dk1"/>
                </a:highlight>
              </a:rPr>
              <a:t>Evoluiu ao longo das décadas para atender a diferentes demandas.</a:t>
            </a:r>
            <a:endParaRPr sz="2700">
              <a:solidFill>
                <a:srgbClr val="F1C232"/>
              </a:solidFill>
              <a:highlight>
                <a:schemeClr val="dk1"/>
              </a:highlight>
            </a:endParaRPr>
          </a:p>
        </p:txBody>
      </p:sp>
    </p:spTree>
  </p:cSld>
  <p:clrMapOvr>
    <a:masterClrMapping/>
  </p:clrMapOvr>
  <p:transition spd="med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135600" y="0"/>
            <a:ext cx="8751000" cy="10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FFE599"/>
                </a:solidFill>
              </a:rPr>
              <a:t>A Origem do Teclado</a:t>
            </a:r>
            <a:endParaRPr sz="4800">
              <a:solidFill>
                <a:srgbClr val="FFE599"/>
              </a:solidFill>
            </a:endParaRPr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098000"/>
            <a:ext cx="8520600" cy="417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700">
                <a:solidFill>
                  <a:srgbClr val="F1C232"/>
                </a:solidFill>
                <a:highlight>
                  <a:srgbClr val="000000"/>
                </a:highlight>
              </a:rPr>
              <a:t>O primeiro registro foi em 1714, tendo o objetivo de deixar os documentos mais legais e legiveis,a IBM foi uma empresa que se estabeleceu nesse ramo junto a celetric, o teletipo foi uma das principais evoluções para o teclado atual, e um avanço também importante foi os cartões perfurados.</a:t>
            </a:r>
            <a:endParaRPr>
              <a:solidFill>
                <a:srgbClr val="F1C232"/>
              </a:solidFill>
            </a:endParaRPr>
          </a:p>
        </p:txBody>
      </p:sp>
    </p:spTree>
  </p:cSld>
  <p:clrMapOvr>
    <a:masterClrMapping/>
  </p:clrMapOvr>
  <p:transition spd="med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288200" y="0"/>
            <a:ext cx="8520600" cy="129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/>
              <a:t>Como os Teclados Passaram a serem utilizados em computadores?</a:t>
            </a:r>
            <a:endParaRPr sz="3000"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288200" y="1942325"/>
            <a:ext cx="8520600" cy="33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700">
                <a:solidFill>
                  <a:srgbClr val="F1C232"/>
                </a:solidFill>
                <a:highlight>
                  <a:srgbClr val="000000"/>
                </a:highlight>
              </a:rPr>
              <a:t>O binac(1949) usou uma </a:t>
            </a:r>
            <a:r>
              <a:rPr lang="pt-BR" sz="2700">
                <a:solidFill>
                  <a:srgbClr val="F1C232"/>
                </a:solidFill>
                <a:highlight>
                  <a:srgbClr val="000000"/>
                </a:highlight>
              </a:rPr>
              <a:t>máquina</a:t>
            </a:r>
            <a:r>
              <a:rPr lang="pt-BR" sz="2700">
                <a:solidFill>
                  <a:srgbClr val="F1C232"/>
                </a:solidFill>
                <a:highlight>
                  <a:srgbClr val="000000"/>
                </a:highlight>
              </a:rPr>
              <a:t> </a:t>
            </a:r>
            <a:r>
              <a:rPr lang="pt-BR" sz="2700">
                <a:solidFill>
                  <a:srgbClr val="F1C232"/>
                </a:solidFill>
                <a:highlight>
                  <a:srgbClr val="000000"/>
                </a:highlight>
              </a:rPr>
              <a:t>eletromecânica para imprimir resultados,Em 1964 é criado o VDT, em que era digitado algo e aparecia em outro aparelho.</a:t>
            </a:r>
            <a:endParaRPr>
              <a:solidFill>
                <a:srgbClr val="F1C232"/>
              </a:solidFill>
            </a:endParaRPr>
          </a:p>
        </p:txBody>
      </p:sp>
    </p:spTree>
  </p:cSld>
  <p:clrMapOvr>
    <a:masterClrMapping/>
  </p:clrMapOvr>
  <mc:AlternateContent>
    <mc:Choice Requires="p14">
      <p:transition spd="med">
        <p14:flip dir="l"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ctrTitle"/>
          </p:nvPr>
        </p:nvSpPr>
        <p:spPr>
          <a:xfrm>
            <a:off x="311700" y="133925"/>
            <a:ext cx="8520600" cy="73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accent4"/>
                </a:solidFill>
              </a:rPr>
              <a:t>Como funciona um teclado?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81" name="Google Shape;81;p17"/>
          <p:cNvSpPr txBox="1"/>
          <p:nvPr>
            <p:ph idx="1" type="subTitle"/>
          </p:nvPr>
        </p:nvSpPr>
        <p:spPr>
          <a:xfrm>
            <a:off x="311700" y="1366900"/>
            <a:ext cx="8520600" cy="29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chemeClr val="accent6"/>
                </a:solidFill>
                <a:highlight>
                  <a:schemeClr val="dk1"/>
                </a:highlight>
              </a:rPr>
              <a:t>As teclas são ligadas a um chip dentro do teclado, responsável por identificar a tecla pressionada e por enviar as informações para o computador. O meio de transporte dessas informações entre o teclado e o computador pode ser sem fio ou com</a:t>
            </a:r>
            <a:endParaRPr sz="3000">
              <a:solidFill>
                <a:schemeClr val="accent6"/>
              </a:solidFill>
              <a:highlight>
                <a:schemeClr val="dk1"/>
              </a:highlight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ctrTitle"/>
          </p:nvPr>
        </p:nvSpPr>
        <p:spPr>
          <a:xfrm>
            <a:off x="311700" y="133900"/>
            <a:ext cx="85206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741B47"/>
                </a:solidFill>
              </a:rPr>
              <a:t>Máquina de Escreve</a:t>
            </a:r>
            <a:r>
              <a:rPr lang="pt-BR">
                <a:solidFill>
                  <a:srgbClr val="741B47"/>
                </a:solidFill>
                <a:highlight>
                  <a:schemeClr val="dk1"/>
                </a:highlight>
              </a:rPr>
              <a:t>r</a:t>
            </a:r>
            <a:endParaRPr>
              <a:solidFill>
                <a:srgbClr val="741B47"/>
              </a:solidFill>
              <a:highlight>
                <a:schemeClr val="dk1"/>
              </a:highlight>
            </a:endParaRPr>
          </a:p>
        </p:txBody>
      </p:sp>
      <p:sp>
        <p:nvSpPr>
          <p:cNvPr id="87" name="Google Shape;87;p18"/>
          <p:cNvSpPr txBox="1"/>
          <p:nvPr>
            <p:ph idx="1" type="subTitle"/>
          </p:nvPr>
        </p:nvSpPr>
        <p:spPr>
          <a:xfrm>
            <a:off x="464375" y="138970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1C232"/>
                </a:solidFill>
                <a:highlight>
                  <a:schemeClr val="dk1"/>
                </a:highlight>
              </a:rPr>
              <a:t>Inventada </a:t>
            </a:r>
            <a:r>
              <a:rPr lang="pt-BR" sz="1800">
                <a:solidFill>
                  <a:srgbClr val="F1C232"/>
                </a:solidFill>
                <a:highlight>
                  <a:schemeClr val="dk1"/>
                </a:highlight>
              </a:rPr>
              <a:t>no ano </a:t>
            </a:r>
            <a:r>
              <a:rPr lang="pt-BR" sz="1800">
                <a:solidFill>
                  <a:srgbClr val="F1C232"/>
                </a:solidFill>
                <a:highlight>
                  <a:schemeClr val="dk1"/>
                </a:highlight>
              </a:rPr>
              <a:t>de 1867, a máquina de escrever foi o primeiro dispositivo a organizar letras em um layout para facilitar a escrita.</a:t>
            </a:r>
            <a:endParaRPr sz="1800">
              <a:solidFill>
                <a:srgbClr val="F1C232"/>
              </a:solidFill>
              <a:highlight>
                <a:schemeClr val="dk1"/>
              </a:highlight>
            </a:endParaRPr>
          </a:p>
        </p:txBody>
      </p:sp>
      <p:sp>
        <p:nvSpPr>
          <p:cNvPr id="88" name="Google Shape;88;p18"/>
          <p:cNvSpPr txBox="1"/>
          <p:nvPr>
            <p:ph idx="1" type="subTitle"/>
          </p:nvPr>
        </p:nvSpPr>
        <p:spPr>
          <a:xfrm>
            <a:off x="464375" y="21754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1C232"/>
                </a:solidFill>
                <a:highlight>
                  <a:schemeClr val="dk1"/>
                </a:highlight>
              </a:rPr>
              <a:t>Ela utilizava mecanismos mecânicos para pressionar uma fita de tinta contra o papel, imprimindo as letras.</a:t>
            </a:r>
            <a:endParaRPr sz="1800">
              <a:solidFill>
                <a:srgbClr val="F1C232"/>
              </a:solidFill>
              <a:highlight>
                <a:schemeClr val="dk1"/>
              </a:highlight>
            </a:endParaRPr>
          </a:p>
        </p:txBody>
      </p:sp>
      <p:sp>
        <p:nvSpPr>
          <p:cNvPr id="89" name="Google Shape;89;p18"/>
          <p:cNvSpPr txBox="1"/>
          <p:nvPr>
            <p:ph idx="1" type="subTitle"/>
          </p:nvPr>
        </p:nvSpPr>
        <p:spPr>
          <a:xfrm>
            <a:off x="464375" y="29680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1C232"/>
                </a:solidFill>
                <a:highlight>
                  <a:schemeClr val="dk1"/>
                </a:highlight>
              </a:rPr>
              <a:t>Serviu como base para o design dos teclados que conhecemos hoje.</a:t>
            </a:r>
            <a:endParaRPr sz="1800">
              <a:solidFill>
                <a:srgbClr val="F1C232"/>
              </a:solidFill>
              <a:highlight>
                <a:schemeClr val="dk1"/>
              </a:highlight>
            </a:endParaRPr>
          </a:p>
        </p:txBody>
      </p:sp>
      <p:pic>
        <p:nvPicPr>
          <p:cNvPr id="90" name="Google Shape;90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850" y="2524837"/>
            <a:ext cx="3300250" cy="247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29353" y="2363403"/>
            <a:ext cx="2633400" cy="263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64225" y="3091825"/>
            <a:ext cx="240030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/>
          <p:cNvPicPr preferRelativeResize="0"/>
          <p:nvPr/>
        </p:nvPicPr>
        <p:blipFill rotWithShape="1">
          <a:blip r:embed="rId7">
            <a:alphaModFix/>
          </a:blip>
          <a:srcRect b="6990" l="0" r="0" t="-6990"/>
          <a:stretch/>
        </p:blipFill>
        <p:spPr>
          <a:xfrm>
            <a:off x="769675" y="389452"/>
            <a:ext cx="2774482" cy="218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864525" y="469303"/>
            <a:ext cx="2633400" cy="263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med">
        <p14:prism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idx="4294967295" type="title"/>
          </p:nvPr>
        </p:nvSpPr>
        <p:spPr>
          <a:xfrm>
            <a:off x="3128175" y="0"/>
            <a:ext cx="2718900" cy="10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0">
                <a:solidFill>
                  <a:srgbClr val="FFE599"/>
                </a:solidFill>
              </a:rPr>
              <a:t>Qwerty</a:t>
            </a:r>
            <a:endParaRPr sz="6000">
              <a:solidFill>
                <a:srgbClr val="FFE599"/>
              </a:solidFill>
            </a:endParaRPr>
          </a:p>
        </p:txBody>
      </p:sp>
      <p:sp>
        <p:nvSpPr>
          <p:cNvPr id="100" name="Google Shape;100;p19"/>
          <p:cNvSpPr txBox="1"/>
          <p:nvPr>
            <p:ph idx="4294967295" type="body"/>
          </p:nvPr>
        </p:nvSpPr>
        <p:spPr>
          <a:xfrm>
            <a:off x="311700" y="886625"/>
            <a:ext cx="8520600" cy="10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700">
                <a:solidFill>
                  <a:srgbClr val="F1C232"/>
                </a:solidFill>
                <a:highlight>
                  <a:srgbClr val="000000"/>
                </a:highlight>
              </a:rPr>
              <a:t>Projetado por </a:t>
            </a:r>
            <a:r>
              <a:rPr b="1" lang="pt-BR" sz="2700">
                <a:solidFill>
                  <a:srgbClr val="F1C232"/>
                </a:solidFill>
                <a:highlight>
                  <a:srgbClr val="000000"/>
                </a:highlight>
              </a:rPr>
              <a:t>Christopher Latham Sholes</a:t>
            </a:r>
            <a:r>
              <a:rPr lang="pt-BR" sz="2700">
                <a:solidFill>
                  <a:srgbClr val="F1C232"/>
                </a:solidFill>
                <a:highlight>
                  <a:srgbClr val="000000"/>
                </a:highlight>
              </a:rPr>
              <a:t> em 1873.</a:t>
            </a:r>
            <a:br>
              <a:rPr lang="pt-BR">
                <a:solidFill>
                  <a:srgbClr val="F1C232"/>
                </a:solidFill>
              </a:rPr>
            </a:br>
            <a:br>
              <a:rPr lang="pt-BR">
                <a:solidFill>
                  <a:srgbClr val="F1C232"/>
                </a:solidFill>
              </a:rPr>
            </a:br>
            <a:endParaRPr>
              <a:solidFill>
                <a:srgbClr val="F1C232"/>
              </a:solidFill>
            </a:endParaRPr>
          </a:p>
        </p:txBody>
      </p:sp>
      <p:sp>
        <p:nvSpPr>
          <p:cNvPr id="101" name="Google Shape;101;p19"/>
          <p:cNvSpPr txBox="1"/>
          <p:nvPr/>
        </p:nvSpPr>
        <p:spPr>
          <a:xfrm>
            <a:off x="311700" y="1421050"/>
            <a:ext cx="8520600" cy="9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700">
                <a:solidFill>
                  <a:srgbClr val="F1C232"/>
                </a:solidFill>
                <a:highlight>
                  <a:schemeClr val="dk1"/>
                </a:highlight>
              </a:rPr>
              <a:t>Existe a teoria que o layout foi desenvolvido para evitar que as hastes mecânicas das letras mais usadas travassem entre si ao serem pressionadas rapidamente.</a:t>
            </a:r>
            <a:endParaRPr sz="2700">
              <a:solidFill>
                <a:srgbClr val="F1C232"/>
              </a:solidFill>
              <a:highlight>
                <a:schemeClr val="dk1"/>
              </a:highlight>
            </a:endParaRPr>
          </a:p>
        </p:txBody>
      </p:sp>
      <p:sp>
        <p:nvSpPr>
          <p:cNvPr id="102" name="Google Shape;102;p19"/>
          <p:cNvSpPr txBox="1"/>
          <p:nvPr/>
        </p:nvSpPr>
        <p:spPr>
          <a:xfrm>
            <a:off x="224700" y="3066300"/>
            <a:ext cx="8919300" cy="18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700">
                <a:solidFill>
                  <a:srgbClr val="F1C232"/>
                </a:solidFill>
                <a:highlight>
                  <a:schemeClr val="dk1"/>
                </a:highlight>
              </a:rPr>
              <a:t>Apesar de parecer ineficiente em comparação com layouts como Dvorak, o QWERTY se tornou o padrão universal devido à sua adoção nas máquinas de escrever, Esse tema continua sendo bem discutido entre especialistas.</a:t>
            </a:r>
            <a:endParaRPr sz="2700">
              <a:solidFill>
                <a:srgbClr val="F1C232"/>
              </a:solidFill>
              <a:highlight>
                <a:schemeClr val="dk1"/>
              </a:highlight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>
            <p:ph idx="4294967295" type="title"/>
          </p:nvPr>
        </p:nvSpPr>
        <p:spPr>
          <a:xfrm>
            <a:off x="0" y="0"/>
            <a:ext cx="9144000" cy="10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800">
                <a:solidFill>
                  <a:srgbClr val="9900FF"/>
                </a:solidFill>
              </a:rPr>
              <a:t>Teclados Eletrônicos</a:t>
            </a:r>
            <a:r>
              <a:rPr lang="pt-BR" sz="6000">
                <a:solidFill>
                  <a:srgbClr val="9900FF"/>
                </a:solidFill>
              </a:rPr>
              <a:t> (1950s)</a:t>
            </a:r>
            <a:endParaRPr sz="6000">
              <a:solidFill>
                <a:srgbClr val="9900FF"/>
              </a:solidFill>
            </a:endParaRPr>
          </a:p>
        </p:txBody>
      </p:sp>
      <p:sp>
        <p:nvSpPr>
          <p:cNvPr id="108" name="Google Shape;108;p20"/>
          <p:cNvSpPr txBox="1"/>
          <p:nvPr>
            <p:ph idx="4294967295" type="body"/>
          </p:nvPr>
        </p:nvSpPr>
        <p:spPr>
          <a:xfrm>
            <a:off x="311700" y="1098000"/>
            <a:ext cx="8520600" cy="10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700">
                <a:solidFill>
                  <a:srgbClr val="F1C232"/>
                </a:solidFill>
                <a:highlight>
                  <a:srgbClr val="000000"/>
                </a:highlight>
              </a:rPr>
              <a:t>Introduzidos com os primeiros computadores.</a:t>
            </a:r>
            <a:br>
              <a:rPr lang="pt-BR">
                <a:solidFill>
                  <a:srgbClr val="F1C232"/>
                </a:solidFill>
              </a:rPr>
            </a:br>
            <a:br>
              <a:rPr lang="pt-BR">
                <a:solidFill>
                  <a:srgbClr val="F1C232"/>
                </a:solidFill>
              </a:rPr>
            </a:br>
            <a:endParaRPr>
              <a:solidFill>
                <a:srgbClr val="F1C232"/>
              </a:solidFill>
            </a:endParaRPr>
          </a:p>
        </p:txBody>
      </p:sp>
      <p:sp>
        <p:nvSpPr>
          <p:cNvPr id="109" name="Google Shape;109;p20"/>
          <p:cNvSpPr txBox="1"/>
          <p:nvPr/>
        </p:nvSpPr>
        <p:spPr>
          <a:xfrm>
            <a:off x="311700" y="1867150"/>
            <a:ext cx="8520600" cy="9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700">
                <a:solidFill>
                  <a:srgbClr val="F1C232"/>
                </a:solidFill>
                <a:highlight>
                  <a:schemeClr val="dk1"/>
                </a:highlight>
              </a:rPr>
              <a:t>Um exemplo famoso: Teletype(TTY),usados em terminais eletrônicos.</a:t>
            </a:r>
            <a:endParaRPr sz="2700">
              <a:solidFill>
                <a:srgbClr val="F1C232"/>
              </a:solidFill>
              <a:highlight>
                <a:schemeClr val="dk1"/>
              </a:highlight>
            </a:endParaRPr>
          </a:p>
        </p:txBody>
      </p:sp>
      <p:sp>
        <p:nvSpPr>
          <p:cNvPr id="110" name="Google Shape;110;p20"/>
          <p:cNvSpPr txBox="1"/>
          <p:nvPr/>
        </p:nvSpPr>
        <p:spPr>
          <a:xfrm>
            <a:off x="142650" y="4111425"/>
            <a:ext cx="8408100" cy="9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700">
                <a:solidFill>
                  <a:srgbClr val="F1C232"/>
                </a:solidFill>
                <a:highlight>
                  <a:schemeClr val="dk1"/>
                </a:highlight>
              </a:rPr>
              <a:t>Marcou a transição para periféricos conectados a sistemas digitais.</a:t>
            </a:r>
            <a:endParaRPr sz="2700">
              <a:solidFill>
                <a:srgbClr val="F1C232"/>
              </a:solidFill>
              <a:highlight>
                <a:schemeClr val="dk1"/>
              </a:highlight>
            </a:endParaRPr>
          </a:p>
        </p:txBody>
      </p:sp>
      <p:pic>
        <p:nvPicPr>
          <p:cNvPr id="111" name="Google Shape;111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22775" y="2511225"/>
            <a:ext cx="2857500" cy="16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med">
        <p14:gallery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/>
          <p:nvPr>
            <p:ph idx="4294967295" type="title"/>
          </p:nvPr>
        </p:nvSpPr>
        <p:spPr>
          <a:xfrm>
            <a:off x="1090200" y="46975"/>
            <a:ext cx="6963600" cy="10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0">
                <a:solidFill>
                  <a:srgbClr val="FFE599"/>
                </a:solidFill>
              </a:rPr>
              <a:t>Avanço Tecnológico</a:t>
            </a:r>
            <a:endParaRPr sz="6000">
              <a:solidFill>
                <a:srgbClr val="FFE599"/>
              </a:solidFill>
            </a:endParaRPr>
          </a:p>
        </p:txBody>
      </p:sp>
      <p:sp>
        <p:nvSpPr>
          <p:cNvPr id="117" name="Google Shape;117;p21"/>
          <p:cNvSpPr txBox="1"/>
          <p:nvPr>
            <p:ph idx="4294967295" type="body"/>
          </p:nvPr>
        </p:nvSpPr>
        <p:spPr>
          <a:xfrm>
            <a:off x="311700" y="1098000"/>
            <a:ext cx="8520600" cy="10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3850">
                <a:solidFill>
                  <a:srgbClr val="F1C232"/>
                </a:solidFill>
                <a:highlight>
                  <a:srgbClr val="000000"/>
                </a:highlight>
              </a:rPr>
              <a:t>Década de 1970: surgem os teclados de membrana, mais compactos e acessíveis.</a:t>
            </a:r>
            <a:br>
              <a:rPr lang="pt-BR">
                <a:solidFill>
                  <a:srgbClr val="F1C232"/>
                </a:solidFill>
              </a:rPr>
            </a:br>
            <a:br>
              <a:rPr lang="pt-BR">
                <a:solidFill>
                  <a:srgbClr val="F1C232"/>
                </a:solidFill>
              </a:rPr>
            </a:br>
            <a:endParaRPr>
              <a:solidFill>
                <a:srgbClr val="F1C232"/>
              </a:solidFill>
            </a:endParaRPr>
          </a:p>
        </p:txBody>
      </p:sp>
      <p:sp>
        <p:nvSpPr>
          <p:cNvPr id="118" name="Google Shape;118;p21"/>
          <p:cNvSpPr txBox="1"/>
          <p:nvPr/>
        </p:nvSpPr>
        <p:spPr>
          <a:xfrm>
            <a:off x="311700" y="1867150"/>
            <a:ext cx="8520600" cy="9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700">
                <a:solidFill>
                  <a:srgbClr val="F1C232"/>
                </a:solidFill>
                <a:highlight>
                  <a:schemeClr val="dk1"/>
                </a:highlight>
              </a:rPr>
              <a:t>Hoje: tecnologias híbridas combinam mecânicos, ópticos e sem fio.</a:t>
            </a:r>
            <a:endParaRPr sz="2700">
              <a:solidFill>
                <a:srgbClr val="F1C232"/>
              </a:solidFill>
              <a:highlight>
                <a:schemeClr val="dk1"/>
              </a:highlight>
            </a:endParaRPr>
          </a:p>
        </p:txBody>
      </p:sp>
      <p:sp>
        <p:nvSpPr>
          <p:cNvPr id="119" name="Google Shape;119;p21"/>
          <p:cNvSpPr txBox="1"/>
          <p:nvPr/>
        </p:nvSpPr>
        <p:spPr>
          <a:xfrm>
            <a:off x="236600" y="3101525"/>
            <a:ext cx="8408100" cy="9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700">
                <a:solidFill>
                  <a:srgbClr val="F1C232"/>
                </a:solidFill>
                <a:highlight>
                  <a:schemeClr val="dk1"/>
                </a:highlight>
              </a:rPr>
              <a:t>Exemplo: teclados RGB para gamers e profissionais.</a:t>
            </a:r>
            <a:endParaRPr sz="2700">
              <a:solidFill>
                <a:srgbClr val="F1C232"/>
              </a:solidFill>
              <a:highlight>
                <a:schemeClr val="dk1"/>
              </a:highlight>
            </a:endParaRPr>
          </a:p>
        </p:txBody>
      </p:sp>
      <p:pic>
        <p:nvPicPr>
          <p:cNvPr id="120" name="Google Shape;120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89725" y="1194550"/>
            <a:ext cx="2857500" cy="16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med">
        <p14:flip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 txBox="1"/>
          <p:nvPr>
            <p:ph idx="4294967295" type="title"/>
          </p:nvPr>
        </p:nvSpPr>
        <p:spPr>
          <a:xfrm>
            <a:off x="2428250" y="0"/>
            <a:ext cx="4024800" cy="10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0">
                <a:solidFill>
                  <a:srgbClr val="9900FF"/>
                </a:solidFill>
              </a:rPr>
              <a:t>Conclusão</a:t>
            </a:r>
            <a:endParaRPr sz="6000">
              <a:solidFill>
                <a:srgbClr val="9900FF"/>
              </a:solidFill>
            </a:endParaRPr>
          </a:p>
        </p:txBody>
      </p:sp>
      <p:sp>
        <p:nvSpPr>
          <p:cNvPr id="126" name="Google Shape;126;p22"/>
          <p:cNvSpPr txBox="1"/>
          <p:nvPr>
            <p:ph idx="4294967295" type="body"/>
          </p:nvPr>
        </p:nvSpPr>
        <p:spPr>
          <a:xfrm>
            <a:off x="311700" y="1098000"/>
            <a:ext cx="8520600" cy="10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700">
                <a:solidFill>
                  <a:srgbClr val="F1C232"/>
                </a:solidFill>
                <a:highlight>
                  <a:srgbClr val="000000"/>
                </a:highlight>
              </a:rPr>
              <a:t>O teclado é uma ferramenta indispensável que evoluiu para atender diferentes necessidades.</a:t>
            </a:r>
            <a:br>
              <a:rPr lang="pt-BR">
                <a:solidFill>
                  <a:srgbClr val="F1C232"/>
                </a:solidFill>
              </a:rPr>
            </a:br>
            <a:br>
              <a:rPr lang="pt-BR">
                <a:solidFill>
                  <a:srgbClr val="F1C232"/>
                </a:solidFill>
              </a:rPr>
            </a:br>
            <a:endParaRPr>
              <a:solidFill>
                <a:srgbClr val="F1C232"/>
              </a:solidFill>
            </a:endParaRPr>
          </a:p>
        </p:txBody>
      </p:sp>
      <p:sp>
        <p:nvSpPr>
          <p:cNvPr id="127" name="Google Shape;127;p22"/>
          <p:cNvSpPr txBox="1"/>
          <p:nvPr/>
        </p:nvSpPr>
        <p:spPr>
          <a:xfrm>
            <a:off x="311700" y="1867150"/>
            <a:ext cx="8520600" cy="9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700">
                <a:solidFill>
                  <a:srgbClr val="F1C232"/>
                </a:solidFill>
                <a:highlight>
                  <a:schemeClr val="dk1"/>
                </a:highlight>
              </a:rPr>
              <a:t>Seja para trabalho, jogos ou mobilidade, há um teclado ideal para cada situação.</a:t>
            </a:r>
            <a:endParaRPr sz="2700">
              <a:solidFill>
                <a:srgbClr val="F1C232"/>
              </a:solidFill>
              <a:highlight>
                <a:schemeClr val="dk1"/>
              </a:highlight>
            </a:endParaRPr>
          </a:p>
        </p:txBody>
      </p:sp>
      <p:sp>
        <p:nvSpPr>
          <p:cNvPr id="128" name="Google Shape;128;p22"/>
          <p:cNvSpPr txBox="1"/>
          <p:nvPr/>
        </p:nvSpPr>
        <p:spPr>
          <a:xfrm>
            <a:off x="236600" y="3336400"/>
            <a:ext cx="8408100" cy="9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700">
                <a:solidFill>
                  <a:srgbClr val="F1C232"/>
                </a:solidFill>
                <a:highlight>
                  <a:schemeClr val="dk1"/>
                </a:highlight>
              </a:rPr>
              <a:t>Sua história reflete a evolução da interação humana com a tecnologia.</a:t>
            </a:r>
            <a:endParaRPr sz="2700">
              <a:solidFill>
                <a:srgbClr val="F1C232"/>
              </a:solidFill>
              <a:highlight>
                <a:schemeClr val="dk1"/>
              </a:highlight>
            </a:endParaRPr>
          </a:p>
        </p:txBody>
      </p:sp>
    </p:spTree>
  </p:cSld>
  <p:clrMapOvr>
    <a:masterClrMapping/>
  </p:clrMapOvr>
  <mc:AlternateContent>
    <mc:Choice Requires="p14">
      <p:transition spd="med">
        <p14:prism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 txBox="1"/>
          <p:nvPr>
            <p:ph type="ctrTitle"/>
          </p:nvPr>
        </p:nvSpPr>
        <p:spPr>
          <a:xfrm>
            <a:off x="311700" y="0"/>
            <a:ext cx="85206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Referências</a:t>
            </a:r>
            <a:endParaRPr/>
          </a:p>
        </p:txBody>
      </p:sp>
      <p:sp>
        <p:nvSpPr>
          <p:cNvPr id="134" name="Google Shape;134;p23"/>
          <p:cNvSpPr txBox="1"/>
          <p:nvPr>
            <p:ph idx="1" type="subTitle"/>
          </p:nvPr>
        </p:nvSpPr>
        <p:spPr>
          <a:xfrm>
            <a:off x="0" y="792600"/>
            <a:ext cx="9144000" cy="43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u="sng">
                <a:solidFill>
                  <a:schemeClr val="hlink"/>
                </a:solidFill>
                <a:hlinkClick r:id="rId3"/>
              </a:rPr>
              <a:t>https://www.youtube.com/watch?v=Zo4kR8Q1qWE</a:t>
            </a:r>
            <a:br>
              <a:rPr lang="pt-BR"/>
            </a:br>
            <a:br>
              <a:rPr lang="pt-BR"/>
            </a:br>
            <a:r>
              <a:rPr lang="pt-BR" sz="1800" u="sng">
                <a:solidFill>
                  <a:schemeClr val="hlink"/>
                </a:solidFill>
                <a:hlinkClick r:id="rId4"/>
              </a:rPr>
              <a:t>https://pt.wikipedia.org/wiki/Teclado_(inform%C3%A1tica)</a:t>
            </a:r>
            <a:br>
              <a:rPr lang="pt-BR" sz="1800"/>
            </a:br>
            <a:br>
              <a:rPr lang="pt-BR" sz="1800"/>
            </a:br>
            <a:r>
              <a:rPr lang="pt-BR" sz="1800" u="sng">
                <a:solidFill>
                  <a:schemeClr val="hlink"/>
                </a:solidFill>
                <a:hlinkClick r:id="rId5"/>
              </a:rPr>
              <a:t>https://pt.wikipedia.org/wiki/M%C3%A1quina_de_escrever</a:t>
            </a:r>
            <a:br>
              <a:rPr lang="pt-BR" sz="1800"/>
            </a:br>
            <a:br>
              <a:rPr lang="pt-BR" sz="1800"/>
            </a:br>
            <a:r>
              <a:rPr lang="pt-BR" sz="1800" u="sng">
                <a:solidFill>
                  <a:schemeClr val="hlink"/>
                </a:solidFill>
                <a:hlinkClick r:id="rId6"/>
              </a:rPr>
              <a:t>https://pt.wikipedia.org/wiki/QWERTY</a:t>
            </a:r>
            <a:endParaRPr sz="1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lang="pt-BR" sz="1800"/>
            </a:br>
            <a:r>
              <a:rPr lang="pt-BR" sz="1800" u="sng">
                <a:solidFill>
                  <a:schemeClr val="hlink"/>
                </a:solidFill>
                <a:hlinkClick r:id="rId7"/>
              </a:rPr>
              <a:t>https://www.bringit.com.br/blog/dicas-e-tutoriais-para-notebook/o-que-e-o-teclado-mecanico/</a:t>
            </a:r>
            <a:br>
              <a:rPr lang="pt-BR" sz="1800"/>
            </a:br>
            <a:br>
              <a:rPr lang="pt-BR" sz="1800"/>
            </a:br>
            <a:r>
              <a:rPr lang="pt-BR" sz="1800"/>
              <a:t>algumas correções e </a:t>
            </a:r>
            <a:r>
              <a:rPr lang="pt-BR" sz="1800"/>
              <a:t>referências</a:t>
            </a:r>
            <a:r>
              <a:rPr lang="pt-BR" sz="1800"/>
              <a:t> do chat gpt</a:t>
            </a:r>
            <a:endParaRPr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