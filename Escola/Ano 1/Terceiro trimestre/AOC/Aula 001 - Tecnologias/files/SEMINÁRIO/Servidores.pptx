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sldIdLst>
    <p:sldId id="256" r:id="rId2"/>
    <p:sldId id="275" r:id="rId3"/>
    <p:sldId id="277" r:id="rId4"/>
    <p:sldId id="261" r:id="rId5"/>
    <p:sldId id="278" r:id="rId6"/>
    <p:sldId id="262" r:id="rId7"/>
    <p:sldId id="263" r:id="rId8"/>
    <p:sldId id="276" r:id="rId9"/>
    <p:sldId id="264" r:id="rId10"/>
    <p:sldId id="265" r:id="rId11"/>
    <p:sldId id="266" r:id="rId12"/>
    <p:sldId id="267" r:id="rId13"/>
    <p:sldId id="268" r:id="rId14"/>
    <p:sldId id="269" r:id="rId15"/>
    <p:sldId id="270" r:id="rId16"/>
    <p:sldId id="271" r:id="rId17"/>
    <p:sldId id="272" r:id="rId18"/>
    <p:sldId id="280"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8ED477-B2BF-4CC0-8F4D-79C6812A7F90}"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pt-BR"/>
        </a:p>
      </dgm:t>
    </dgm:pt>
    <dgm:pt modelId="{1432278C-5718-4C38-AB7C-E4B85D3664CD}">
      <dgm:prSet custT="1"/>
      <dgm:spPr/>
      <dgm:t>
        <a:bodyPr anchor="ctr"/>
        <a:lstStyle/>
        <a:p>
          <a:pPr algn="ctr"/>
          <a:r>
            <a:rPr lang="pt-BR" sz="1200" dirty="0"/>
            <a:t>O surgimento dos primeiros servidores não se tem uma data especifica, porque ele foi o resultado de um conjunto de avanços ao longo do tempo. A base para o desenvolvimento dos servidores é em meados de 1965, quando cientista americanos a conectar computadores via linhas telefônicas </a:t>
          </a:r>
          <a:r>
            <a:rPr lang="pt-BR" sz="1200" dirty="0" err="1"/>
            <a:t>mucomeçaramito</a:t>
          </a:r>
          <a:r>
            <a:rPr lang="pt-BR" sz="1200" dirty="0"/>
            <a:t> lentas. Em 69, com o lançamento da ARPANET (antecessora da internet), isso com o tempo foi evoluindo e protocolos como e-mail, Telnet e FTP foram criados, introduzindo assim o modelo cliente/servidor. Documentos da época já falavam termos como "server-host" e "</a:t>
          </a:r>
          <a:r>
            <a:rPr lang="pt-BR" sz="1200" dirty="0" err="1"/>
            <a:t>user</a:t>
          </a:r>
          <a:r>
            <a:rPr lang="pt-BR" sz="1200" dirty="0"/>
            <a:t>-host", caracterizando esse modelo.</a:t>
          </a:r>
        </a:p>
      </dgm:t>
    </dgm:pt>
    <dgm:pt modelId="{F8E5D603-9895-4C01-9D8D-426DAE75982D}" type="parTrans" cxnId="{324420F9-42BA-49E7-BD12-93D28DC23D5F}">
      <dgm:prSet/>
      <dgm:spPr/>
      <dgm:t>
        <a:bodyPr/>
        <a:lstStyle/>
        <a:p>
          <a:endParaRPr lang="pt-BR"/>
        </a:p>
      </dgm:t>
    </dgm:pt>
    <dgm:pt modelId="{D8400688-364C-4068-9EA6-6E3BF62867C1}" type="sibTrans" cxnId="{324420F9-42BA-49E7-BD12-93D28DC23D5F}">
      <dgm:prSet/>
      <dgm:spPr/>
      <dgm:t>
        <a:bodyPr/>
        <a:lstStyle/>
        <a:p>
          <a:endParaRPr lang="pt-BR"/>
        </a:p>
      </dgm:t>
    </dgm:pt>
    <dgm:pt modelId="{ADE8C981-9E25-4790-9684-A4F82F3DA7C8}">
      <dgm:prSet custT="1"/>
      <dgm:spPr/>
      <dgm:t>
        <a:bodyPr anchor="ctr"/>
        <a:lstStyle/>
        <a:p>
          <a:pPr algn="ctr"/>
          <a:r>
            <a:rPr lang="pt-BR" sz="1200" dirty="0"/>
            <a:t>Ao mesmo tempo, os modelos baseados em mainframes começaram a se tornar menos utilizados, e o modelo cliente/servidor, mais eficiente e econômico, ganhou destaque. EM 1971, a Intel cria seu primeiro processador, assim substituindo circuitos integrados, possibilitando a criação de computadores menores e melhores. Essas inovações tecnológicas permitiram a implementação de servidores mais acessíveis e com maior segurança, superando as limitações dos antigos mainframes.</a:t>
          </a:r>
        </a:p>
      </dgm:t>
    </dgm:pt>
    <dgm:pt modelId="{037E82E1-0C8A-44E9-B3F2-AB77D0FA7E0B}" type="parTrans" cxnId="{441BFFA8-6716-4B69-8B39-5750F1B8464E}">
      <dgm:prSet/>
      <dgm:spPr/>
      <dgm:t>
        <a:bodyPr/>
        <a:lstStyle/>
        <a:p>
          <a:endParaRPr lang="pt-BR"/>
        </a:p>
      </dgm:t>
    </dgm:pt>
    <dgm:pt modelId="{CF7CE03A-9F04-4EAB-856F-7B0E481DF18D}" type="sibTrans" cxnId="{441BFFA8-6716-4B69-8B39-5750F1B8464E}">
      <dgm:prSet/>
      <dgm:spPr/>
      <dgm:t>
        <a:bodyPr/>
        <a:lstStyle/>
        <a:p>
          <a:endParaRPr lang="pt-BR"/>
        </a:p>
      </dgm:t>
    </dgm:pt>
    <dgm:pt modelId="{F24EB376-E5B7-4FA8-99FE-D6EA863AF530}" type="pres">
      <dgm:prSet presAssocID="{FE8ED477-B2BF-4CC0-8F4D-79C6812A7F90}" presName="Name0" presStyleCnt="0">
        <dgm:presLayoutVars>
          <dgm:dir/>
          <dgm:resizeHandles val="exact"/>
        </dgm:presLayoutVars>
      </dgm:prSet>
      <dgm:spPr/>
    </dgm:pt>
    <dgm:pt modelId="{45E45332-D310-41A9-9872-8B54DAB19369}" type="pres">
      <dgm:prSet presAssocID="{FE8ED477-B2BF-4CC0-8F4D-79C6812A7F90}" presName="arrow" presStyleLbl="bgShp" presStyleIdx="0" presStyleCnt="1"/>
      <dgm:spPr/>
    </dgm:pt>
    <dgm:pt modelId="{D918B899-35B1-459B-A5AB-BD90F4A639E5}" type="pres">
      <dgm:prSet presAssocID="{FE8ED477-B2BF-4CC0-8F4D-79C6812A7F90}" presName="points" presStyleCnt="0"/>
      <dgm:spPr/>
    </dgm:pt>
    <dgm:pt modelId="{8C7C2DF4-A031-4DB8-9749-EB96A1B4272C}" type="pres">
      <dgm:prSet presAssocID="{1432278C-5718-4C38-AB7C-E4B85D3664CD}" presName="compositeA" presStyleCnt="0"/>
      <dgm:spPr/>
    </dgm:pt>
    <dgm:pt modelId="{1E4C2E23-1882-4731-8653-1649F70FE9B4}" type="pres">
      <dgm:prSet presAssocID="{1432278C-5718-4C38-AB7C-E4B85D3664CD}" presName="textA" presStyleLbl="revTx" presStyleIdx="0" presStyleCnt="2">
        <dgm:presLayoutVars>
          <dgm:bulletEnabled val="1"/>
        </dgm:presLayoutVars>
      </dgm:prSet>
      <dgm:spPr/>
    </dgm:pt>
    <dgm:pt modelId="{957BF2A6-AD81-4E2D-8AC0-F0A87BB5FDA3}" type="pres">
      <dgm:prSet presAssocID="{1432278C-5718-4C38-AB7C-E4B85D3664CD}" presName="circleA" presStyleLbl="node1" presStyleIdx="0" presStyleCnt="2"/>
      <dgm:spPr/>
    </dgm:pt>
    <dgm:pt modelId="{EE02C1C2-BE50-46FE-8C1C-6A72DB2B7B76}" type="pres">
      <dgm:prSet presAssocID="{1432278C-5718-4C38-AB7C-E4B85D3664CD}" presName="spaceA" presStyleCnt="0"/>
      <dgm:spPr/>
    </dgm:pt>
    <dgm:pt modelId="{1BEEBE22-FB60-4863-9B71-69CB8BEF8103}" type="pres">
      <dgm:prSet presAssocID="{D8400688-364C-4068-9EA6-6E3BF62867C1}" presName="space" presStyleCnt="0"/>
      <dgm:spPr/>
    </dgm:pt>
    <dgm:pt modelId="{D73CAF3F-E7E9-43A7-BEBB-350FD0D65A65}" type="pres">
      <dgm:prSet presAssocID="{ADE8C981-9E25-4790-9684-A4F82F3DA7C8}" presName="compositeB" presStyleCnt="0"/>
      <dgm:spPr/>
    </dgm:pt>
    <dgm:pt modelId="{F7D88270-FE7A-43A8-B62C-D59E01B174C0}" type="pres">
      <dgm:prSet presAssocID="{ADE8C981-9E25-4790-9684-A4F82F3DA7C8}" presName="textB" presStyleLbl="revTx" presStyleIdx="1" presStyleCnt="2">
        <dgm:presLayoutVars>
          <dgm:bulletEnabled val="1"/>
        </dgm:presLayoutVars>
      </dgm:prSet>
      <dgm:spPr/>
    </dgm:pt>
    <dgm:pt modelId="{B7CABCB3-10E6-4B65-9139-C6D65A45178F}" type="pres">
      <dgm:prSet presAssocID="{ADE8C981-9E25-4790-9684-A4F82F3DA7C8}" presName="circleB" presStyleLbl="node1" presStyleIdx="1" presStyleCnt="2"/>
      <dgm:spPr/>
    </dgm:pt>
    <dgm:pt modelId="{C9638F75-10EC-4A60-A94C-19D4AFF5F2B1}" type="pres">
      <dgm:prSet presAssocID="{ADE8C981-9E25-4790-9684-A4F82F3DA7C8}" presName="spaceB" presStyleCnt="0"/>
      <dgm:spPr/>
    </dgm:pt>
  </dgm:ptLst>
  <dgm:cxnLst>
    <dgm:cxn modelId="{D922C623-B3C1-434A-901A-2A95EEA2EFEE}" type="presOf" srcId="{1432278C-5718-4C38-AB7C-E4B85D3664CD}" destId="{1E4C2E23-1882-4731-8653-1649F70FE9B4}" srcOrd="0" destOrd="0" presId="urn:microsoft.com/office/officeart/2005/8/layout/hProcess11"/>
    <dgm:cxn modelId="{441BFFA8-6716-4B69-8B39-5750F1B8464E}" srcId="{FE8ED477-B2BF-4CC0-8F4D-79C6812A7F90}" destId="{ADE8C981-9E25-4790-9684-A4F82F3DA7C8}" srcOrd="1" destOrd="0" parTransId="{037E82E1-0C8A-44E9-B3F2-AB77D0FA7E0B}" sibTransId="{CF7CE03A-9F04-4EAB-856F-7B0E481DF18D}"/>
    <dgm:cxn modelId="{D32B35AC-9B03-459A-A907-80D698033ECC}" type="presOf" srcId="{FE8ED477-B2BF-4CC0-8F4D-79C6812A7F90}" destId="{F24EB376-E5B7-4FA8-99FE-D6EA863AF530}" srcOrd="0" destOrd="0" presId="urn:microsoft.com/office/officeart/2005/8/layout/hProcess11"/>
    <dgm:cxn modelId="{DE5960BC-DD20-4D83-ACA0-30DD2CD6A106}" type="presOf" srcId="{ADE8C981-9E25-4790-9684-A4F82F3DA7C8}" destId="{F7D88270-FE7A-43A8-B62C-D59E01B174C0}" srcOrd="0" destOrd="0" presId="urn:microsoft.com/office/officeart/2005/8/layout/hProcess11"/>
    <dgm:cxn modelId="{324420F9-42BA-49E7-BD12-93D28DC23D5F}" srcId="{FE8ED477-B2BF-4CC0-8F4D-79C6812A7F90}" destId="{1432278C-5718-4C38-AB7C-E4B85D3664CD}" srcOrd="0" destOrd="0" parTransId="{F8E5D603-9895-4C01-9D8D-426DAE75982D}" sibTransId="{D8400688-364C-4068-9EA6-6E3BF62867C1}"/>
    <dgm:cxn modelId="{DBC0A28B-ED31-4E2F-A46C-3D7BF462D186}" type="presParOf" srcId="{F24EB376-E5B7-4FA8-99FE-D6EA863AF530}" destId="{45E45332-D310-41A9-9872-8B54DAB19369}" srcOrd="0" destOrd="0" presId="urn:microsoft.com/office/officeart/2005/8/layout/hProcess11"/>
    <dgm:cxn modelId="{FB480CCD-AA91-4432-AC84-0004A8C3B831}" type="presParOf" srcId="{F24EB376-E5B7-4FA8-99FE-D6EA863AF530}" destId="{D918B899-35B1-459B-A5AB-BD90F4A639E5}" srcOrd="1" destOrd="0" presId="urn:microsoft.com/office/officeart/2005/8/layout/hProcess11"/>
    <dgm:cxn modelId="{031352DB-3D48-45BD-91E7-55BCC51EEB75}" type="presParOf" srcId="{D918B899-35B1-459B-A5AB-BD90F4A639E5}" destId="{8C7C2DF4-A031-4DB8-9749-EB96A1B4272C}" srcOrd="0" destOrd="0" presId="urn:microsoft.com/office/officeart/2005/8/layout/hProcess11"/>
    <dgm:cxn modelId="{B347B673-23FF-46C4-A9C9-7E8287A8110D}" type="presParOf" srcId="{8C7C2DF4-A031-4DB8-9749-EB96A1B4272C}" destId="{1E4C2E23-1882-4731-8653-1649F70FE9B4}" srcOrd="0" destOrd="0" presId="urn:microsoft.com/office/officeart/2005/8/layout/hProcess11"/>
    <dgm:cxn modelId="{31B96709-4374-4F2A-A244-D15DF22089DE}" type="presParOf" srcId="{8C7C2DF4-A031-4DB8-9749-EB96A1B4272C}" destId="{957BF2A6-AD81-4E2D-8AC0-F0A87BB5FDA3}" srcOrd="1" destOrd="0" presId="urn:microsoft.com/office/officeart/2005/8/layout/hProcess11"/>
    <dgm:cxn modelId="{7CDBAFF4-1DF2-4E2F-BA43-38A7F1F9EC40}" type="presParOf" srcId="{8C7C2DF4-A031-4DB8-9749-EB96A1B4272C}" destId="{EE02C1C2-BE50-46FE-8C1C-6A72DB2B7B76}" srcOrd="2" destOrd="0" presId="urn:microsoft.com/office/officeart/2005/8/layout/hProcess11"/>
    <dgm:cxn modelId="{BFB08B74-5E96-4AD5-AEB8-9A6FD84CEBEF}" type="presParOf" srcId="{D918B899-35B1-459B-A5AB-BD90F4A639E5}" destId="{1BEEBE22-FB60-4863-9B71-69CB8BEF8103}" srcOrd="1" destOrd="0" presId="urn:microsoft.com/office/officeart/2005/8/layout/hProcess11"/>
    <dgm:cxn modelId="{FD72CCB8-386E-40C7-9BDF-5BD6C15DBE4B}" type="presParOf" srcId="{D918B899-35B1-459B-A5AB-BD90F4A639E5}" destId="{D73CAF3F-E7E9-43A7-BEBB-350FD0D65A65}" srcOrd="2" destOrd="0" presId="urn:microsoft.com/office/officeart/2005/8/layout/hProcess11"/>
    <dgm:cxn modelId="{E26890EE-2F2A-4B88-BBD1-26F8B25E5D10}" type="presParOf" srcId="{D73CAF3F-E7E9-43A7-BEBB-350FD0D65A65}" destId="{F7D88270-FE7A-43A8-B62C-D59E01B174C0}" srcOrd="0" destOrd="0" presId="urn:microsoft.com/office/officeart/2005/8/layout/hProcess11"/>
    <dgm:cxn modelId="{012804A2-9AA6-4C3C-B6EC-BE30931E6B02}" type="presParOf" srcId="{D73CAF3F-E7E9-43A7-BEBB-350FD0D65A65}" destId="{B7CABCB3-10E6-4B65-9139-C6D65A45178F}" srcOrd="1" destOrd="0" presId="urn:microsoft.com/office/officeart/2005/8/layout/hProcess11"/>
    <dgm:cxn modelId="{648C73EB-4504-401B-8EB2-2DBA138742BC}" type="presParOf" srcId="{D73CAF3F-E7E9-43A7-BEBB-350FD0D65A65}" destId="{C9638F75-10EC-4A60-A94C-19D4AFF5F2B1}"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33BDBF-1B7B-4492-8987-23EA8F525CB6}"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pt-BR"/>
        </a:p>
      </dgm:t>
    </dgm:pt>
    <dgm:pt modelId="{1415FD0F-8FDC-4EDF-8110-687C96426BF1}">
      <dgm:prSet/>
      <dgm:spPr/>
      <dgm:t>
        <a:bodyPr/>
        <a:lstStyle/>
        <a:p>
          <a:r>
            <a:rPr lang="pt-BR"/>
            <a:t>A evolução tecnológica dos servidores e dos processadores desde o final dos anos 70 até o início dos anos 80, é feita por causa da competição entre diversas empresas de tecnologia como IBM, Intel, AMD, Zilog, Motorola, NEC, entre outras.</a:t>
          </a:r>
        </a:p>
      </dgm:t>
    </dgm:pt>
    <dgm:pt modelId="{D49E8DA9-D0CA-4BFA-9106-10DF4837EA50}" type="parTrans" cxnId="{E7601456-F69A-4146-8D7B-B71A95BCB983}">
      <dgm:prSet/>
      <dgm:spPr/>
      <dgm:t>
        <a:bodyPr/>
        <a:lstStyle/>
        <a:p>
          <a:endParaRPr lang="pt-BR"/>
        </a:p>
      </dgm:t>
    </dgm:pt>
    <dgm:pt modelId="{1E3323FB-AF6E-4512-BA84-9A5AB6742BCB}" type="sibTrans" cxnId="{E7601456-F69A-4146-8D7B-B71A95BCB983}">
      <dgm:prSet/>
      <dgm:spPr/>
      <dgm:t>
        <a:bodyPr/>
        <a:lstStyle/>
        <a:p>
          <a:endParaRPr lang="pt-BR"/>
        </a:p>
      </dgm:t>
    </dgm:pt>
    <dgm:pt modelId="{0ED8A0F5-CF27-4FBB-B97C-2511C17B4CDA}">
      <dgm:prSet/>
      <dgm:spPr/>
      <dgm:t>
        <a:bodyPr/>
        <a:lstStyle/>
        <a:p>
          <a:r>
            <a:rPr lang="pt-BR"/>
            <a:t>Em 1978, a Intel lançou o processador 8086, que se tornou a base da arquitetura usada até hoje na maioria dos processadores de servidores, PCs e notebooks. O IBM PC, lançado em 1981, usava o processador 8088, uma versão de 8 bits do 8086. Com uma competição intensa entre as empresas gerou uma diversidade de opções e arquiteturas de processadores, o que impulsionou o avanço das memórias, formas de armazenamento e a comunicação entre dispositivos.</a:t>
          </a:r>
        </a:p>
      </dgm:t>
    </dgm:pt>
    <dgm:pt modelId="{8F54709E-27A9-44E2-BDD8-014AF07108C1}" type="parTrans" cxnId="{03016CD7-B590-446F-A2C0-27F356375799}">
      <dgm:prSet/>
      <dgm:spPr/>
      <dgm:t>
        <a:bodyPr/>
        <a:lstStyle/>
        <a:p>
          <a:endParaRPr lang="pt-BR"/>
        </a:p>
      </dgm:t>
    </dgm:pt>
    <dgm:pt modelId="{F505981D-E477-4FA7-B3E2-69D8436D9845}" type="sibTrans" cxnId="{03016CD7-B590-446F-A2C0-27F356375799}">
      <dgm:prSet/>
      <dgm:spPr/>
      <dgm:t>
        <a:bodyPr/>
        <a:lstStyle/>
        <a:p>
          <a:endParaRPr lang="pt-BR"/>
        </a:p>
      </dgm:t>
    </dgm:pt>
    <dgm:pt modelId="{B2AA0CFF-D91C-48F9-A9E6-1B861BA2F048}">
      <dgm:prSet/>
      <dgm:spPr/>
      <dgm:t>
        <a:bodyPr/>
        <a:lstStyle/>
        <a:p>
          <a:r>
            <a:rPr lang="pt-BR"/>
            <a:t>Esses avanços possibilitam a miniaturização dos equipamentos e tornam os computadores mais acessíveis. Nos anos 80, isso resultou na popularização dos PCs em residências e empresas, e na viabilização econômica dos primeiros servidores. Esse período marcou um ponto de transformação irreversível na indústria da computação, que continuou a evoluir rapidamente a partir daí.</a:t>
          </a:r>
        </a:p>
      </dgm:t>
    </dgm:pt>
    <dgm:pt modelId="{3F58D7D4-3FDB-43E7-BE44-951B0411FC4E}" type="parTrans" cxnId="{6BDB1EEC-BCF0-4FDE-BF17-668CF084FB46}">
      <dgm:prSet/>
      <dgm:spPr/>
      <dgm:t>
        <a:bodyPr/>
        <a:lstStyle/>
        <a:p>
          <a:endParaRPr lang="pt-BR"/>
        </a:p>
      </dgm:t>
    </dgm:pt>
    <dgm:pt modelId="{15F2D55E-2831-429D-8E6A-5CA9C27F5640}" type="sibTrans" cxnId="{6BDB1EEC-BCF0-4FDE-BF17-668CF084FB46}">
      <dgm:prSet/>
      <dgm:spPr/>
      <dgm:t>
        <a:bodyPr/>
        <a:lstStyle/>
        <a:p>
          <a:endParaRPr lang="pt-BR"/>
        </a:p>
      </dgm:t>
    </dgm:pt>
    <dgm:pt modelId="{82A3E436-4A17-43B2-B7A1-B13319DC7F9B}" type="pres">
      <dgm:prSet presAssocID="{4233BDBF-1B7B-4492-8987-23EA8F525CB6}" presName="Name0" presStyleCnt="0">
        <dgm:presLayoutVars>
          <dgm:dir/>
          <dgm:resizeHandles val="exact"/>
        </dgm:presLayoutVars>
      </dgm:prSet>
      <dgm:spPr/>
    </dgm:pt>
    <dgm:pt modelId="{C05419E7-C4C9-4F2D-8C9C-16CCF5513816}" type="pres">
      <dgm:prSet presAssocID="{1415FD0F-8FDC-4EDF-8110-687C96426BF1}" presName="node" presStyleLbl="node1" presStyleIdx="0" presStyleCnt="3">
        <dgm:presLayoutVars>
          <dgm:bulletEnabled val="1"/>
        </dgm:presLayoutVars>
      </dgm:prSet>
      <dgm:spPr/>
    </dgm:pt>
    <dgm:pt modelId="{0C4B8AA8-A316-4FA9-9798-033A47B44689}" type="pres">
      <dgm:prSet presAssocID="{1E3323FB-AF6E-4512-BA84-9A5AB6742BCB}" presName="sibTrans" presStyleLbl="sibTrans2D1" presStyleIdx="0" presStyleCnt="2"/>
      <dgm:spPr/>
    </dgm:pt>
    <dgm:pt modelId="{D84A2AA9-448E-4BBC-910D-AB10D6BA16FE}" type="pres">
      <dgm:prSet presAssocID="{1E3323FB-AF6E-4512-BA84-9A5AB6742BCB}" presName="connectorText" presStyleLbl="sibTrans2D1" presStyleIdx="0" presStyleCnt="2"/>
      <dgm:spPr/>
    </dgm:pt>
    <dgm:pt modelId="{26F500CA-4577-4D34-80E2-52E3354BB0B3}" type="pres">
      <dgm:prSet presAssocID="{0ED8A0F5-CF27-4FBB-B97C-2511C17B4CDA}" presName="node" presStyleLbl="node1" presStyleIdx="1" presStyleCnt="3">
        <dgm:presLayoutVars>
          <dgm:bulletEnabled val="1"/>
        </dgm:presLayoutVars>
      </dgm:prSet>
      <dgm:spPr/>
    </dgm:pt>
    <dgm:pt modelId="{CEE96EB3-1088-4695-A594-DA0DA9C75C38}" type="pres">
      <dgm:prSet presAssocID="{F505981D-E477-4FA7-B3E2-69D8436D9845}" presName="sibTrans" presStyleLbl="sibTrans2D1" presStyleIdx="1" presStyleCnt="2"/>
      <dgm:spPr/>
    </dgm:pt>
    <dgm:pt modelId="{61E6FB3C-108A-41FF-AF7B-4D50027A451A}" type="pres">
      <dgm:prSet presAssocID="{F505981D-E477-4FA7-B3E2-69D8436D9845}" presName="connectorText" presStyleLbl="sibTrans2D1" presStyleIdx="1" presStyleCnt="2"/>
      <dgm:spPr/>
    </dgm:pt>
    <dgm:pt modelId="{75EE0BEF-8A9A-4367-927A-97E4525BD1F6}" type="pres">
      <dgm:prSet presAssocID="{B2AA0CFF-D91C-48F9-A9E6-1B861BA2F048}" presName="node" presStyleLbl="node1" presStyleIdx="2" presStyleCnt="3">
        <dgm:presLayoutVars>
          <dgm:bulletEnabled val="1"/>
        </dgm:presLayoutVars>
      </dgm:prSet>
      <dgm:spPr/>
    </dgm:pt>
  </dgm:ptLst>
  <dgm:cxnLst>
    <dgm:cxn modelId="{0C97CE34-1A0B-49D5-A620-ACB958F3AE57}" type="presOf" srcId="{F505981D-E477-4FA7-B3E2-69D8436D9845}" destId="{CEE96EB3-1088-4695-A594-DA0DA9C75C38}" srcOrd="0" destOrd="0" presId="urn:microsoft.com/office/officeart/2005/8/layout/process1"/>
    <dgm:cxn modelId="{E7601456-F69A-4146-8D7B-B71A95BCB983}" srcId="{4233BDBF-1B7B-4492-8987-23EA8F525CB6}" destId="{1415FD0F-8FDC-4EDF-8110-687C96426BF1}" srcOrd="0" destOrd="0" parTransId="{D49E8DA9-D0CA-4BFA-9106-10DF4837EA50}" sibTransId="{1E3323FB-AF6E-4512-BA84-9A5AB6742BCB}"/>
    <dgm:cxn modelId="{5EC6F17D-4B50-4035-8503-D465E2C10087}" type="presOf" srcId="{1E3323FB-AF6E-4512-BA84-9A5AB6742BCB}" destId="{0C4B8AA8-A316-4FA9-9798-033A47B44689}" srcOrd="0" destOrd="0" presId="urn:microsoft.com/office/officeart/2005/8/layout/process1"/>
    <dgm:cxn modelId="{8D299590-5076-4423-949E-A8382EEF60B4}" type="presOf" srcId="{1415FD0F-8FDC-4EDF-8110-687C96426BF1}" destId="{C05419E7-C4C9-4F2D-8C9C-16CCF5513816}" srcOrd="0" destOrd="0" presId="urn:microsoft.com/office/officeart/2005/8/layout/process1"/>
    <dgm:cxn modelId="{6B2FBE92-9AA1-41C4-AC05-88879F5B635C}" type="presOf" srcId="{0ED8A0F5-CF27-4FBB-B97C-2511C17B4CDA}" destId="{26F500CA-4577-4D34-80E2-52E3354BB0B3}" srcOrd="0" destOrd="0" presId="urn:microsoft.com/office/officeart/2005/8/layout/process1"/>
    <dgm:cxn modelId="{C896F392-2C80-48C5-9F0C-8C0F9FD9EB71}" type="presOf" srcId="{F505981D-E477-4FA7-B3E2-69D8436D9845}" destId="{61E6FB3C-108A-41FF-AF7B-4D50027A451A}" srcOrd="1" destOrd="0" presId="urn:microsoft.com/office/officeart/2005/8/layout/process1"/>
    <dgm:cxn modelId="{AD5010C6-FAB6-456B-A990-ABDE98727211}" type="presOf" srcId="{B2AA0CFF-D91C-48F9-A9E6-1B861BA2F048}" destId="{75EE0BEF-8A9A-4367-927A-97E4525BD1F6}" srcOrd="0" destOrd="0" presId="urn:microsoft.com/office/officeart/2005/8/layout/process1"/>
    <dgm:cxn modelId="{065293CA-72BF-4FD7-AD20-B0E9EB0CFA53}" type="presOf" srcId="{1E3323FB-AF6E-4512-BA84-9A5AB6742BCB}" destId="{D84A2AA9-448E-4BBC-910D-AB10D6BA16FE}" srcOrd="1" destOrd="0" presId="urn:microsoft.com/office/officeart/2005/8/layout/process1"/>
    <dgm:cxn modelId="{03016CD7-B590-446F-A2C0-27F356375799}" srcId="{4233BDBF-1B7B-4492-8987-23EA8F525CB6}" destId="{0ED8A0F5-CF27-4FBB-B97C-2511C17B4CDA}" srcOrd="1" destOrd="0" parTransId="{8F54709E-27A9-44E2-BDD8-014AF07108C1}" sibTransId="{F505981D-E477-4FA7-B3E2-69D8436D9845}"/>
    <dgm:cxn modelId="{593853DD-FFB7-4D15-B26F-7868BE85F412}" type="presOf" srcId="{4233BDBF-1B7B-4492-8987-23EA8F525CB6}" destId="{82A3E436-4A17-43B2-B7A1-B13319DC7F9B}" srcOrd="0" destOrd="0" presId="urn:microsoft.com/office/officeart/2005/8/layout/process1"/>
    <dgm:cxn modelId="{6BDB1EEC-BCF0-4FDE-BF17-668CF084FB46}" srcId="{4233BDBF-1B7B-4492-8987-23EA8F525CB6}" destId="{B2AA0CFF-D91C-48F9-A9E6-1B861BA2F048}" srcOrd="2" destOrd="0" parTransId="{3F58D7D4-3FDB-43E7-BE44-951B0411FC4E}" sibTransId="{15F2D55E-2831-429D-8E6A-5CA9C27F5640}"/>
    <dgm:cxn modelId="{0C55FDB2-7E7E-4A44-B747-FDEA80704168}" type="presParOf" srcId="{82A3E436-4A17-43B2-B7A1-B13319DC7F9B}" destId="{C05419E7-C4C9-4F2D-8C9C-16CCF5513816}" srcOrd="0" destOrd="0" presId="urn:microsoft.com/office/officeart/2005/8/layout/process1"/>
    <dgm:cxn modelId="{47AC5BF3-01EB-4AAF-86CF-42A5D0505B6B}" type="presParOf" srcId="{82A3E436-4A17-43B2-B7A1-B13319DC7F9B}" destId="{0C4B8AA8-A316-4FA9-9798-033A47B44689}" srcOrd="1" destOrd="0" presId="urn:microsoft.com/office/officeart/2005/8/layout/process1"/>
    <dgm:cxn modelId="{1A48D4E4-9466-44C4-A7E2-73E78074F8B2}" type="presParOf" srcId="{0C4B8AA8-A316-4FA9-9798-033A47B44689}" destId="{D84A2AA9-448E-4BBC-910D-AB10D6BA16FE}" srcOrd="0" destOrd="0" presId="urn:microsoft.com/office/officeart/2005/8/layout/process1"/>
    <dgm:cxn modelId="{F5DADAC6-FDE4-4458-9BEB-EB9CCE4553F0}" type="presParOf" srcId="{82A3E436-4A17-43B2-B7A1-B13319DC7F9B}" destId="{26F500CA-4577-4D34-80E2-52E3354BB0B3}" srcOrd="2" destOrd="0" presId="urn:microsoft.com/office/officeart/2005/8/layout/process1"/>
    <dgm:cxn modelId="{FA064775-9541-4312-A5F2-B37B0842903D}" type="presParOf" srcId="{82A3E436-4A17-43B2-B7A1-B13319DC7F9B}" destId="{CEE96EB3-1088-4695-A594-DA0DA9C75C38}" srcOrd="3" destOrd="0" presId="urn:microsoft.com/office/officeart/2005/8/layout/process1"/>
    <dgm:cxn modelId="{E154E5B3-940B-42DC-ABCB-5A7F647D5518}" type="presParOf" srcId="{CEE96EB3-1088-4695-A594-DA0DA9C75C38}" destId="{61E6FB3C-108A-41FF-AF7B-4D50027A451A}" srcOrd="0" destOrd="0" presId="urn:microsoft.com/office/officeart/2005/8/layout/process1"/>
    <dgm:cxn modelId="{C355F058-67C6-40B1-8E70-97343999817E}" type="presParOf" srcId="{82A3E436-4A17-43B2-B7A1-B13319DC7F9B}" destId="{75EE0BEF-8A9A-4367-927A-97E4525BD1F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91D8364-0421-4007-B791-3574FFFE5A4C}"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06B0B18B-DB11-41B5-BAA3-60962FE79278}">
      <dgm:prSet/>
      <dgm:spPr/>
      <dgm:t>
        <a:bodyPr/>
        <a:lstStyle/>
        <a:p>
          <a:r>
            <a:rPr lang="pt-BR"/>
            <a:t>Esse tipo de servidor é o que "mostra" os sites para você quando você entra na internet. Quando você digita um endereço no navegador, o servidor web busca e envia as páginas que você quer ver. É como uma grande "biblioteca" de sites.</a:t>
          </a:r>
        </a:p>
      </dgm:t>
    </dgm:pt>
    <dgm:pt modelId="{A19A8871-F913-4C39-92A4-673B2C0B6543}" type="parTrans" cxnId="{35811C98-6F61-4BA3-B9B6-25B516B938DD}">
      <dgm:prSet/>
      <dgm:spPr/>
      <dgm:t>
        <a:bodyPr/>
        <a:lstStyle/>
        <a:p>
          <a:endParaRPr lang="pt-BR"/>
        </a:p>
      </dgm:t>
    </dgm:pt>
    <dgm:pt modelId="{65BB7387-47F0-43B5-BCD2-76A3E7735AD1}" type="sibTrans" cxnId="{35811C98-6F61-4BA3-B9B6-25B516B938DD}">
      <dgm:prSet/>
      <dgm:spPr/>
      <dgm:t>
        <a:bodyPr/>
        <a:lstStyle/>
        <a:p>
          <a:endParaRPr lang="pt-BR"/>
        </a:p>
      </dgm:t>
    </dgm:pt>
    <dgm:pt modelId="{5F770ABB-AAC0-41FD-8C5F-5DABFF7DECAD}" type="pres">
      <dgm:prSet presAssocID="{A91D8364-0421-4007-B791-3574FFFE5A4C}" presName="Name0" presStyleCnt="0">
        <dgm:presLayoutVars>
          <dgm:dir/>
          <dgm:animLvl val="lvl"/>
          <dgm:resizeHandles val="exact"/>
        </dgm:presLayoutVars>
      </dgm:prSet>
      <dgm:spPr/>
    </dgm:pt>
    <dgm:pt modelId="{459E22B3-281E-4B2F-A791-F1E29002E9A2}" type="pres">
      <dgm:prSet presAssocID="{06B0B18B-DB11-41B5-BAA3-60962FE79278}" presName="composite" presStyleCnt="0"/>
      <dgm:spPr/>
    </dgm:pt>
    <dgm:pt modelId="{14891C98-0559-4239-82D1-1ADF4A51254F}" type="pres">
      <dgm:prSet presAssocID="{06B0B18B-DB11-41B5-BAA3-60962FE79278}" presName="parTx" presStyleLbl="alignNode1" presStyleIdx="0" presStyleCnt="1">
        <dgm:presLayoutVars>
          <dgm:chMax val="0"/>
          <dgm:chPref val="0"/>
          <dgm:bulletEnabled val="1"/>
        </dgm:presLayoutVars>
      </dgm:prSet>
      <dgm:spPr/>
    </dgm:pt>
    <dgm:pt modelId="{D778909D-8230-41B4-88B2-7E84CC48C623}" type="pres">
      <dgm:prSet presAssocID="{06B0B18B-DB11-41B5-BAA3-60962FE79278}" presName="desTx" presStyleLbl="alignAccFollowNode1" presStyleIdx="0" presStyleCnt="1">
        <dgm:presLayoutVars>
          <dgm:bulletEnabled val="1"/>
        </dgm:presLayoutVars>
      </dgm:prSet>
      <dgm:spPr/>
    </dgm:pt>
  </dgm:ptLst>
  <dgm:cxnLst>
    <dgm:cxn modelId="{09856049-17D1-40EF-8735-BE7A7D36C5C4}" type="presOf" srcId="{A91D8364-0421-4007-B791-3574FFFE5A4C}" destId="{5F770ABB-AAC0-41FD-8C5F-5DABFF7DECAD}" srcOrd="0" destOrd="0" presId="urn:microsoft.com/office/officeart/2005/8/layout/hList1"/>
    <dgm:cxn modelId="{D90CAA8C-15CE-42AD-93BF-E9D5DCE70FF8}" type="presOf" srcId="{06B0B18B-DB11-41B5-BAA3-60962FE79278}" destId="{14891C98-0559-4239-82D1-1ADF4A51254F}" srcOrd="0" destOrd="0" presId="urn:microsoft.com/office/officeart/2005/8/layout/hList1"/>
    <dgm:cxn modelId="{35811C98-6F61-4BA3-B9B6-25B516B938DD}" srcId="{A91D8364-0421-4007-B791-3574FFFE5A4C}" destId="{06B0B18B-DB11-41B5-BAA3-60962FE79278}" srcOrd="0" destOrd="0" parTransId="{A19A8871-F913-4C39-92A4-673B2C0B6543}" sibTransId="{65BB7387-47F0-43B5-BCD2-76A3E7735AD1}"/>
    <dgm:cxn modelId="{6C362366-1E13-4362-B4BC-E07EDA01D9AB}" type="presParOf" srcId="{5F770ABB-AAC0-41FD-8C5F-5DABFF7DECAD}" destId="{459E22B3-281E-4B2F-A791-F1E29002E9A2}" srcOrd="0" destOrd="0" presId="urn:microsoft.com/office/officeart/2005/8/layout/hList1"/>
    <dgm:cxn modelId="{1B3860DA-639F-4202-8894-13A41F0C5571}" type="presParOf" srcId="{459E22B3-281E-4B2F-A791-F1E29002E9A2}" destId="{14891C98-0559-4239-82D1-1ADF4A51254F}" srcOrd="0" destOrd="0" presId="urn:microsoft.com/office/officeart/2005/8/layout/hList1"/>
    <dgm:cxn modelId="{2D1EB20A-1606-45FF-96D4-338CD28204C0}" type="presParOf" srcId="{459E22B3-281E-4B2F-A791-F1E29002E9A2}" destId="{D778909D-8230-41B4-88B2-7E84CC48C62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D05E495-0890-48A4-9194-C2485E62AD3C}"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67C1CF5F-60D8-4DFD-8D72-731B599A10DF}">
      <dgm:prSet/>
      <dgm:spPr/>
      <dgm:t>
        <a:bodyPr/>
        <a:lstStyle/>
        <a:p>
          <a:r>
            <a:rPr lang="pt-BR"/>
            <a:t>Imagine um lugar onde você guarda documentos e fotos, e que outras pessoas podem acessar pela rede. Esse é o servidor de arquivos. Ele permite que você compartilhe e organize arquivos, como se fosse um "armário digital" onde os outros dispositivos podem pegar ou deixar coisas.</a:t>
          </a:r>
        </a:p>
      </dgm:t>
    </dgm:pt>
    <dgm:pt modelId="{D4AD80B9-BDD8-426D-94C6-7FAB12207E5E}" type="parTrans" cxnId="{7A3A173B-C465-4301-AB42-3C6304005F3A}">
      <dgm:prSet/>
      <dgm:spPr/>
      <dgm:t>
        <a:bodyPr/>
        <a:lstStyle/>
        <a:p>
          <a:endParaRPr lang="pt-BR"/>
        </a:p>
      </dgm:t>
    </dgm:pt>
    <dgm:pt modelId="{809A3426-6FC9-47E2-8435-50672C14B381}" type="sibTrans" cxnId="{7A3A173B-C465-4301-AB42-3C6304005F3A}">
      <dgm:prSet/>
      <dgm:spPr/>
      <dgm:t>
        <a:bodyPr/>
        <a:lstStyle/>
        <a:p>
          <a:endParaRPr lang="pt-BR"/>
        </a:p>
      </dgm:t>
    </dgm:pt>
    <dgm:pt modelId="{BC9D3C9A-D7C6-411A-80EF-909F10FC28D6}" type="pres">
      <dgm:prSet presAssocID="{ED05E495-0890-48A4-9194-C2485E62AD3C}" presName="Name0" presStyleCnt="0">
        <dgm:presLayoutVars>
          <dgm:dir/>
          <dgm:animLvl val="lvl"/>
          <dgm:resizeHandles val="exact"/>
        </dgm:presLayoutVars>
      </dgm:prSet>
      <dgm:spPr/>
    </dgm:pt>
    <dgm:pt modelId="{FA007436-2F55-493C-BB80-07B990CD29FF}" type="pres">
      <dgm:prSet presAssocID="{67C1CF5F-60D8-4DFD-8D72-731B599A10DF}" presName="composite" presStyleCnt="0"/>
      <dgm:spPr/>
    </dgm:pt>
    <dgm:pt modelId="{590EAB67-A6B9-4ADF-9DDF-7231CCAD8EBC}" type="pres">
      <dgm:prSet presAssocID="{67C1CF5F-60D8-4DFD-8D72-731B599A10DF}" presName="parTx" presStyleLbl="alignNode1" presStyleIdx="0" presStyleCnt="1">
        <dgm:presLayoutVars>
          <dgm:chMax val="0"/>
          <dgm:chPref val="0"/>
          <dgm:bulletEnabled val="1"/>
        </dgm:presLayoutVars>
      </dgm:prSet>
      <dgm:spPr/>
    </dgm:pt>
    <dgm:pt modelId="{757C50CF-0BCE-4528-A782-9FD2585AB65D}" type="pres">
      <dgm:prSet presAssocID="{67C1CF5F-60D8-4DFD-8D72-731B599A10DF}" presName="desTx" presStyleLbl="alignAccFollowNode1" presStyleIdx="0" presStyleCnt="1">
        <dgm:presLayoutVars>
          <dgm:bulletEnabled val="1"/>
        </dgm:presLayoutVars>
      </dgm:prSet>
      <dgm:spPr/>
    </dgm:pt>
  </dgm:ptLst>
  <dgm:cxnLst>
    <dgm:cxn modelId="{7A3A173B-C465-4301-AB42-3C6304005F3A}" srcId="{ED05E495-0890-48A4-9194-C2485E62AD3C}" destId="{67C1CF5F-60D8-4DFD-8D72-731B599A10DF}" srcOrd="0" destOrd="0" parTransId="{D4AD80B9-BDD8-426D-94C6-7FAB12207E5E}" sibTransId="{809A3426-6FC9-47E2-8435-50672C14B381}"/>
    <dgm:cxn modelId="{1A4B7675-F041-4C21-B153-DA238025CD14}" type="presOf" srcId="{67C1CF5F-60D8-4DFD-8D72-731B599A10DF}" destId="{590EAB67-A6B9-4ADF-9DDF-7231CCAD8EBC}" srcOrd="0" destOrd="0" presId="urn:microsoft.com/office/officeart/2005/8/layout/hList1"/>
    <dgm:cxn modelId="{920ACF9A-B502-47C8-87E6-11C98BC2679A}" type="presOf" srcId="{ED05E495-0890-48A4-9194-C2485E62AD3C}" destId="{BC9D3C9A-D7C6-411A-80EF-909F10FC28D6}" srcOrd="0" destOrd="0" presId="urn:microsoft.com/office/officeart/2005/8/layout/hList1"/>
    <dgm:cxn modelId="{CA6100C1-F629-4A36-A8D2-51269427989E}" type="presParOf" srcId="{BC9D3C9A-D7C6-411A-80EF-909F10FC28D6}" destId="{FA007436-2F55-493C-BB80-07B990CD29FF}" srcOrd="0" destOrd="0" presId="urn:microsoft.com/office/officeart/2005/8/layout/hList1"/>
    <dgm:cxn modelId="{C64C0017-D5E1-4F29-81BA-AA1CE5572C68}" type="presParOf" srcId="{FA007436-2F55-493C-BB80-07B990CD29FF}" destId="{590EAB67-A6B9-4ADF-9DDF-7231CCAD8EBC}" srcOrd="0" destOrd="0" presId="urn:microsoft.com/office/officeart/2005/8/layout/hList1"/>
    <dgm:cxn modelId="{B75EE2F9-414C-417C-B4FC-B89790DD0443}" type="presParOf" srcId="{FA007436-2F55-493C-BB80-07B990CD29FF}" destId="{757C50CF-0BCE-4528-A782-9FD2585AB65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3B33AA-EE6D-4CD7-BB3C-AC08B042B590}"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08A9CCED-96C7-4901-B93D-47F8AA3BA3B7}">
      <dgm:prSet/>
      <dgm:spPr/>
      <dgm:t>
        <a:bodyPr/>
        <a:lstStyle/>
        <a:p>
          <a:r>
            <a:rPr lang="pt-BR"/>
            <a:t>Esse servidor armazena informações importantes de forma organizada, como em uma grande planilha ou tabela. Quando você usa aplicativos que precisam de dados (como um site de compras ou um app de redes sociais), é esse servidor que guarda e acessa as informações, como os produtos que você comprou ou os amigos que você tem.</a:t>
          </a:r>
        </a:p>
      </dgm:t>
    </dgm:pt>
    <dgm:pt modelId="{E16A78A2-928C-4640-9AF0-2A370032162D}" type="parTrans" cxnId="{C1431F1C-8DCF-4342-888B-75C173ECAEB6}">
      <dgm:prSet/>
      <dgm:spPr/>
      <dgm:t>
        <a:bodyPr/>
        <a:lstStyle/>
        <a:p>
          <a:endParaRPr lang="pt-BR"/>
        </a:p>
      </dgm:t>
    </dgm:pt>
    <dgm:pt modelId="{32C38C1A-EEC6-4EC7-A20C-653BBEA11A09}" type="sibTrans" cxnId="{C1431F1C-8DCF-4342-888B-75C173ECAEB6}">
      <dgm:prSet/>
      <dgm:spPr/>
      <dgm:t>
        <a:bodyPr/>
        <a:lstStyle/>
        <a:p>
          <a:endParaRPr lang="pt-BR"/>
        </a:p>
      </dgm:t>
    </dgm:pt>
    <dgm:pt modelId="{FB659626-AA60-4CD8-9247-8D55A7263B93}" type="pres">
      <dgm:prSet presAssocID="{013B33AA-EE6D-4CD7-BB3C-AC08B042B590}" presName="Name0" presStyleCnt="0">
        <dgm:presLayoutVars>
          <dgm:dir/>
          <dgm:animLvl val="lvl"/>
          <dgm:resizeHandles val="exact"/>
        </dgm:presLayoutVars>
      </dgm:prSet>
      <dgm:spPr/>
    </dgm:pt>
    <dgm:pt modelId="{18E57D2B-D8D8-485E-A55C-7FB996625B61}" type="pres">
      <dgm:prSet presAssocID="{08A9CCED-96C7-4901-B93D-47F8AA3BA3B7}" presName="composite" presStyleCnt="0"/>
      <dgm:spPr/>
    </dgm:pt>
    <dgm:pt modelId="{53C364B5-4CBC-4864-8DC3-C73B7D0AA03B}" type="pres">
      <dgm:prSet presAssocID="{08A9CCED-96C7-4901-B93D-47F8AA3BA3B7}" presName="parTx" presStyleLbl="alignNode1" presStyleIdx="0" presStyleCnt="1">
        <dgm:presLayoutVars>
          <dgm:chMax val="0"/>
          <dgm:chPref val="0"/>
          <dgm:bulletEnabled val="1"/>
        </dgm:presLayoutVars>
      </dgm:prSet>
      <dgm:spPr/>
    </dgm:pt>
    <dgm:pt modelId="{7BE9946F-BB41-4A43-8A96-D697B7C9EEB0}" type="pres">
      <dgm:prSet presAssocID="{08A9CCED-96C7-4901-B93D-47F8AA3BA3B7}" presName="desTx" presStyleLbl="alignAccFollowNode1" presStyleIdx="0" presStyleCnt="1">
        <dgm:presLayoutVars>
          <dgm:bulletEnabled val="1"/>
        </dgm:presLayoutVars>
      </dgm:prSet>
      <dgm:spPr/>
    </dgm:pt>
  </dgm:ptLst>
  <dgm:cxnLst>
    <dgm:cxn modelId="{C1431F1C-8DCF-4342-888B-75C173ECAEB6}" srcId="{013B33AA-EE6D-4CD7-BB3C-AC08B042B590}" destId="{08A9CCED-96C7-4901-B93D-47F8AA3BA3B7}" srcOrd="0" destOrd="0" parTransId="{E16A78A2-928C-4640-9AF0-2A370032162D}" sibTransId="{32C38C1A-EEC6-4EC7-A20C-653BBEA11A09}"/>
    <dgm:cxn modelId="{34C8BE54-FB71-4BBF-A978-B0C9EC724D95}" type="presOf" srcId="{08A9CCED-96C7-4901-B93D-47F8AA3BA3B7}" destId="{53C364B5-4CBC-4864-8DC3-C73B7D0AA03B}" srcOrd="0" destOrd="0" presId="urn:microsoft.com/office/officeart/2005/8/layout/hList1"/>
    <dgm:cxn modelId="{633FF25A-86C7-49EB-8049-344F08F2483B}" type="presOf" srcId="{013B33AA-EE6D-4CD7-BB3C-AC08B042B590}" destId="{FB659626-AA60-4CD8-9247-8D55A7263B93}" srcOrd="0" destOrd="0" presId="urn:microsoft.com/office/officeart/2005/8/layout/hList1"/>
    <dgm:cxn modelId="{2F9F8A51-8099-41EA-B24E-25E632772785}" type="presParOf" srcId="{FB659626-AA60-4CD8-9247-8D55A7263B93}" destId="{18E57D2B-D8D8-485E-A55C-7FB996625B61}" srcOrd="0" destOrd="0" presId="urn:microsoft.com/office/officeart/2005/8/layout/hList1"/>
    <dgm:cxn modelId="{9167B2BF-552D-407D-816F-01AACED1BF45}" type="presParOf" srcId="{18E57D2B-D8D8-485E-A55C-7FB996625B61}" destId="{53C364B5-4CBC-4864-8DC3-C73B7D0AA03B}" srcOrd="0" destOrd="0" presId="urn:microsoft.com/office/officeart/2005/8/layout/hList1"/>
    <dgm:cxn modelId="{DF14F5B7-EE3D-4D96-9001-3B72CF77573B}" type="presParOf" srcId="{18E57D2B-D8D8-485E-A55C-7FB996625B61}" destId="{7BE9946F-BB41-4A43-8A96-D697B7C9EEB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48FFB89-03F3-45F1-B651-B5C82888D495}"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347D4B42-3D60-40C7-B71E-FC7D655540EB}">
      <dgm:prSet/>
      <dgm:spPr/>
      <dgm:t>
        <a:bodyPr/>
        <a:lstStyle/>
        <a:p>
          <a:r>
            <a:rPr lang="pt-BR"/>
            <a:t>Ele é o responsável por enviar, receber e armazenar seus e-mails. Quando você manda um e-mail ou recebe um, é esse servidor que faz tudo funcionar. Ele pode ser configurado para diferentes tipos de e-mail, como Gmail ou Outlook.</a:t>
          </a:r>
        </a:p>
      </dgm:t>
    </dgm:pt>
    <dgm:pt modelId="{132CDD65-FA53-4D82-8B35-617EBC4BF7C9}" type="parTrans" cxnId="{5A28388F-6282-4ADE-9D82-89049C0514A7}">
      <dgm:prSet/>
      <dgm:spPr/>
      <dgm:t>
        <a:bodyPr/>
        <a:lstStyle/>
        <a:p>
          <a:endParaRPr lang="pt-BR"/>
        </a:p>
      </dgm:t>
    </dgm:pt>
    <dgm:pt modelId="{1E78BF56-5706-4738-A243-5FD459FB7632}" type="sibTrans" cxnId="{5A28388F-6282-4ADE-9D82-89049C0514A7}">
      <dgm:prSet/>
      <dgm:spPr/>
      <dgm:t>
        <a:bodyPr/>
        <a:lstStyle/>
        <a:p>
          <a:endParaRPr lang="pt-BR"/>
        </a:p>
      </dgm:t>
    </dgm:pt>
    <dgm:pt modelId="{092A5C00-C508-4152-B5BB-25F2C76D7158}" type="pres">
      <dgm:prSet presAssocID="{648FFB89-03F3-45F1-B651-B5C82888D495}" presName="Name0" presStyleCnt="0">
        <dgm:presLayoutVars>
          <dgm:dir/>
          <dgm:animLvl val="lvl"/>
          <dgm:resizeHandles val="exact"/>
        </dgm:presLayoutVars>
      </dgm:prSet>
      <dgm:spPr/>
    </dgm:pt>
    <dgm:pt modelId="{CD89B5E8-02FA-409D-88BF-83C11A1E67FC}" type="pres">
      <dgm:prSet presAssocID="{347D4B42-3D60-40C7-B71E-FC7D655540EB}" presName="composite" presStyleCnt="0"/>
      <dgm:spPr/>
    </dgm:pt>
    <dgm:pt modelId="{3EDAE9BC-5053-4492-8BE6-5E8BCAE66CBD}" type="pres">
      <dgm:prSet presAssocID="{347D4B42-3D60-40C7-B71E-FC7D655540EB}" presName="parTx" presStyleLbl="alignNode1" presStyleIdx="0" presStyleCnt="1">
        <dgm:presLayoutVars>
          <dgm:chMax val="0"/>
          <dgm:chPref val="0"/>
          <dgm:bulletEnabled val="1"/>
        </dgm:presLayoutVars>
      </dgm:prSet>
      <dgm:spPr/>
    </dgm:pt>
    <dgm:pt modelId="{AE2CF6A3-696E-464F-936A-0964A5E38580}" type="pres">
      <dgm:prSet presAssocID="{347D4B42-3D60-40C7-B71E-FC7D655540EB}" presName="desTx" presStyleLbl="alignAccFollowNode1" presStyleIdx="0" presStyleCnt="1">
        <dgm:presLayoutVars>
          <dgm:bulletEnabled val="1"/>
        </dgm:presLayoutVars>
      </dgm:prSet>
      <dgm:spPr/>
    </dgm:pt>
  </dgm:ptLst>
  <dgm:cxnLst>
    <dgm:cxn modelId="{3031181D-2D7A-49BC-AA44-5D34B26CD50D}" type="presOf" srcId="{648FFB89-03F3-45F1-B651-B5C82888D495}" destId="{092A5C00-C508-4152-B5BB-25F2C76D7158}" srcOrd="0" destOrd="0" presId="urn:microsoft.com/office/officeart/2005/8/layout/hList1"/>
    <dgm:cxn modelId="{5A28388F-6282-4ADE-9D82-89049C0514A7}" srcId="{648FFB89-03F3-45F1-B651-B5C82888D495}" destId="{347D4B42-3D60-40C7-B71E-FC7D655540EB}" srcOrd="0" destOrd="0" parTransId="{132CDD65-FA53-4D82-8B35-617EBC4BF7C9}" sibTransId="{1E78BF56-5706-4738-A243-5FD459FB7632}"/>
    <dgm:cxn modelId="{EDAF50F1-B25C-4D73-8016-E63632541605}" type="presOf" srcId="{347D4B42-3D60-40C7-B71E-FC7D655540EB}" destId="{3EDAE9BC-5053-4492-8BE6-5E8BCAE66CBD}" srcOrd="0" destOrd="0" presId="urn:microsoft.com/office/officeart/2005/8/layout/hList1"/>
    <dgm:cxn modelId="{E4CA8F16-40AE-46C3-AF73-86F11A6A524D}" type="presParOf" srcId="{092A5C00-C508-4152-B5BB-25F2C76D7158}" destId="{CD89B5E8-02FA-409D-88BF-83C11A1E67FC}" srcOrd="0" destOrd="0" presId="urn:microsoft.com/office/officeart/2005/8/layout/hList1"/>
    <dgm:cxn modelId="{097BA6AD-BCD1-4A7D-A605-38170DE3A2A0}" type="presParOf" srcId="{CD89B5E8-02FA-409D-88BF-83C11A1E67FC}" destId="{3EDAE9BC-5053-4492-8BE6-5E8BCAE66CBD}" srcOrd="0" destOrd="0" presId="urn:microsoft.com/office/officeart/2005/8/layout/hList1"/>
    <dgm:cxn modelId="{B22BB970-A456-4329-BF03-D9FB43D6FDB9}" type="presParOf" srcId="{CD89B5E8-02FA-409D-88BF-83C11A1E67FC}" destId="{AE2CF6A3-696E-464F-936A-0964A5E3858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88E9E3B-54AC-49A7-B251-E195E55A981B}"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7354EC86-AD26-4B1E-878E-1EFC156397BE}">
      <dgm:prSet/>
      <dgm:spPr/>
      <dgm:t>
        <a:bodyPr/>
        <a:lstStyle/>
        <a:p>
          <a:r>
            <a:rPr lang="pt-BR"/>
            <a:t>Esse servidor roda programas e aplicativos que você usa pela internet. Ele faz o trabalho pesado de processar as informações e enviar de volta os resultados para você, sem que você precise fazer nada no seu computador.</a:t>
          </a:r>
        </a:p>
      </dgm:t>
    </dgm:pt>
    <dgm:pt modelId="{FBEC587E-E122-4E2E-B488-0583193F0B55}" type="parTrans" cxnId="{CCD4DEB7-E396-4207-959A-D47951E0D60F}">
      <dgm:prSet/>
      <dgm:spPr/>
      <dgm:t>
        <a:bodyPr/>
        <a:lstStyle/>
        <a:p>
          <a:endParaRPr lang="pt-BR"/>
        </a:p>
      </dgm:t>
    </dgm:pt>
    <dgm:pt modelId="{7E8993F1-C54F-4C99-AB66-F7A33DC5B31D}" type="sibTrans" cxnId="{CCD4DEB7-E396-4207-959A-D47951E0D60F}">
      <dgm:prSet/>
      <dgm:spPr/>
      <dgm:t>
        <a:bodyPr/>
        <a:lstStyle/>
        <a:p>
          <a:endParaRPr lang="pt-BR"/>
        </a:p>
      </dgm:t>
    </dgm:pt>
    <dgm:pt modelId="{07688C9B-8E95-4ABE-928C-048A2AB9AEB1}" type="pres">
      <dgm:prSet presAssocID="{F88E9E3B-54AC-49A7-B251-E195E55A981B}" presName="Name0" presStyleCnt="0">
        <dgm:presLayoutVars>
          <dgm:dir/>
          <dgm:animLvl val="lvl"/>
          <dgm:resizeHandles val="exact"/>
        </dgm:presLayoutVars>
      </dgm:prSet>
      <dgm:spPr/>
    </dgm:pt>
    <dgm:pt modelId="{AE7B7F6E-166C-49E1-8E98-5A7DE6268C50}" type="pres">
      <dgm:prSet presAssocID="{7354EC86-AD26-4B1E-878E-1EFC156397BE}" presName="composite" presStyleCnt="0"/>
      <dgm:spPr/>
    </dgm:pt>
    <dgm:pt modelId="{D41D8F9F-24BF-4460-B73F-19660828CC62}" type="pres">
      <dgm:prSet presAssocID="{7354EC86-AD26-4B1E-878E-1EFC156397BE}" presName="parTx" presStyleLbl="alignNode1" presStyleIdx="0" presStyleCnt="1">
        <dgm:presLayoutVars>
          <dgm:chMax val="0"/>
          <dgm:chPref val="0"/>
          <dgm:bulletEnabled val="1"/>
        </dgm:presLayoutVars>
      </dgm:prSet>
      <dgm:spPr/>
    </dgm:pt>
    <dgm:pt modelId="{EE03E8A7-B27F-423D-8F8C-F24D4F5EEE96}" type="pres">
      <dgm:prSet presAssocID="{7354EC86-AD26-4B1E-878E-1EFC156397BE}" presName="desTx" presStyleLbl="alignAccFollowNode1" presStyleIdx="0" presStyleCnt="1">
        <dgm:presLayoutVars>
          <dgm:bulletEnabled val="1"/>
        </dgm:presLayoutVars>
      </dgm:prSet>
      <dgm:spPr/>
    </dgm:pt>
  </dgm:ptLst>
  <dgm:cxnLst>
    <dgm:cxn modelId="{D32A8653-4E8E-4749-AC37-0EA21B6AE622}" type="presOf" srcId="{F88E9E3B-54AC-49A7-B251-E195E55A981B}" destId="{07688C9B-8E95-4ABE-928C-048A2AB9AEB1}" srcOrd="0" destOrd="0" presId="urn:microsoft.com/office/officeart/2005/8/layout/hList1"/>
    <dgm:cxn modelId="{9F7ACCB1-C2BB-4357-B8C0-7975AED8711D}" type="presOf" srcId="{7354EC86-AD26-4B1E-878E-1EFC156397BE}" destId="{D41D8F9F-24BF-4460-B73F-19660828CC62}" srcOrd="0" destOrd="0" presId="urn:microsoft.com/office/officeart/2005/8/layout/hList1"/>
    <dgm:cxn modelId="{CCD4DEB7-E396-4207-959A-D47951E0D60F}" srcId="{F88E9E3B-54AC-49A7-B251-E195E55A981B}" destId="{7354EC86-AD26-4B1E-878E-1EFC156397BE}" srcOrd="0" destOrd="0" parTransId="{FBEC587E-E122-4E2E-B488-0583193F0B55}" sibTransId="{7E8993F1-C54F-4C99-AB66-F7A33DC5B31D}"/>
    <dgm:cxn modelId="{BBEB4257-F259-43FB-835B-035A3FA447B6}" type="presParOf" srcId="{07688C9B-8E95-4ABE-928C-048A2AB9AEB1}" destId="{AE7B7F6E-166C-49E1-8E98-5A7DE6268C50}" srcOrd="0" destOrd="0" presId="urn:microsoft.com/office/officeart/2005/8/layout/hList1"/>
    <dgm:cxn modelId="{E3D5267F-604D-45E9-B88A-D5F211B4B3FA}" type="presParOf" srcId="{AE7B7F6E-166C-49E1-8E98-5A7DE6268C50}" destId="{D41D8F9F-24BF-4460-B73F-19660828CC62}" srcOrd="0" destOrd="0" presId="urn:microsoft.com/office/officeart/2005/8/layout/hList1"/>
    <dgm:cxn modelId="{36B48EB4-84D4-4A4F-A436-BE71A10CD11F}" type="presParOf" srcId="{AE7B7F6E-166C-49E1-8E98-5A7DE6268C50}" destId="{EE03E8A7-B27F-423D-8F8C-F24D4F5EEE9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12812D-8261-4DAC-94E1-3954A3487A2C}"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F3CBC899-F842-42EF-AFDA-431BF795A781}">
      <dgm:prSet/>
      <dgm:spPr/>
      <dgm:t>
        <a:bodyPr/>
        <a:lstStyle/>
        <a:p>
          <a:r>
            <a:rPr lang="pt-BR"/>
            <a:t>Esse servidor é como um "guia telefônico" da internet. Quando você digita o nome de um site (ex: www.google.com), ele traduz esse nome para um número de identificação (IP), para que seu computador saiba onde encontrar o site.</a:t>
          </a:r>
        </a:p>
      </dgm:t>
    </dgm:pt>
    <dgm:pt modelId="{60BFF78F-5EBC-4CA7-97C4-2E6F6DD49B22}" type="parTrans" cxnId="{823C5D07-D1C0-437C-A90E-FAF14DEB218F}">
      <dgm:prSet/>
      <dgm:spPr/>
      <dgm:t>
        <a:bodyPr/>
        <a:lstStyle/>
        <a:p>
          <a:endParaRPr lang="pt-BR"/>
        </a:p>
      </dgm:t>
    </dgm:pt>
    <dgm:pt modelId="{226A68D6-62B4-4B61-8142-2C961EA5A964}" type="sibTrans" cxnId="{823C5D07-D1C0-437C-A90E-FAF14DEB218F}">
      <dgm:prSet/>
      <dgm:spPr/>
      <dgm:t>
        <a:bodyPr/>
        <a:lstStyle/>
        <a:p>
          <a:endParaRPr lang="pt-BR"/>
        </a:p>
      </dgm:t>
    </dgm:pt>
    <dgm:pt modelId="{8CCE8C49-98BC-429C-BA15-E8A4BDFD09C3}" type="pres">
      <dgm:prSet presAssocID="{1E12812D-8261-4DAC-94E1-3954A3487A2C}" presName="Name0" presStyleCnt="0">
        <dgm:presLayoutVars>
          <dgm:dir/>
          <dgm:animLvl val="lvl"/>
          <dgm:resizeHandles val="exact"/>
        </dgm:presLayoutVars>
      </dgm:prSet>
      <dgm:spPr/>
    </dgm:pt>
    <dgm:pt modelId="{9B7088BE-BE59-40D3-9620-447F6B8DA0F8}" type="pres">
      <dgm:prSet presAssocID="{F3CBC899-F842-42EF-AFDA-431BF795A781}" presName="composite" presStyleCnt="0"/>
      <dgm:spPr/>
    </dgm:pt>
    <dgm:pt modelId="{7E9C9B27-6320-43A3-84C6-99C1E38EF7D8}" type="pres">
      <dgm:prSet presAssocID="{F3CBC899-F842-42EF-AFDA-431BF795A781}" presName="parTx" presStyleLbl="alignNode1" presStyleIdx="0" presStyleCnt="1">
        <dgm:presLayoutVars>
          <dgm:chMax val="0"/>
          <dgm:chPref val="0"/>
          <dgm:bulletEnabled val="1"/>
        </dgm:presLayoutVars>
      </dgm:prSet>
      <dgm:spPr/>
    </dgm:pt>
    <dgm:pt modelId="{587B3731-8734-40B9-BBFE-B3C6CBC85332}" type="pres">
      <dgm:prSet presAssocID="{F3CBC899-F842-42EF-AFDA-431BF795A781}" presName="desTx" presStyleLbl="alignAccFollowNode1" presStyleIdx="0" presStyleCnt="1">
        <dgm:presLayoutVars>
          <dgm:bulletEnabled val="1"/>
        </dgm:presLayoutVars>
      </dgm:prSet>
      <dgm:spPr/>
    </dgm:pt>
  </dgm:ptLst>
  <dgm:cxnLst>
    <dgm:cxn modelId="{823C5D07-D1C0-437C-A90E-FAF14DEB218F}" srcId="{1E12812D-8261-4DAC-94E1-3954A3487A2C}" destId="{F3CBC899-F842-42EF-AFDA-431BF795A781}" srcOrd="0" destOrd="0" parTransId="{60BFF78F-5EBC-4CA7-97C4-2E6F6DD49B22}" sibTransId="{226A68D6-62B4-4B61-8142-2C961EA5A964}"/>
    <dgm:cxn modelId="{3C3CEB08-4C39-45C1-8995-A205D156E499}" type="presOf" srcId="{F3CBC899-F842-42EF-AFDA-431BF795A781}" destId="{7E9C9B27-6320-43A3-84C6-99C1E38EF7D8}" srcOrd="0" destOrd="0" presId="urn:microsoft.com/office/officeart/2005/8/layout/hList1"/>
    <dgm:cxn modelId="{E745CB0F-A22C-4335-9930-49B22F16F1D6}" type="presOf" srcId="{1E12812D-8261-4DAC-94E1-3954A3487A2C}" destId="{8CCE8C49-98BC-429C-BA15-E8A4BDFD09C3}" srcOrd="0" destOrd="0" presId="urn:microsoft.com/office/officeart/2005/8/layout/hList1"/>
    <dgm:cxn modelId="{0E54946B-A4DA-464C-A8C9-D23148A33FF6}" type="presParOf" srcId="{8CCE8C49-98BC-429C-BA15-E8A4BDFD09C3}" destId="{9B7088BE-BE59-40D3-9620-447F6B8DA0F8}" srcOrd="0" destOrd="0" presId="urn:microsoft.com/office/officeart/2005/8/layout/hList1"/>
    <dgm:cxn modelId="{89DDA560-68CC-4D33-BC2F-FBF19875C4BA}" type="presParOf" srcId="{9B7088BE-BE59-40D3-9620-447F6B8DA0F8}" destId="{7E9C9B27-6320-43A3-84C6-99C1E38EF7D8}" srcOrd="0" destOrd="0" presId="urn:microsoft.com/office/officeart/2005/8/layout/hList1"/>
    <dgm:cxn modelId="{D58B752D-8075-48B0-860B-636B9E79F3FA}" type="presParOf" srcId="{9B7088BE-BE59-40D3-9620-447F6B8DA0F8}" destId="{587B3731-8734-40B9-BBFE-B3C6CBC8533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5A4E199-F610-45D2-B4D6-68C35BAD2C9D}"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2748A16E-0B43-4BD9-8205-75A6742D7987}">
      <dgm:prSet/>
      <dgm:spPr/>
      <dgm:t>
        <a:bodyPr/>
        <a:lstStyle/>
        <a:p>
          <a:r>
            <a:rPr lang="pt-BR"/>
            <a:t>Ele funciona como um "porteiro". Ele fica entre o seu computador e a internet, ajudando a controlar o que você acessa. Além disso, pode melhorar a segurança e fazer alguns sites carregarem mais rápido, guardando cópias de informações.</a:t>
          </a:r>
        </a:p>
      </dgm:t>
    </dgm:pt>
    <dgm:pt modelId="{A8982559-7FB6-49B8-927D-199286F14206}" type="parTrans" cxnId="{7D741712-9463-40CD-A140-68C65998EA4B}">
      <dgm:prSet/>
      <dgm:spPr/>
      <dgm:t>
        <a:bodyPr/>
        <a:lstStyle/>
        <a:p>
          <a:endParaRPr lang="pt-BR"/>
        </a:p>
      </dgm:t>
    </dgm:pt>
    <dgm:pt modelId="{BFBCBBC4-850E-4367-827F-ED36720AD30E}" type="sibTrans" cxnId="{7D741712-9463-40CD-A140-68C65998EA4B}">
      <dgm:prSet/>
      <dgm:spPr/>
      <dgm:t>
        <a:bodyPr/>
        <a:lstStyle/>
        <a:p>
          <a:endParaRPr lang="pt-BR"/>
        </a:p>
      </dgm:t>
    </dgm:pt>
    <dgm:pt modelId="{C4C1E02C-A868-4209-890B-6198528CD70D}" type="pres">
      <dgm:prSet presAssocID="{45A4E199-F610-45D2-B4D6-68C35BAD2C9D}" presName="Name0" presStyleCnt="0">
        <dgm:presLayoutVars>
          <dgm:dir/>
          <dgm:animLvl val="lvl"/>
          <dgm:resizeHandles val="exact"/>
        </dgm:presLayoutVars>
      </dgm:prSet>
      <dgm:spPr/>
    </dgm:pt>
    <dgm:pt modelId="{51EBF710-1980-4F6B-A48E-2E3CC37C654C}" type="pres">
      <dgm:prSet presAssocID="{2748A16E-0B43-4BD9-8205-75A6742D7987}" presName="composite" presStyleCnt="0"/>
      <dgm:spPr/>
    </dgm:pt>
    <dgm:pt modelId="{A840C28A-B5E9-4007-9DE3-4D9E44FA9B53}" type="pres">
      <dgm:prSet presAssocID="{2748A16E-0B43-4BD9-8205-75A6742D7987}" presName="parTx" presStyleLbl="alignNode1" presStyleIdx="0" presStyleCnt="1">
        <dgm:presLayoutVars>
          <dgm:chMax val="0"/>
          <dgm:chPref val="0"/>
          <dgm:bulletEnabled val="1"/>
        </dgm:presLayoutVars>
      </dgm:prSet>
      <dgm:spPr/>
    </dgm:pt>
    <dgm:pt modelId="{590F29E4-84BA-4BBB-8819-36A3378E63A5}" type="pres">
      <dgm:prSet presAssocID="{2748A16E-0B43-4BD9-8205-75A6742D7987}" presName="desTx" presStyleLbl="alignAccFollowNode1" presStyleIdx="0" presStyleCnt="1">
        <dgm:presLayoutVars>
          <dgm:bulletEnabled val="1"/>
        </dgm:presLayoutVars>
      </dgm:prSet>
      <dgm:spPr/>
    </dgm:pt>
  </dgm:ptLst>
  <dgm:cxnLst>
    <dgm:cxn modelId="{7D741712-9463-40CD-A140-68C65998EA4B}" srcId="{45A4E199-F610-45D2-B4D6-68C35BAD2C9D}" destId="{2748A16E-0B43-4BD9-8205-75A6742D7987}" srcOrd="0" destOrd="0" parTransId="{A8982559-7FB6-49B8-927D-199286F14206}" sibTransId="{BFBCBBC4-850E-4367-827F-ED36720AD30E}"/>
    <dgm:cxn modelId="{F2840896-E1C5-4C83-AEDA-A61BC81B57F1}" type="presOf" srcId="{45A4E199-F610-45D2-B4D6-68C35BAD2C9D}" destId="{C4C1E02C-A868-4209-890B-6198528CD70D}" srcOrd="0" destOrd="0" presId="urn:microsoft.com/office/officeart/2005/8/layout/hList1"/>
    <dgm:cxn modelId="{4A1AABC4-EC7A-4176-9CC0-1C1D0D778632}" type="presOf" srcId="{2748A16E-0B43-4BD9-8205-75A6742D7987}" destId="{A840C28A-B5E9-4007-9DE3-4D9E44FA9B53}" srcOrd="0" destOrd="0" presId="urn:microsoft.com/office/officeart/2005/8/layout/hList1"/>
    <dgm:cxn modelId="{222DB76F-C89B-45D9-8BBF-A79593EAC4EC}" type="presParOf" srcId="{C4C1E02C-A868-4209-890B-6198528CD70D}" destId="{51EBF710-1980-4F6B-A48E-2E3CC37C654C}" srcOrd="0" destOrd="0" presId="urn:microsoft.com/office/officeart/2005/8/layout/hList1"/>
    <dgm:cxn modelId="{AD2308D6-29C4-421F-A23D-D7DB247B091E}" type="presParOf" srcId="{51EBF710-1980-4F6B-A48E-2E3CC37C654C}" destId="{A840C28A-B5E9-4007-9DE3-4D9E44FA9B53}" srcOrd="0" destOrd="0" presId="urn:microsoft.com/office/officeart/2005/8/layout/hList1"/>
    <dgm:cxn modelId="{CC57952B-0423-4342-B7CB-47BBA09F4BA3}" type="presParOf" srcId="{51EBF710-1980-4F6B-A48E-2E3CC37C654C}" destId="{590F29E4-84BA-4BBB-8819-36A3378E63A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8753C0D-569C-4119-BC85-542CFE874BF3}"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EFBB4A53-13A0-4DBA-9C30-E1E27C8214A6}">
      <dgm:prSet/>
      <dgm:spPr/>
      <dgm:t>
        <a:bodyPr/>
        <a:lstStyle/>
        <a:p>
          <a:r>
            <a:rPr lang="pt-BR"/>
            <a:t>Esse servidor é como uma "máquina mágica" que pode criar várias outras máquinas dentro de si. Ou seja, ele permite que vários sistemas operacionais rodem ao mesmo tempo em um único computador, como se você tivesse vários computadores dentro de um só.</a:t>
          </a:r>
        </a:p>
      </dgm:t>
    </dgm:pt>
    <dgm:pt modelId="{094E668D-8617-4450-8491-9E998A83C25E}" type="parTrans" cxnId="{0B08F9FA-08B9-4F01-A155-0BD1D89EBE9E}">
      <dgm:prSet/>
      <dgm:spPr/>
      <dgm:t>
        <a:bodyPr/>
        <a:lstStyle/>
        <a:p>
          <a:endParaRPr lang="pt-BR"/>
        </a:p>
      </dgm:t>
    </dgm:pt>
    <dgm:pt modelId="{C241CECD-B141-41E0-94CD-763249E18D7B}" type="sibTrans" cxnId="{0B08F9FA-08B9-4F01-A155-0BD1D89EBE9E}">
      <dgm:prSet/>
      <dgm:spPr/>
      <dgm:t>
        <a:bodyPr/>
        <a:lstStyle/>
        <a:p>
          <a:endParaRPr lang="pt-BR"/>
        </a:p>
      </dgm:t>
    </dgm:pt>
    <dgm:pt modelId="{D560659F-7BBB-4813-B811-43BC9E2AD325}" type="pres">
      <dgm:prSet presAssocID="{08753C0D-569C-4119-BC85-542CFE874BF3}" presName="Name0" presStyleCnt="0">
        <dgm:presLayoutVars>
          <dgm:dir/>
          <dgm:animLvl val="lvl"/>
          <dgm:resizeHandles val="exact"/>
        </dgm:presLayoutVars>
      </dgm:prSet>
      <dgm:spPr/>
    </dgm:pt>
    <dgm:pt modelId="{380A42A3-002C-4EE9-98B7-9D53DB4FCAE2}" type="pres">
      <dgm:prSet presAssocID="{EFBB4A53-13A0-4DBA-9C30-E1E27C8214A6}" presName="composite" presStyleCnt="0"/>
      <dgm:spPr/>
    </dgm:pt>
    <dgm:pt modelId="{E7CFE673-2525-44C0-B0EB-BBFD6C8D7063}" type="pres">
      <dgm:prSet presAssocID="{EFBB4A53-13A0-4DBA-9C30-E1E27C8214A6}" presName="parTx" presStyleLbl="alignNode1" presStyleIdx="0" presStyleCnt="1">
        <dgm:presLayoutVars>
          <dgm:chMax val="0"/>
          <dgm:chPref val="0"/>
          <dgm:bulletEnabled val="1"/>
        </dgm:presLayoutVars>
      </dgm:prSet>
      <dgm:spPr/>
    </dgm:pt>
    <dgm:pt modelId="{6BDE5FB0-A3CC-4A4F-9C84-FE4DD3934A71}" type="pres">
      <dgm:prSet presAssocID="{EFBB4A53-13A0-4DBA-9C30-E1E27C8214A6}" presName="desTx" presStyleLbl="alignAccFollowNode1" presStyleIdx="0" presStyleCnt="1">
        <dgm:presLayoutVars>
          <dgm:bulletEnabled val="1"/>
        </dgm:presLayoutVars>
      </dgm:prSet>
      <dgm:spPr/>
    </dgm:pt>
  </dgm:ptLst>
  <dgm:cxnLst>
    <dgm:cxn modelId="{C08FD057-4F64-4B76-86E3-358F81AD3936}" type="presOf" srcId="{08753C0D-569C-4119-BC85-542CFE874BF3}" destId="{D560659F-7BBB-4813-B811-43BC9E2AD325}" srcOrd="0" destOrd="0" presId="urn:microsoft.com/office/officeart/2005/8/layout/hList1"/>
    <dgm:cxn modelId="{87B28FEA-280C-43AF-857A-A154F7F20657}" type="presOf" srcId="{EFBB4A53-13A0-4DBA-9C30-E1E27C8214A6}" destId="{E7CFE673-2525-44C0-B0EB-BBFD6C8D7063}" srcOrd="0" destOrd="0" presId="urn:microsoft.com/office/officeart/2005/8/layout/hList1"/>
    <dgm:cxn modelId="{0B08F9FA-08B9-4F01-A155-0BD1D89EBE9E}" srcId="{08753C0D-569C-4119-BC85-542CFE874BF3}" destId="{EFBB4A53-13A0-4DBA-9C30-E1E27C8214A6}" srcOrd="0" destOrd="0" parTransId="{094E668D-8617-4450-8491-9E998A83C25E}" sibTransId="{C241CECD-B141-41E0-94CD-763249E18D7B}"/>
    <dgm:cxn modelId="{34AC7FCF-AB64-43DE-9554-BA0586BA1069}" type="presParOf" srcId="{D560659F-7BBB-4813-B811-43BC9E2AD325}" destId="{380A42A3-002C-4EE9-98B7-9D53DB4FCAE2}" srcOrd="0" destOrd="0" presId="urn:microsoft.com/office/officeart/2005/8/layout/hList1"/>
    <dgm:cxn modelId="{4209E6F0-5BBE-44F2-B023-D3601513CEBC}" type="presParOf" srcId="{380A42A3-002C-4EE9-98B7-9D53DB4FCAE2}" destId="{E7CFE673-2525-44C0-B0EB-BBFD6C8D7063}" srcOrd="0" destOrd="0" presId="urn:microsoft.com/office/officeart/2005/8/layout/hList1"/>
    <dgm:cxn modelId="{B3FC51F8-36BE-45F2-9332-BA5F58615E74}" type="presParOf" srcId="{380A42A3-002C-4EE9-98B7-9D53DB4FCAE2}" destId="{6BDE5FB0-A3CC-4A4F-9C84-FE4DD3934A7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1D19BB9-76C0-48E4-A1DF-AC744AE1806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pt-BR"/>
        </a:p>
      </dgm:t>
    </dgm:pt>
    <dgm:pt modelId="{179A494B-5623-46CD-BF7A-B063F08D406D}">
      <dgm:prSet/>
      <dgm:spPr/>
      <dgm:t>
        <a:bodyPr/>
        <a:lstStyle/>
        <a:p>
          <a:r>
            <a:rPr lang="pt-BR"/>
            <a:t>1- existem 3 tipos de servidor:  Os servidores físicos são máquinas dedicadas, usados por empresas que precisam de controle total. Servidumores virtuais (VPS) emulam servidores físicos em ambiente virtual, otimizando recursos e facilitando o gerenciamento. Servidores em nuvem oferecem flexibilidade e escalabilidade, adaptando-se rapidamente à demanda. </a:t>
          </a:r>
        </a:p>
      </dgm:t>
    </dgm:pt>
    <dgm:pt modelId="{6396730A-1A28-452A-95CD-F6E91DCE887E}" type="parTrans" cxnId="{CC81C58A-1162-450E-B92F-E205AFAD4A8B}">
      <dgm:prSet/>
      <dgm:spPr/>
      <dgm:t>
        <a:bodyPr/>
        <a:lstStyle/>
        <a:p>
          <a:endParaRPr lang="pt-BR"/>
        </a:p>
      </dgm:t>
    </dgm:pt>
    <dgm:pt modelId="{6490BC8B-C7FC-4966-92AB-444E580FC3CC}" type="sibTrans" cxnId="{CC81C58A-1162-450E-B92F-E205AFAD4A8B}">
      <dgm:prSet/>
      <dgm:spPr/>
      <dgm:t>
        <a:bodyPr/>
        <a:lstStyle/>
        <a:p>
          <a:endParaRPr lang="pt-BR"/>
        </a:p>
      </dgm:t>
    </dgm:pt>
    <dgm:pt modelId="{989A46B7-B88C-4508-8D4F-2EDB59E17FAE}" type="pres">
      <dgm:prSet presAssocID="{21D19BB9-76C0-48E4-A1DF-AC744AE18066}" presName="linear" presStyleCnt="0">
        <dgm:presLayoutVars>
          <dgm:animLvl val="lvl"/>
          <dgm:resizeHandles val="exact"/>
        </dgm:presLayoutVars>
      </dgm:prSet>
      <dgm:spPr/>
    </dgm:pt>
    <dgm:pt modelId="{A58F78BD-4FE2-4ED9-985D-7429FDA3453E}" type="pres">
      <dgm:prSet presAssocID="{179A494B-5623-46CD-BF7A-B063F08D406D}" presName="parentText" presStyleLbl="node1" presStyleIdx="0" presStyleCnt="1">
        <dgm:presLayoutVars>
          <dgm:chMax val="0"/>
          <dgm:bulletEnabled val="1"/>
        </dgm:presLayoutVars>
      </dgm:prSet>
      <dgm:spPr/>
    </dgm:pt>
  </dgm:ptLst>
  <dgm:cxnLst>
    <dgm:cxn modelId="{BE75A221-F34D-47F9-B2AF-8617BC2BBAFA}" type="presOf" srcId="{179A494B-5623-46CD-BF7A-B063F08D406D}" destId="{A58F78BD-4FE2-4ED9-985D-7429FDA3453E}" srcOrd="0" destOrd="0" presId="urn:microsoft.com/office/officeart/2005/8/layout/vList2"/>
    <dgm:cxn modelId="{4893B36C-06C5-4067-8515-C36D437411A1}" type="presOf" srcId="{21D19BB9-76C0-48E4-A1DF-AC744AE18066}" destId="{989A46B7-B88C-4508-8D4F-2EDB59E17FAE}" srcOrd="0" destOrd="0" presId="urn:microsoft.com/office/officeart/2005/8/layout/vList2"/>
    <dgm:cxn modelId="{CC81C58A-1162-450E-B92F-E205AFAD4A8B}" srcId="{21D19BB9-76C0-48E4-A1DF-AC744AE18066}" destId="{179A494B-5623-46CD-BF7A-B063F08D406D}" srcOrd="0" destOrd="0" parTransId="{6396730A-1A28-452A-95CD-F6E91DCE887E}" sibTransId="{6490BC8B-C7FC-4966-92AB-444E580FC3CC}"/>
    <dgm:cxn modelId="{03783B41-BDAB-47C2-85FB-927FC811BA49}" type="presParOf" srcId="{989A46B7-B88C-4508-8D4F-2EDB59E17FAE}" destId="{A58F78BD-4FE2-4ED9-985D-7429FDA3453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9852EAD-9850-4860-AB5A-9F3D2297B70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pt-BR"/>
        </a:p>
      </dgm:t>
    </dgm:pt>
    <dgm:pt modelId="{AD573A99-06B1-4CD2-A493-C1CEB0A0A4C0}">
      <dgm:prSet/>
      <dgm:spPr/>
      <dgm:t>
        <a:bodyPr/>
        <a:lstStyle/>
        <a:p>
          <a:r>
            <a:rPr lang="pt-BR"/>
            <a:t>2- O maior Data Center do mundo é o Lakeside Technology Center, em Chicago (EUA). Ele tem aproximadamente 102 mil m² e mais de 50 geradores de energia. Esse medida corresponde a mais de 10 MASPs (Museu de Arte de São Paulo Assis Chateaubriand) . Na sequência, os data centers da Google, Apple, Microsoft e Facebook, respectivamente.</a:t>
          </a:r>
        </a:p>
      </dgm:t>
    </dgm:pt>
    <dgm:pt modelId="{422E040C-731B-48A8-ADBE-A7714475608D}" type="parTrans" cxnId="{FE1EF36B-BC10-48CA-83B9-AA04C400FE1A}">
      <dgm:prSet/>
      <dgm:spPr/>
      <dgm:t>
        <a:bodyPr/>
        <a:lstStyle/>
        <a:p>
          <a:endParaRPr lang="pt-BR"/>
        </a:p>
      </dgm:t>
    </dgm:pt>
    <dgm:pt modelId="{3F553869-F20D-4522-90CF-13831A947812}" type="sibTrans" cxnId="{FE1EF36B-BC10-48CA-83B9-AA04C400FE1A}">
      <dgm:prSet/>
      <dgm:spPr/>
      <dgm:t>
        <a:bodyPr/>
        <a:lstStyle/>
        <a:p>
          <a:endParaRPr lang="pt-BR"/>
        </a:p>
      </dgm:t>
    </dgm:pt>
    <dgm:pt modelId="{7B61F569-8B9D-4315-AE97-11F4C10E8D7B}" type="pres">
      <dgm:prSet presAssocID="{E9852EAD-9850-4860-AB5A-9F3D2297B70A}" presName="linear" presStyleCnt="0">
        <dgm:presLayoutVars>
          <dgm:animLvl val="lvl"/>
          <dgm:resizeHandles val="exact"/>
        </dgm:presLayoutVars>
      </dgm:prSet>
      <dgm:spPr/>
    </dgm:pt>
    <dgm:pt modelId="{E43145E4-E073-44BB-8F82-37DA8EE5B7CF}" type="pres">
      <dgm:prSet presAssocID="{AD573A99-06B1-4CD2-A493-C1CEB0A0A4C0}" presName="parentText" presStyleLbl="node1" presStyleIdx="0" presStyleCnt="1">
        <dgm:presLayoutVars>
          <dgm:chMax val="0"/>
          <dgm:bulletEnabled val="1"/>
        </dgm:presLayoutVars>
      </dgm:prSet>
      <dgm:spPr/>
    </dgm:pt>
  </dgm:ptLst>
  <dgm:cxnLst>
    <dgm:cxn modelId="{85AE961A-4C19-4082-AC1B-FD97CB0B6504}" type="presOf" srcId="{AD573A99-06B1-4CD2-A493-C1CEB0A0A4C0}" destId="{E43145E4-E073-44BB-8F82-37DA8EE5B7CF}" srcOrd="0" destOrd="0" presId="urn:microsoft.com/office/officeart/2005/8/layout/vList2"/>
    <dgm:cxn modelId="{FE1EF36B-BC10-48CA-83B9-AA04C400FE1A}" srcId="{E9852EAD-9850-4860-AB5A-9F3D2297B70A}" destId="{AD573A99-06B1-4CD2-A493-C1CEB0A0A4C0}" srcOrd="0" destOrd="0" parTransId="{422E040C-731B-48A8-ADBE-A7714475608D}" sibTransId="{3F553869-F20D-4522-90CF-13831A947812}"/>
    <dgm:cxn modelId="{C6CF8F8D-FCE2-4732-BB13-DE7BECF1395D}" type="presOf" srcId="{E9852EAD-9850-4860-AB5A-9F3D2297B70A}" destId="{7B61F569-8B9D-4315-AE97-11F4C10E8D7B}" srcOrd="0" destOrd="0" presId="urn:microsoft.com/office/officeart/2005/8/layout/vList2"/>
    <dgm:cxn modelId="{08F3E1C8-635C-460E-ABDE-2E10D017420B}" type="presParOf" srcId="{7B61F569-8B9D-4315-AE97-11F4C10E8D7B}" destId="{E43145E4-E073-44BB-8F82-37DA8EE5B7CF}"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C909F8F-5507-4293-9D85-1B0F3F7B4DE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pt-BR"/>
        </a:p>
      </dgm:t>
    </dgm:pt>
    <dgm:pt modelId="{C5184EB2-6048-4B5B-8FA1-476C016C9AD3}">
      <dgm:prSet/>
      <dgm:spPr/>
      <dgm:t>
        <a:bodyPr/>
        <a:lstStyle/>
        <a:p>
          <a:r>
            <a:rPr lang="pt-BR"/>
            <a:t>3-</a:t>
          </a:r>
          <a:r>
            <a:rPr lang="pt-BR" b="1"/>
            <a:t>O Consumo de Energia dos Data Centers</a:t>
          </a:r>
          <a:r>
            <a:rPr lang="pt-BR"/>
            <a:t>: Os data centers são responsáveis por uma grande parte do consumo global de energia. Alguns estudos estimam que eles consomem cerca de </a:t>
          </a:r>
          <a:r>
            <a:rPr lang="pt-BR" b="1"/>
            <a:t>2-3%</a:t>
          </a:r>
          <a:r>
            <a:rPr lang="pt-BR"/>
            <a:t> da energia global, equivalente a mais de </a:t>
          </a:r>
          <a:r>
            <a:rPr lang="pt-BR" b="1"/>
            <a:t>200 TWh</a:t>
          </a:r>
          <a:r>
            <a:rPr lang="pt-BR"/>
            <a:t> por ano. Cada servidor pode usar entre </a:t>
          </a:r>
          <a:r>
            <a:rPr lang="pt-BR" b="1"/>
            <a:t>300 e 600 watts</a:t>
          </a:r>
          <a:r>
            <a:rPr lang="pt-BR"/>
            <a:t> de energia, e até </a:t>
          </a:r>
          <a:r>
            <a:rPr lang="pt-BR" b="1"/>
            <a:t>40%</a:t>
          </a:r>
          <a:r>
            <a:rPr lang="pt-BR"/>
            <a:t> da energia é destinada ao resfriamento. O que tem levado muitas empresas a buscar fontes de energia renovável, como solar e eólica, para alimentar suas instalações.</a:t>
          </a:r>
        </a:p>
      </dgm:t>
    </dgm:pt>
    <dgm:pt modelId="{CE6D383B-C0F3-4FAC-9EED-1BC9D24EDE0C}" type="parTrans" cxnId="{B108A63A-9483-4E75-8A97-B5AB97A27248}">
      <dgm:prSet/>
      <dgm:spPr/>
      <dgm:t>
        <a:bodyPr/>
        <a:lstStyle/>
        <a:p>
          <a:endParaRPr lang="pt-BR"/>
        </a:p>
      </dgm:t>
    </dgm:pt>
    <dgm:pt modelId="{B20AA596-ABF2-482F-9018-F3F7E92A1C55}" type="sibTrans" cxnId="{B108A63A-9483-4E75-8A97-B5AB97A27248}">
      <dgm:prSet/>
      <dgm:spPr/>
      <dgm:t>
        <a:bodyPr/>
        <a:lstStyle/>
        <a:p>
          <a:endParaRPr lang="pt-BR"/>
        </a:p>
      </dgm:t>
    </dgm:pt>
    <dgm:pt modelId="{5B69787E-6075-49F5-BD9D-29E61096408B}" type="pres">
      <dgm:prSet presAssocID="{AC909F8F-5507-4293-9D85-1B0F3F7B4DE3}" presName="linear" presStyleCnt="0">
        <dgm:presLayoutVars>
          <dgm:animLvl val="lvl"/>
          <dgm:resizeHandles val="exact"/>
        </dgm:presLayoutVars>
      </dgm:prSet>
      <dgm:spPr/>
    </dgm:pt>
    <dgm:pt modelId="{AF2AD570-51FD-439E-AA6C-D25BDDF196D2}" type="pres">
      <dgm:prSet presAssocID="{C5184EB2-6048-4B5B-8FA1-476C016C9AD3}" presName="parentText" presStyleLbl="node1" presStyleIdx="0" presStyleCnt="1">
        <dgm:presLayoutVars>
          <dgm:chMax val="0"/>
          <dgm:bulletEnabled val="1"/>
        </dgm:presLayoutVars>
      </dgm:prSet>
      <dgm:spPr/>
    </dgm:pt>
  </dgm:ptLst>
  <dgm:cxnLst>
    <dgm:cxn modelId="{1D956730-6C88-4106-BEC4-B058C0D9204D}" type="presOf" srcId="{AC909F8F-5507-4293-9D85-1B0F3F7B4DE3}" destId="{5B69787E-6075-49F5-BD9D-29E61096408B}" srcOrd="0" destOrd="0" presId="urn:microsoft.com/office/officeart/2005/8/layout/vList2"/>
    <dgm:cxn modelId="{B108A63A-9483-4E75-8A97-B5AB97A27248}" srcId="{AC909F8F-5507-4293-9D85-1B0F3F7B4DE3}" destId="{C5184EB2-6048-4B5B-8FA1-476C016C9AD3}" srcOrd="0" destOrd="0" parTransId="{CE6D383B-C0F3-4FAC-9EED-1BC9D24EDE0C}" sibTransId="{B20AA596-ABF2-482F-9018-F3F7E92A1C55}"/>
    <dgm:cxn modelId="{F230E380-8DEA-439C-BC55-6DACC3B5E934}" type="presOf" srcId="{C5184EB2-6048-4B5B-8FA1-476C016C9AD3}" destId="{AF2AD570-51FD-439E-AA6C-D25BDDF196D2}" srcOrd="0" destOrd="0" presId="urn:microsoft.com/office/officeart/2005/8/layout/vList2"/>
    <dgm:cxn modelId="{54F12D7C-9B95-44B0-90B5-A59515BBCEC6}" type="presParOf" srcId="{5B69787E-6075-49F5-BD9D-29E61096408B}" destId="{AF2AD570-51FD-439E-AA6C-D25BDDF196D2}"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022543B-CC96-4FDF-A59C-7353FB94074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pt-BR"/>
        </a:p>
      </dgm:t>
    </dgm:pt>
    <dgm:pt modelId="{3086392A-37F4-4D46-A52E-AFB3912431FA}">
      <dgm:prSet/>
      <dgm:spPr/>
      <dgm:t>
        <a:bodyPr/>
        <a:lstStyle/>
        <a:p>
          <a:r>
            <a:rPr lang="pt-BR"/>
            <a:t>4-Se todas as informações contidas nos data center do mundo todo fossem impressas em papel, seriam necessárias 14 trilhões de árvores. A quantidade de papel produzido daria para embrulhar a Terra 7 vezes.</a:t>
          </a:r>
        </a:p>
      </dgm:t>
    </dgm:pt>
    <dgm:pt modelId="{A253575D-4500-48EF-A60B-7E8F62D56641}" type="parTrans" cxnId="{B43A5ED0-B60F-45C1-A622-18743DF5C65F}">
      <dgm:prSet/>
      <dgm:spPr/>
      <dgm:t>
        <a:bodyPr/>
        <a:lstStyle/>
        <a:p>
          <a:endParaRPr lang="pt-BR"/>
        </a:p>
      </dgm:t>
    </dgm:pt>
    <dgm:pt modelId="{B5CA7AD3-2606-4A2C-A2D5-FE1CC8BD1AA3}" type="sibTrans" cxnId="{B43A5ED0-B60F-45C1-A622-18743DF5C65F}">
      <dgm:prSet/>
      <dgm:spPr/>
      <dgm:t>
        <a:bodyPr/>
        <a:lstStyle/>
        <a:p>
          <a:endParaRPr lang="pt-BR"/>
        </a:p>
      </dgm:t>
    </dgm:pt>
    <dgm:pt modelId="{0B1486C7-7509-4526-A275-3CF3EF514999}" type="pres">
      <dgm:prSet presAssocID="{3022543B-CC96-4FDF-A59C-7353FB940744}" presName="linear" presStyleCnt="0">
        <dgm:presLayoutVars>
          <dgm:animLvl val="lvl"/>
          <dgm:resizeHandles val="exact"/>
        </dgm:presLayoutVars>
      </dgm:prSet>
      <dgm:spPr/>
    </dgm:pt>
    <dgm:pt modelId="{A54870C8-2EC0-4F38-AEC9-8C6E0C92ADCD}" type="pres">
      <dgm:prSet presAssocID="{3086392A-37F4-4D46-A52E-AFB3912431FA}" presName="parentText" presStyleLbl="node1" presStyleIdx="0" presStyleCnt="1">
        <dgm:presLayoutVars>
          <dgm:chMax val="0"/>
          <dgm:bulletEnabled val="1"/>
        </dgm:presLayoutVars>
      </dgm:prSet>
      <dgm:spPr/>
    </dgm:pt>
  </dgm:ptLst>
  <dgm:cxnLst>
    <dgm:cxn modelId="{B25371C7-4516-4206-8CDD-E8CECC551F8B}" type="presOf" srcId="{3086392A-37F4-4D46-A52E-AFB3912431FA}" destId="{A54870C8-2EC0-4F38-AEC9-8C6E0C92ADCD}" srcOrd="0" destOrd="0" presId="urn:microsoft.com/office/officeart/2005/8/layout/vList2"/>
    <dgm:cxn modelId="{B43A5ED0-B60F-45C1-A622-18743DF5C65F}" srcId="{3022543B-CC96-4FDF-A59C-7353FB940744}" destId="{3086392A-37F4-4D46-A52E-AFB3912431FA}" srcOrd="0" destOrd="0" parTransId="{A253575D-4500-48EF-A60B-7E8F62D56641}" sibTransId="{B5CA7AD3-2606-4A2C-A2D5-FE1CC8BD1AA3}"/>
    <dgm:cxn modelId="{3095A5D5-AFC0-4571-B3F1-FB505A5BB7C7}" type="presOf" srcId="{3022543B-CC96-4FDF-A59C-7353FB940744}" destId="{0B1486C7-7509-4526-A275-3CF3EF514999}" srcOrd="0" destOrd="0" presId="urn:microsoft.com/office/officeart/2005/8/layout/vList2"/>
    <dgm:cxn modelId="{FC9D350A-50EF-4872-B5A6-AE1BA968D0E9}" type="presParOf" srcId="{0B1486C7-7509-4526-A275-3CF3EF514999}" destId="{A54870C8-2EC0-4F38-AEC9-8C6E0C92ADCD}"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45332-D310-41A9-9872-8B54DAB19369}">
      <dsp:nvSpPr>
        <dsp:cNvPr id="0" name=""/>
        <dsp:cNvSpPr/>
      </dsp:nvSpPr>
      <dsp:spPr>
        <a:xfrm>
          <a:off x="0" y="1215237"/>
          <a:ext cx="10058399" cy="162031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4C2E23-1882-4731-8653-1649F70FE9B4}">
      <dsp:nvSpPr>
        <dsp:cNvPr id="0" name=""/>
        <dsp:cNvSpPr/>
      </dsp:nvSpPr>
      <dsp:spPr>
        <a:xfrm>
          <a:off x="110" y="0"/>
          <a:ext cx="4415775" cy="1620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t-BR" sz="1200" kern="1200" dirty="0"/>
            <a:t>O surgimento dos primeiros servidores não se tem uma data especifica, porque ele foi o resultado de um conjunto de avanços ao longo do tempo. A base para o desenvolvimento dos servidores é em meados de 1965, quando cientista americanos a conectar computadores via linhas telefônicas </a:t>
          </a:r>
          <a:r>
            <a:rPr lang="pt-BR" sz="1200" kern="1200" dirty="0" err="1"/>
            <a:t>mucomeçaramito</a:t>
          </a:r>
          <a:r>
            <a:rPr lang="pt-BR" sz="1200" kern="1200" dirty="0"/>
            <a:t> lentas. Em 69, com o lançamento da ARPANET (antecessora da internet), isso com o tempo foi evoluindo e protocolos como e-mail, Telnet e FTP foram criados, introduzindo assim o modelo cliente/servidor. Documentos da época já falavam termos como "server-host" e "</a:t>
          </a:r>
          <a:r>
            <a:rPr lang="pt-BR" sz="1200" kern="1200" dirty="0" err="1"/>
            <a:t>user</a:t>
          </a:r>
          <a:r>
            <a:rPr lang="pt-BR" sz="1200" kern="1200" dirty="0"/>
            <a:t>-host", caracterizando esse modelo.</a:t>
          </a:r>
        </a:p>
      </dsp:txBody>
      <dsp:txXfrm>
        <a:off x="110" y="0"/>
        <a:ext cx="4415775" cy="1620316"/>
      </dsp:txXfrm>
    </dsp:sp>
    <dsp:sp modelId="{957BF2A6-AD81-4E2D-8AC0-F0A87BB5FDA3}">
      <dsp:nvSpPr>
        <dsp:cNvPr id="0" name=""/>
        <dsp:cNvSpPr/>
      </dsp:nvSpPr>
      <dsp:spPr>
        <a:xfrm>
          <a:off x="2005458" y="1822856"/>
          <a:ext cx="405079" cy="4050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D88270-FE7A-43A8-B62C-D59E01B174C0}">
      <dsp:nvSpPr>
        <dsp:cNvPr id="0" name=""/>
        <dsp:cNvSpPr/>
      </dsp:nvSpPr>
      <dsp:spPr>
        <a:xfrm>
          <a:off x="4636674" y="2430475"/>
          <a:ext cx="4415775" cy="1620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t-BR" sz="1200" kern="1200" dirty="0"/>
            <a:t>Ao mesmo tempo, os modelos baseados em mainframes começaram a se tornar menos utilizados, e o modelo cliente/servidor, mais eficiente e econômico, ganhou destaque. EM 1971, a Intel cria seu primeiro processador, assim substituindo circuitos integrados, possibilitando a criação de computadores menores e melhores. Essas inovações tecnológicas permitiram a implementação de servidores mais acessíveis e com maior segurança, superando as limitações dos antigos mainframes.</a:t>
          </a:r>
        </a:p>
      </dsp:txBody>
      <dsp:txXfrm>
        <a:off x="4636674" y="2430475"/>
        <a:ext cx="4415775" cy="1620316"/>
      </dsp:txXfrm>
    </dsp:sp>
    <dsp:sp modelId="{B7CABCB3-10E6-4B65-9139-C6D65A45178F}">
      <dsp:nvSpPr>
        <dsp:cNvPr id="0" name=""/>
        <dsp:cNvSpPr/>
      </dsp:nvSpPr>
      <dsp:spPr>
        <a:xfrm>
          <a:off x="6642022" y="1822856"/>
          <a:ext cx="405079" cy="4050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419E7-C4C9-4F2D-8C9C-16CCF5513816}">
      <dsp:nvSpPr>
        <dsp:cNvPr id="0" name=""/>
        <dsp:cNvSpPr/>
      </dsp:nvSpPr>
      <dsp:spPr>
        <a:xfrm>
          <a:off x="8916" y="89855"/>
          <a:ext cx="2665043" cy="38710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t-BR" sz="1400" kern="1200"/>
            <a:t>A evolução tecnológica dos servidores e dos processadores desde o final dos anos 70 até o início dos anos 80, é feita por causa da competição entre diversas empresas de tecnologia como IBM, Intel, AMD, Zilog, Motorola, NEC, entre outras.</a:t>
          </a:r>
        </a:p>
      </dsp:txBody>
      <dsp:txXfrm>
        <a:off x="86972" y="167911"/>
        <a:ext cx="2508931" cy="3714968"/>
      </dsp:txXfrm>
    </dsp:sp>
    <dsp:sp modelId="{0C4B8AA8-A316-4FA9-9798-033A47B44689}">
      <dsp:nvSpPr>
        <dsp:cNvPr id="0" name=""/>
        <dsp:cNvSpPr/>
      </dsp:nvSpPr>
      <dsp:spPr>
        <a:xfrm>
          <a:off x="2940464" y="1694930"/>
          <a:ext cx="564989" cy="660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pt-BR" sz="1100" kern="1200"/>
        </a:p>
      </dsp:txBody>
      <dsp:txXfrm>
        <a:off x="2940464" y="1827116"/>
        <a:ext cx="395492" cy="396558"/>
      </dsp:txXfrm>
    </dsp:sp>
    <dsp:sp modelId="{26F500CA-4577-4D34-80E2-52E3354BB0B3}">
      <dsp:nvSpPr>
        <dsp:cNvPr id="0" name=""/>
        <dsp:cNvSpPr/>
      </dsp:nvSpPr>
      <dsp:spPr>
        <a:xfrm>
          <a:off x="3739977" y="89855"/>
          <a:ext cx="2665043" cy="38710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t-BR" sz="1400" kern="1200"/>
            <a:t>Em 1978, a Intel lançou o processador 8086, que se tornou a base da arquitetura usada até hoje na maioria dos processadores de servidores, PCs e notebooks. O IBM PC, lançado em 1981, usava o processador 8088, uma versão de 8 bits do 8086. Com uma competição intensa entre as empresas gerou uma diversidade de opções e arquiteturas de processadores, o que impulsionou o avanço das memórias, formas de armazenamento e a comunicação entre dispositivos.</a:t>
          </a:r>
        </a:p>
      </dsp:txBody>
      <dsp:txXfrm>
        <a:off x="3818033" y="167911"/>
        <a:ext cx="2508931" cy="3714968"/>
      </dsp:txXfrm>
    </dsp:sp>
    <dsp:sp modelId="{CEE96EB3-1088-4695-A594-DA0DA9C75C38}">
      <dsp:nvSpPr>
        <dsp:cNvPr id="0" name=""/>
        <dsp:cNvSpPr/>
      </dsp:nvSpPr>
      <dsp:spPr>
        <a:xfrm>
          <a:off x="6671525" y="1694930"/>
          <a:ext cx="564989" cy="660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pt-BR" sz="1100" kern="1200"/>
        </a:p>
      </dsp:txBody>
      <dsp:txXfrm>
        <a:off x="6671525" y="1827116"/>
        <a:ext cx="395492" cy="396558"/>
      </dsp:txXfrm>
    </dsp:sp>
    <dsp:sp modelId="{75EE0BEF-8A9A-4367-927A-97E4525BD1F6}">
      <dsp:nvSpPr>
        <dsp:cNvPr id="0" name=""/>
        <dsp:cNvSpPr/>
      </dsp:nvSpPr>
      <dsp:spPr>
        <a:xfrm>
          <a:off x="7471038" y="89855"/>
          <a:ext cx="2665043" cy="38710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t-BR" sz="1400" kern="1200"/>
            <a:t>Esses avanços possibilitam a miniaturização dos equipamentos e tornam os computadores mais acessíveis. Nos anos 80, isso resultou na popularização dos PCs em residências e empresas, e na viabilização econômica dos primeiros servidores. Esse período marcou um ponto de transformação irreversível na indústria da computação, que continuou a evoluir rapidamente a partir daí.</a:t>
          </a:r>
        </a:p>
      </dsp:txBody>
      <dsp:txXfrm>
        <a:off x="7549094" y="167911"/>
        <a:ext cx="2508931" cy="37149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891C98-0559-4239-82D1-1ADF4A51254F}">
      <dsp:nvSpPr>
        <dsp:cNvPr id="0" name=""/>
        <dsp:cNvSpPr/>
      </dsp:nvSpPr>
      <dsp:spPr>
        <a:xfrm>
          <a:off x="0" y="86436"/>
          <a:ext cx="10058399" cy="247247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pt-BR" sz="3200" kern="1200"/>
            <a:t>Esse tipo de servidor é o que "mostra" os sites para você quando você entra na internet. Quando você digita um endereço no navegador, o servidor web busca e envia as páginas que você quer ver. É como uma grande "biblioteca" de sites.</a:t>
          </a:r>
        </a:p>
      </dsp:txBody>
      <dsp:txXfrm>
        <a:off x="0" y="86436"/>
        <a:ext cx="10058399" cy="2472479"/>
      </dsp:txXfrm>
    </dsp:sp>
    <dsp:sp modelId="{D778909D-8230-41B4-88B2-7E84CC48C623}">
      <dsp:nvSpPr>
        <dsp:cNvPr id="0" name=""/>
        <dsp:cNvSpPr/>
      </dsp:nvSpPr>
      <dsp:spPr>
        <a:xfrm>
          <a:off x="0" y="2558915"/>
          <a:ext cx="10058399" cy="14054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EAB67-A6B9-4ADF-9DDF-7231CCAD8EBC}">
      <dsp:nvSpPr>
        <dsp:cNvPr id="0" name=""/>
        <dsp:cNvSpPr/>
      </dsp:nvSpPr>
      <dsp:spPr>
        <a:xfrm>
          <a:off x="0" y="74285"/>
          <a:ext cx="10058399" cy="26285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pt-BR" sz="2900" kern="1200"/>
            <a:t>Imagine um lugar onde você guarda documentos e fotos, e que outras pessoas podem acessar pela rede. Esse é o servidor de arquivos. Ele permite que você compartilhe e organize arquivos, como se fosse um "armário digital" onde os outros dispositivos podem pegar ou deixar coisas.</a:t>
          </a:r>
        </a:p>
      </dsp:txBody>
      <dsp:txXfrm>
        <a:off x="0" y="74285"/>
        <a:ext cx="10058399" cy="2628540"/>
      </dsp:txXfrm>
    </dsp:sp>
    <dsp:sp modelId="{757C50CF-0BCE-4528-A782-9FD2585AB65D}">
      <dsp:nvSpPr>
        <dsp:cNvPr id="0" name=""/>
        <dsp:cNvSpPr/>
      </dsp:nvSpPr>
      <dsp:spPr>
        <a:xfrm>
          <a:off x="0" y="2702825"/>
          <a:ext cx="10058399" cy="12736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C364B5-4CBC-4864-8DC3-C73B7D0AA03B}">
      <dsp:nvSpPr>
        <dsp:cNvPr id="0" name=""/>
        <dsp:cNvSpPr/>
      </dsp:nvSpPr>
      <dsp:spPr>
        <a:xfrm>
          <a:off x="0" y="152811"/>
          <a:ext cx="10058399" cy="25154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pt-BR" sz="2800" kern="1200"/>
            <a:t>Esse servidor armazena informações importantes de forma organizada, como em uma grande planilha ou tabela. Quando você usa aplicativos que precisam de dados (como um site de compras ou um app de redes sociais), é esse servidor que guarda e acessa as informações, como os produtos que você comprou ou os amigos que você tem.</a:t>
          </a:r>
        </a:p>
      </dsp:txBody>
      <dsp:txXfrm>
        <a:off x="0" y="152811"/>
        <a:ext cx="10058399" cy="2515409"/>
      </dsp:txXfrm>
    </dsp:sp>
    <dsp:sp modelId="{7BE9946F-BB41-4A43-8A96-D697B7C9EEB0}">
      <dsp:nvSpPr>
        <dsp:cNvPr id="0" name=""/>
        <dsp:cNvSpPr/>
      </dsp:nvSpPr>
      <dsp:spPr>
        <a:xfrm>
          <a:off x="0" y="2668221"/>
          <a:ext cx="10058399" cy="12297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AE9BC-5053-4492-8BE6-5E8BCAE66CBD}">
      <dsp:nvSpPr>
        <dsp:cNvPr id="0" name=""/>
        <dsp:cNvSpPr/>
      </dsp:nvSpPr>
      <dsp:spPr>
        <a:xfrm>
          <a:off x="0" y="86436"/>
          <a:ext cx="10058399" cy="247247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pt-BR" sz="3200" kern="1200"/>
            <a:t>Ele é o responsável por enviar, receber e armazenar seus e-mails. Quando você manda um e-mail ou recebe um, é esse servidor que faz tudo funcionar. Ele pode ser configurado para diferentes tipos de e-mail, como Gmail ou Outlook.</a:t>
          </a:r>
        </a:p>
      </dsp:txBody>
      <dsp:txXfrm>
        <a:off x="0" y="86436"/>
        <a:ext cx="10058399" cy="2472479"/>
      </dsp:txXfrm>
    </dsp:sp>
    <dsp:sp modelId="{AE2CF6A3-696E-464F-936A-0964A5E38580}">
      <dsp:nvSpPr>
        <dsp:cNvPr id="0" name=""/>
        <dsp:cNvSpPr/>
      </dsp:nvSpPr>
      <dsp:spPr>
        <a:xfrm>
          <a:off x="0" y="2558915"/>
          <a:ext cx="10058399" cy="14054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1D8F9F-24BF-4460-B73F-19660828CC62}">
      <dsp:nvSpPr>
        <dsp:cNvPr id="0" name=""/>
        <dsp:cNvSpPr/>
      </dsp:nvSpPr>
      <dsp:spPr>
        <a:xfrm>
          <a:off x="0" y="57276"/>
          <a:ext cx="10058399" cy="248688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lang="pt-BR" sz="3300" kern="1200"/>
            <a:t>Esse servidor roda programas e aplicativos que você usa pela internet. Ele faz o trabalho pesado de processar as informações e enviar de volta os resultados para você, sem que você precise fazer nada no seu computador.</a:t>
          </a:r>
        </a:p>
      </dsp:txBody>
      <dsp:txXfrm>
        <a:off x="0" y="57276"/>
        <a:ext cx="10058399" cy="2486880"/>
      </dsp:txXfrm>
    </dsp:sp>
    <dsp:sp modelId="{EE03E8A7-B27F-423D-8F8C-F24D4F5EEE96}">
      <dsp:nvSpPr>
        <dsp:cNvPr id="0" name=""/>
        <dsp:cNvSpPr/>
      </dsp:nvSpPr>
      <dsp:spPr>
        <a:xfrm>
          <a:off x="0" y="2544155"/>
          <a:ext cx="10058399" cy="14493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C9B27-6320-43A3-84C6-99C1E38EF7D8}">
      <dsp:nvSpPr>
        <dsp:cNvPr id="0" name=""/>
        <dsp:cNvSpPr/>
      </dsp:nvSpPr>
      <dsp:spPr>
        <a:xfrm>
          <a:off x="0" y="57276"/>
          <a:ext cx="10058399" cy="248688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lang="pt-BR" sz="3300" kern="1200"/>
            <a:t>Esse servidor é como um "guia telefônico" da internet. Quando você digita o nome de um site (ex: www.google.com), ele traduz esse nome para um número de identificação (IP), para que seu computador saiba onde encontrar o site.</a:t>
          </a:r>
        </a:p>
      </dsp:txBody>
      <dsp:txXfrm>
        <a:off x="0" y="57276"/>
        <a:ext cx="10058399" cy="2486880"/>
      </dsp:txXfrm>
    </dsp:sp>
    <dsp:sp modelId="{587B3731-8734-40B9-BBFE-B3C6CBC85332}">
      <dsp:nvSpPr>
        <dsp:cNvPr id="0" name=""/>
        <dsp:cNvSpPr/>
      </dsp:nvSpPr>
      <dsp:spPr>
        <a:xfrm>
          <a:off x="0" y="2544155"/>
          <a:ext cx="10058399" cy="14493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40C28A-B5E9-4007-9DE3-4D9E44FA9B53}">
      <dsp:nvSpPr>
        <dsp:cNvPr id="0" name=""/>
        <dsp:cNvSpPr/>
      </dsp:nvSpPr>
      <dsp:spPr>
        <a:xfrm>
          <a:off x="0" y="86436"/>
          <a:ext cx="10058399" cy="247247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pt-BR" sz="3200" kern="1200"/>
            <a:t>Ele funciona como um "porteiro". Ele fica entre o seu computador e a internet, ajudando a controlar o que você acessa. Além disso, pode melhorar a segurança e fazer alguns sites carregarem mais rápido, guardando cópias de informações.</a:t>
          </a:r>
        </a:p>
      </dsp:txBody>
      <dsp:txXfrm>
        <a:off x="0" y="86436"/>
        <a:ext cx="10058399" cy="2472479"/>
      </dsp:txXfrm>
    </dsp:sp>
    <dsp:sp modelId="{590F29E4-84BA-4BBB-8819-36A3378E63A5}">
      <dsp:nvSpPr>
        <dsp:cNvPr id="0" name=""/>
        <dsp:cNvSpPr/>
      </dsp:nvSpPr>
      <dsp:spPr>
        <a:xfrm>
          <a:off x="0" y="2558915"/>
          <a:ext cx="10058399" cy="14054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FE673-2525-44C0-B0EB-BBFD6C8D7063}">
      <dsp:nvSpPr>
        <dsp:cNvPr id="0" name=""/>
        <dsp:cNvSpPr/>
      </dsp:nvSpPr>
      <dsp:spPr>
        <a:xfrm>
          <a:off x="0" y="273546"/>
          <a:ext cx="10058399" cy="223001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pt-BR" sz="2900" kern="1200"/>
            <a:t>Esse servidor é como uma "máquina mágica" que pode criar várias outras máquinas dentro de si. Ou seja, ele permite que vários sistemas operacionais rodem ao mesmo tempo em um único computador, como se você tivesse vários computadores dentro de um só.</a:t>
          </a:r>
        </a:p>
      </dsp:txBody>
      <dsp:txXfrm>
        <a:off x="0" y="273546"/>
        <a:ext cx="10058399" cy="2230019"/>
      </dsp:txXfrm>
    </dsp:sp>
    <dsp:sp modelId="{6BDE5FB0-A3CC-4A4F-9C84-FE4DD3934A71}">
      <dsp:nvSpPr>
        <dsp:cNvPr id="0" name=""/>
        <dsp:cNvSpPr/>
      </dsp:nvSpPr>
      <dsp:spPr>
        <a:xfrm>
          <a:off x="0" y="2503565"/>
          <a:ext cx="10058399" cy="12736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8F78BD-4FE2-4ED9-985D-7429FDA3453E}">
      <dsp:nvSpPr>
        <dsp:cNvPr id="0" name=""/>
        <dsp:cNvSpPr/>
      </dsp:nvSpPr>
      <dsp:spPr>
        <a:xfrm>
          <a:off x="0" y="98382"/>
          <a:ext cx="5593976" cy="1834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1- existem 3 tipos de servidor:  Os servidores físicos são máquinas dedicadas, usados por empresas que precisam de controle total. Servidumores virtuais (VPS) emulam servidores físicos em ambiente virtual, otimizando recursos e facilitando o gerenciamento. Servidores em nuvem oferecem flexibilidade e escalabilidade, adaptando-se rapidamente à demanda. </a:t>
          </a:r>
        </a:p>
      </dsp:txBody>
      <dsp:txXfrm>
        <a:off x="89556" y="187938"/>
        <a:ext cx="5414864" cy="165544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145E4-E073-44BB-8F82-37DA8EE5B7CF}">
      <dsp:nvSpPr>
        <dsp:cNvPr id="0" name=""/>
        <dsp:cNvSpPr/>
      </dsp:nvSpPr>
      <dsp:spPr>
        <a:xfrm>
          <a:off x="0" y="90922"/>
          <a:ext cx="6096000" cy="1572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pt-BR" sz="1600" kern="1200"/>
            <a:t>2- O maior Data Center do mundo é o Lakeside Technology Center, em Chicago (EUA). Ele tem aproximadamente 102 mil m² e mais de 50 geradores de energia. Esse medida corresponde a mais de 10 MASPs (Museu de Arte de São Paulo Assis Chateaubriand) . Na sequência, os data centers da Google, Apple, Microsoft e Facebook, respectivamente.</a:t>
          </a:r>
        </a:p>
      </dsp:txBody>
      <dsp:txXfrm>
        <a:off x="76762" y="167684"/>
        <a:ext cx="5942476" cy="141895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AD570-51FD-439E-AA6C-D25BDDF196D2}">
      <dsp:nvSpPr>
        <dsp:cNvPr id="0" name=""/>
        <dsp:cNvSpPr/>
      </dsp:nvSpPr>
      <dsp:spPr>
        <a:xfrm>
          <a:off x="0" y="217871"/>
          <a:ext cx="6096000" cy="24265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pt-BR" sz="1700" kern="1200"/>
            <a:t>3-</a:t>
          </a:r>
          <a:r>
            <a:rPr lang="pt-BR" sz="1700" b="1" kern="1200"/>
            <a:t>O Consumo de Energia dos Data Centers</a:t>
          </a:r>
          <a:r>
            <a:rPr lang="pt-BR" sz="1700" kern="1200"/>
            <a:t>: Os data centers são responsáveis por uma grande parte do consumo global de energia. Alguns estudos estimam que eles consomem cerca de </a:t>
          </a:r>
          <a:r>
            <a:rPr lang="pt-BR" sz="1700" b="1" kern="1200"/>
            <a:t>2-3%</a:t>
          </a:r>
          <a:r>
            <a:rPr lang="pt-BR" sz="1700" kern="1200"/>
            <a:t> da energia global, equivalente a mais de </a:t>
          </a:r>
          <a:r>
            <a:rPr lang="pt-BR" sz="1700" b="1" kern="1200"/>
            <a:t>200 TWh</a:t>
          </a:r>
          <a:r>
            <a:rPr lang="pt-BR" sz="1700" kern="1200"/>
            <a:t> por ano. Cada servidor pode usar entre </a:t>
          </a:r>
          <a:r>
            <a:rPr lang="pt-BR" sz="1700" b="1" kern="1200"/>
            <a:t>300 e 600 watts</a:t>
          </a:r>
          <a:r>
            <a:rPr lang="pt-BR" sz="1700" kern="1200"/>
            <a:t> de energia, e até </a:t>
          </a:r>
          <a:r>
            <a:rPr lang="pt-BR" sz="1700" b="1" kern="1200"/>
            <a:t>40%</a:t>
          </a:r>
          <a:r>
            <a:rPr lang="pt-BR" sz="1700" kern="1200"/>
            <a:t> da energia é destinada ao resfriamento. O que tem levado muitas empresas a buscar fontes de energia renovável, como solar e eólica, para alimentar suas instalações.</a:t>
          </a:r>
        </a:p>
      </dsp:txBody>
      <dsp:txXfrm>
        <a:off x="118456" y="336327"/>
        <a:ext cx="5859088" cy="218966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870C8-2EC0-4F38-AEC9-8C6E0C92ADCD}">
      <dsp:nvSpPr>
        <dsp:cNvPr id="0" name=""/>
        <dsp:cNvSpPr/>
      </dsp:nvSpPr>
      <dsp:spPr>
        <a:xfrm>
          <a:off x="0" y="22623"/>
          <a:ext cx="5280212" cy="1432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pt-BR" sz="1700" kern="1200"/>
            <a:t>4-Se todas as informações contidas nos data center do mundo todo fossem impressas em papel, seriam necessárias 14 trilhões de árvores. A quantidade de papel produzido daria para embrulhar a Terra 7 vezes.</a:t>
          </a:r>
        </a:p>
      </dsp:txBody>
      <dsp:txXfrm>
        <a:off x="69908" y="92531"/>
        <a:ext cx="5140396" cy="129226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pt-BR"/>
              <a:t>Clique para editar o título Mestre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0DA686F2-BBB3-4A76-BA6F-E6B45DBF87E1}" type="datetimeFigureOut">
              <a:rPr lang="pt-BR" smtClean="0"/>
              <a:t>19/11/2024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1C58BDEC-0B1E-4B7E-82DA-E6AB069DF64A}" type="slidenum">
              <a:rPr lang="pt-BR" smtClean="0"/>
              <a:t>‹nº›</a:t>
            </a:fld>
            <a:endParaRPr lang="pt-BR"/>
          </a:p>
        </p:txBody>
      </p:sp>
    </p:spTree>
    <p:extLst>
      <p:ext uri="{BB962C8B-B14F-4D97-AF65-F5344CB8AC3E}">
        <p14:creationId xmlns:p14="http://schemas.microsoft.com/office/powerpoint/2010/main" val="3045410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DA686F2-BBB3-4A76-BA6F-E6B45DBF87E1}" type="datetimeFigureOut">
              <a:rPr lang="pt-BR" smtClean="0"/>
              <a:t>19/11/2024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513935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pt-BR"/>
              <a:t>Clique para editar o título Mestre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a:xfrm>
            <a:off x="8593667" y="6272784"/>
            <a:ext cx="2644309" cy="365125"/>
          </a:xfrm>
        </p:spPr>
        <p:txBody>
          <a:bodyPr/>
          <a:lstStyle/>
          <a:p>
            <a:fld id="{0DA686F2-BBB3-4A76-BA6F-E6B45DBF87E1}" type="datetimeFigureOut">
              <a:rPr lang="pt-BR" smtClean="0"/>
              <a:t>19/11/2024</a:t>
            </a:fld>
            <a:endParaRPr lang="pt-BR"/>
          </a:p>
        </p:txBody>
      </p:sp>
      <p:sp>
        <p:nvSpPr>
          <p:cNvPr id="5" name="Footer Placeholder 4"/>
          <p:cNvSpPr>
            <a:spLocks noGrp="1"/>
          </p:cNvSpPr>
          <p:nvPr>
            <p:ph type="ftr" sz="quarter" idx="11"/>
          </p:nvPr>
        </p:nvSpPr>
        <p:spPr>
          <a:xfrm>
            <a:off x="2182708" y="6272784"/>
            <a:ext cx="6327648" cy="365125"/>
          </a:xfrm>
        </p:spPr>
        <p:txBody>
          <a:bodyPr/>
          <a:lstStyle/>
          <a:p>
            <a:endParaRPr lang="pt-B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1C58BDEC-0B1E-4B7E-82DA-E6AB069DF64A}" type="slidenum">
              <a:rPr lang="pt-BR" smtClean="0"/>
              <a:t>‹nº›</a:t>
            </a:fld>
            <a:endParaRPr lang="pt-BR"/>
          </a:p>
        </p:txBody>
      </p:sp>
    </p:spTree>
    <p:extLst>
      <p:ext uri="{BB962C8B-B14F-4D97-AF65-F5344CB8AC3E}">
        <p14:creationId xmlns:p14="http://schemas.microsoft.com/office/powerpoint/2010/main" val="258680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DA686F2-BBB3-4A76-BA6F-E6B45DBF87E1}" type="datetimeFigureOut">
              <a:rPr lang="pt-BR" smtClean="0"/>
              <a:t>19/11/2024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58905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a:t>Clique para editar o título Mestre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0DA686F2-BBB3-4A76-BA6F-E6B45DBF87E1}" type="datetimeFigureOut">
              <a:rPr lang="pt-BR" smtClean="0"/>
              <a:t>19/11/2024</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376575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0DA686F2-BBB3-4A76-BA6F-E6B45DBF87E1}" type="datetimeFigureOut">
              <a:rPr lang="pt-BR" smtClean="0"/>
              <a:t>19/11/2024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1539183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A686F2-BBB3-4A76-BA6F-E6B45DBF87E1}" type="datetimeFigureOut">
              <a:rPr lang="pt-BR" smtClean="0"/>
              <a:t>19/11/2024</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242164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a:t>Clique para editar o título Mestre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0DA686F2-BBB3-4A76-BA6F-E6B45DBF87E1}" type="datetimeFigureOut">
              <a:rPr lang="pt-BR" smtClean="0"/>
              <a:t>19/11/2024</a:t>
            </a:fld>
            <a:endParaRPr lang="pt-BR"/>
          </a:p>
        </p:txBody>
      </p:sp>
      <p:sp>
        <p:nvSpPr>
          <p:cNvPr id="6" name="Footer Placeholder 5"/>
          <p:cNvSpPr>
            <a:spLocks noGrp="1"/>
          </p:cNvSpPr>
          <p:nvPr>
            <p:ph type="ftr" sz="quarter" idx="11"/>
          </p:nvPr>
        </p:nvSpPr>
        <p:spPr/>
        <p:txBody>
          <a:bodyPr/>
          <a:lstStyle/>
          <a:p>
            <a:endParaRPr lang="pt-B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1266812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0DA686F2-BBB3-4A76-BA6F-E6B45DBF87E1}" type="datetimeFigureOut">
              <a:rPr lang="pt-BR" smtClean="0"/>
              <a:t>19/11/2024</a:t>
            </a:fld>
            <a:endParaRPr lang="pt-B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99889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DA686F2-BBB3-4A76-BA6F-E6B45DBF87E1}" type="datetimeFigureOut">
              <a:rPr lang="pt-BR" smtClean="0"/>
              <a:t>19/11/2024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2493124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DA686F2-BBB3-4A76-BA6F-E6B45DBF87E1}" type="datetimeFigureOut">
              <a:rPr lang="pt-BR" smtClean="0"/>
              <a:t>19/11/2024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C58BDEC-0B1E-4B7E-82DA-E6AB069DF64A}" type="slidenum">
              <a:rPr lang="pt-BR" smtClean="0"/>
              <a:t>‹nº›</a:t>
            </a:fld>
            <a:endParaRPr lang="pt-BR"/>
          </a:p>
        </p:txBody>
      </p:sp>
    </p:spTree>
    <p:extLst>
      <p:ext uri="{BB962C8B-B14F-4D97-AF65-F5344CB8AC3E}">
        <p14:creationId xmlns:p14="http://schemas.microsoft.com/office/powerpoint/2010/main" val="1635569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0DA686F2-BBB3-4A76-BA6F-E6B45DBF87E1}" type="datetimeFigureOut">
              <a:rPr lang="pt-BR" smtClean="0"/>
              <a:t>19/11/2024</a:t>
            </a:fld>
            <a:endParaRPr lang="pt-B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pt-B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1C58BDEC-0B1E-4B7E-82DA-E6AB069DF64A}" type="slidenum">
              <a:rPr lang="pt-BR" smtClean="0"/>
              <a:t>‹nº›</a:t>
            </a:fld>
            <a:endParaRPr lang="pt-BR"/>
          </a:p>
        </p:txBody>
      </p:sp>
    </p:spTree>
    <p:extLst>
      <p:ext uri="{BB962C8B-B14F-4D97-AF65-F5344CB8AC3E}">
        <p14:creationId xmlns:p14="http://schemas.microsoft.com/office/powerpoint/2010/main" val="361581493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3" Type="http://schemas.openxmlformats.org/officeDocument/2006/relationships/diagramLayout" Target="../diagrams/layout11.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5" Type="http://schemas.openxmlformats.org/officeDocument/2006/relationships/diagramColors" Target="../diagrams/colors13.xml"/><Relationship Id="rId10" Type="http://schemas.openxmlformats.org/officeDocument/2006/relationships/diagramColors" Target="../diagrams/colors12.xml"/><Relationship Id="rId19" Type="http://schemas.openxmlformats.org/officeDocument/2006/relationships/diagramQuickStyle" Target="../diagrams/quickStyle14.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pt.wikipedia.org/wiki/Servidor" TargetMode="External"/><Relationship Id="rId2" Type="http://schemas.openxmlformats.org/officeDocument/2006/relationships/hyperlink" Target="https://www.hostmidia.com.br/blog/o-que-e-servidor/" TargetMode="External"/><Relationship Id="rId1" Type="http://schemas.openxmlformats.org/officeDocument/2006/relationships/slideLayout" Target="../slideLayouts/slideLayout2.xml"/><Relationship Id="rId4" Type="http://schemas.openxmlformats.org/officeDocument/2006/relationships/hyperlink" Target="https://www.controle.net/faq/o-que-sao-servido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2B020D-671D-468C-A02A-696096CAE44A}"/>
              </a:ext>
            </a:extLst>
          </p:cNvPr>
          <p:cNvSpPr>
            <a:spLocks noGrp="1"/>
          </p:cNvSpPr>
          <p:nvPr>
            <p:ph type="ctrTitle"/>
          </p:nvPr>
        </p:nvSpPr>
        <p:spPr/>
        <p:txBody>
          <a:bodyPr/>
          <a:lstStyle/>
          <a:p>
            <a:r>
              <a:rPr lang="pt-BR"/>
              <a:t>SERVIDORES</a:t>
            </a:r>
            <a:endParaRPr lang="pt-BR" dirty="0"/>
          </a:p>
        </p:txBody>
      </p:sp>
      <p:sp>
        <p:nvSpPr>
          <p:cNvPr id="6" name="Subtítulo 5">
            <a:extLst>
              <a:ext uri="{FF2B5EF4-FFF2-40B4-BE49-F238E27FC236}">
                <a16:creationId xmlns:a16="http://schemas.microsoft.com/office/drawing/2014/main" id="{E6A591F8-AF24-40E3-AC9A-8356B925785D}"/>
              </a:ext>
            </a:extLst>
          </p:cNvPr>
          <p:cNvSpPr>
            <a:spLocks noGrp="1"/>
          </p:cNvSpPr>
          <p:nvPr>
            <p:ph type="subTitle" idx="1"/>
          </p:nvPr>
        </p:nvSpPr>
        <p:spPr>
          <a:xfrm>
            <a:off x="0" y="5788152"/>
            <a:ext cx="7891272" cy="1069848"/>
          </a:xfrm>
        </p:spPr>
        <p:txBody>
          <a:bodyPr/>
          <a:lstStyle/>
          <a:p>
            <a:pPr marL="342900" indent="-342900">
              <a:buFont typeface="Arial" panose="020B0604020202020204" pitchFamily="34" charset="0"/>
              <a:buChar char="•"/>
            </a:pPr>
            <a:r>
              <a:rPr lang="pt-BR" dirty="0"/>
              <a:t>Henrique </a:t>
            </a:r>
            <a:r>
              <a:rPr lang="pt-BR" dirty="0" err="1"/>
              <a:t>Pavoni</a:t>
            </a:r>
            <a:endParaRPr lang="pt-BR" dirty="0"/>
          </a:p>
          <a:p>
            <a:pPr marL="342900" indent="-342900">
              <a:buFont typeface="Arial" panose="020B0604020202020204" pitchFamily="34" charset="0"/>
              <a:buChar char="•"/>
            </a:pPr>
            <a:r>
              <a:rPr lang="pt-BR" dirty="0"/>
              <a:t>Samuel Freire</a:t>
            </a:r>
          </a:p>
        </p:txBody>
      </p:sp>
    </p:spTree>
    <p:extLst>
      <p:ext uri="{BB962C8B-B14F-4D97-AF65-F5344CB8AC3E}">
        <p14:creationId xmlns:p14="http://schemas.microsoft.com/office/powerpoint/2010/main" val="4086504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B6B027-6B61-4DBF-ADA2-AB2AEF8E9CA5}"/>
              </a:ext>
            </a:extLst>
          </p:cNvPr>
          <p:cNvSpPr>
            <a:spLocks noGrp="1"/>
          </p:cNvSpPr>
          <p:nvPr>
            <p:ph type="title"/>
          </p:nvPr>
        </p:nvSpPr>
        <p:spPr/>
        <p:txBody>
          <a:bodyPr>
            <a:normAutofit/>
          </a:bodyPr>
          <a:lstStyle/>
          <a:p>
            <a:r>
              <a:rPr lang="pt-BR" dirty="0"/>
              <a:t>INTRODUÇÃO</a:t>
            </a:r>
            <a:br>
              <a:rPr lang="pt-BR" b="0" dirty="0">
                <a:effectLst/>
              </a:rPr>
            </a:br>
            <a:endParaRPr lang="pt-BR" dirty="0"/>
          </a:p>
        </p:txBody>
      </p:sp>
      <p:sp>
        <p:nvSpPr>
          <p:cNvPr id="3" name="Espaço Reservado para Conteúdo 2">
            <a:extLst>
              <a:ext uri="{FF2B5EF4-FFF2-40B4-BE49-F238E27FC236}">
                <a16:creationId xmlns:a16="http://schemas.microsoft.com/office/drawing/2014/main" id="{4B3A4846-CDEA-4867-9FAA-8715F333C6AA}"/>
              </a:ext>
            </a:extLst>
          </p:cNvPr>
          <p:cNvSpPr>
            <a:spLocks noGrp="1"/>
          </p:cNvSpPr>
          <p:nvPr>
            <p:ph idx="1"/>
          </p:nvPr>
        </p:nvSpPr>
        <p:spPr/>
        <p:txBody>
          <a:bodyPr>
            <a:normAutofit fontScale="92500" lnSpcReduction="10000"/>
          </a:bodyPr>
          <a:lstStyle/>
          <a:p>
            <a:pPr algn="just"/>
            <a:r>
              <a:rPr lang="pt-BR" sz="2800" dirty="0"/>
              <a:t>Serve r são sistemas ou computadores, designados para fornecer recursos e serviços a outros dispositivos, que por sua vez são chamados clientes, por meio de redes. Eles ajudam a manter e armazenar dados, certifique-se de realizar a comunicação e o acesso a recursos compartilhados, hospedagem de sites e processamento de informações. Desde o início dos Mainframes até a computação em nuvem, os servidores têm mudado para atender à crescente proliferação da crescente de infraestruturas digitais e estão no coração da Wild Web e das aplicações da Web modernas.</a:t>
            </a:r>
            <a:endParaRPr lang="pt-BR" sz="2800" b="0" dirty="0">
              <a:effectLst/>
            </a:endParaRPr>
          </a:p>
          <a:p>
            <a:pPr marL="0" indent="0">
              <a:buNone/>
            </a:pPr>
            <a:br>
              <a:rPr lang="pt-BR" dirty="0"/>
            </a:br>
            <a:endParaRPr lang="pt-BR" dirty="0"/>
          </a:p>
        </p:txBody>
      </p:sp>
    </p:spTree>
    <p:extLst>
      <p:ext uri="{BB962C8B-B14F-4D97-AF65-F5344CB8AC3E}">
        <p14:creationId xmlns:p14="http://schemas.microsoft.com/office/powerpoint/2010/main" val="3461759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68F166C-18FD-4F91-A5D9-BFBDC06ADFD4}"/>
              </a:ext>
            </a:extLst>
          </p:cNvPr>
          <p:cNvSpPr>
            <a:spLocks noGrp="1"/>
          </p:cNvSpPr>
          <p:nvPr>
            <p:ph type="ctrTitle"/>
          </p:nvPr>
        </p:nvSpPr>
        <p:spPr>
          <a:xfrm>
            <a:off x="845371" y="1557729"/>
            <a:ext cx="10351547" cy="3035808"/>
          </a:xfrm>
        </p:spPr>
        <p:txBody>
          <a:bodyPr/>
          <a:lstStyle/>
          <a:p>
            <a:r>
              <a:rPr lang="pt-BR" sz="15000" dirty="0"/>
              <a:t>PRA QUE SERVE? </a:t>
            </a:r>
          </a:p>
        </p:txBody>
      </p:sp>
    </p:spTree>
    <p:extLst>
      <p:ext uri="{BB962C8B-B14F-4D97-AF65-F5344CB8AC3E}">
        <p14:creationId xmlns:p14="http://schemas.microsoft.com/office/powerpoint/2010/main" val="1292145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D4651D-41F1-40FD-B5D6-3014011F4849}"/>
              </a:ext>
            </a:extLst>
          </p:cNvPr>
          <p:cNvSpPr>
            <a:spLocks noGrp="1"/>
          </p:cNvSpPr>
          <p:nvPr>
            <p:ph type="title"/>
          </p:nvPr>
        </p:nvSpPr>
        <p:spPr/>
        <p:txBody>
          <a:bodyPr>
            <a:normAutofit/>
          </a:bodyPr>
          <a:lstStyle/>
          <a:p>
            <a:pPr algn="ctr"/>
            <a:r>
              <a:rPr lang="pt-BR" dirty="0"/>
              <a:t>Pra que serve</a:t>
            </a:r>
            <a:br>
              <a:rPr lang="pt-BR" b="0" dirty="0">
                <a:effectLst/>
              </a:rPr>
            </a:br>
            <a:endParaRPr lang="pt-BR" dirty="0"/>
          </a:p>
        </p:txBody>
      </p:sp>
      <p:sp>
        <p:nvSpPr>
          <p:cNvPr id="3" name="Espaço Reservado para Conteúdo 2">
            <a:extLst>
              <a:ext uri="{FF2B5EF4-FFF2-40B4-BE49-F238E27FC236}">
                <a16:creationId xmlns:a16="http://schemas.microsoft.com/office/drawing/2014/main" id="{049B432E-BEEB-414C-ABAF-32D5482F6C1F}"/>
              </a:ext>
            </a:extLst>
          </p:cNvPr>
          <p:cNvSpPr>
            <a:spLocks noGrp="1"/>
          </p:cNvSpPr>
          <p:nvPr>
            <p:ph idx="1"/>
          </p:nvPr>
        </p:nvSpPr>
        <p:spPr>
          <a:xfrm>
            <a:off x="1069848" y="2121408"/>
            <a:ext cx="10058400" cy="4050792"/>
          </a:xfrm>
        </p:spPr>
        <p:txBody>
          <a:bodyPr>
            <a:normAutofit/>
          </a:bodyPr>
          <a:lstStyle/>
          <a:p>
            <a:pPr algn="just"/>
            <a:r>
              <a:rPr lang="pt-BR" sz="2400" dirty="0"/>
              <a:t>Os servidores são servidores, sistemas ou com </a:t>
            </a:r>
            <a:r>
              <a:rPr lang="pt-BR" sz="2400" dirty="0" err="1"/>
              <a:t>noputadores</a:t>
            </a:r>
            <a:r>
              <a:rPr lang="pt-BR" sz="2400" dirty="0"/>
              <a:t> que possuem a capacidade de cumprir as necessidades de dispositivos cliente através de uma ou mais redes, locais ou remotas e mesmo que possam ser um ou vários programas, eles fornecem a execução de processos e/ou recursos de armazenamento de dados. Por isso, o tipo mais comum de servidores são os que hospedam e centralizam recursos que são os mais necessários, como armazenamento de arquivos, servidores web, entre outros.</a:t>
            </a:r>
            <a:endParaRPr lang="pt-BR" sz="2400" b="0" dirty="0">
              <a:effectLst/>
            </a:endParaRPr>
          </a:p>
          <a:p>
            <a:pPr marL="0" indent="0">
              <a:buNone/>
            </a:pPr>
            <a:endParaRPr lang="pt-BR" dirty="0"/>
          </a:p>
        </p:txBody>
      </p:sp>
    </p:spTree>
    <p:extLst>
      <p:ext uri="{BB962C8B-B14F-4D97-AF65-F5344CB8AC3E}">
        <p14:creationId xmlns:p14="http://schemas.microsoft.com/office/powerpoint/2010/main" val="2142638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8F4649-6B43-4A24-A98A-F9F45BEAA411}"/>
              </a:ext>
            </a:extLst>
          </p:cNvPr>
          <p:cNvSpPr>
            <a:spLocks noGrp="1"/>
          </p:cNvSpPr>
          <p:nvPr>
            <p:ph type="ctrTitle"/>
          </p:nvPr>
        </p:nvSpPr>
        <p:spPr/>
        <p:txBody>
          <a:bodyPr/>
          <a:lstStyle/>
          <a:p>
            <a:r>
              <a:rPr lang="pt-BR" sz="15000" dirty="0"/>
              <a:t>História</a:t>
            </a:r>
          </a:p>
        </p:txBody>
      </p:sp>
    </p:spTree>
    <p:extLst>
      <p:ext uri="{BB962C8B-B14F-4D97-AF65-F5344CB8AC3E}">
        <p14:creationId xmlns:p14="http://schemas.microsoft.com/office/powerpoint/2010/main" val="668251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D26CFE-491A-4157-8A3C-72FA6DBFB4B3}"/>
              </a:ext>
            </a:extLst>
          </p:cNvPr>
          <p:cNvSpPr>
            <a:spLocks noGrp="1"/>
          </p:cNvSpPr>
          <p:nvPr>
            <p:ph type="title"/>
          </p:nvPr>
        </p:nvSpPr>
        <p:spPr/>
        <p:txBody>
          <a:bodyPr>
            <a:normAutofit/>
          </a:bodyPr>
          <a:lstStyle/>
          <a:p>
            <a:r>
              <a:rPr lang="pt-BR" dirty="0"/>
              <a:t>História</a:t>
            </a:r>
            <a:br>
              <a:rPr lang="pt-BR" b="0" dirty="0">
                <a:effectLst/>
              </a:rPr>
            </a:br>
            <a:endParaRPr lang="pt-BR" dirty="0"/>
          </a:p>
        </p:txBody>
      </p:sp>
      <p:graphicFrame>
        <p:nvGraphicFramePr>
          <p:cNvPr id="5" name="Espaço Reservado para Conteúdo 4">
            <a:extLst>
              <a:ext uri="{FF2B5EF4-FFF2-40B4-BE49-F238E27FC236}">
                <a16:creationId xmlns:a16="http://schemas.microsoft.com/office/drawing/2014/main" id="{F557FB71-6DB2-4A67-8F30-FD9ECF428211}"/>
              </a:ext>
            </a:extLst>
          </p:cNvPr>
          <p:cNvGraphicFramePr>
            <a:graphicFrameLocks noGrp="1"/>
          </p:cNvGraphicFramePr>
          <p:nvPr>
            <p:ph idx="1"/>
            <p:extLst>
              <p:ext uri="{D42A27DB-BD31-4B8C-83A1-F6EECF244321}">
                <p14:modId xmlns:p14="http://schemas.microsoft.com/office/powerpoint/2010/main" val="3699515344"/>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4898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18C9B9-FF78-471B-B200-1DF30E93B282}"/>
              </a:ext>
            </a:extLst>
          </p:cNvPr>
          <p:cNvSpPr>
            <a:spLocks noGrp="1"/>
          </p:cNvSpPr>
          <p:nvPr>
            <p:ph type="title"/>
          </p:nvPr>
        </p:nvSpPr>
        <p:spPr/>
        <p:txBody>
          <a:bodyPr>
            <a:normAutofit/>
          </a:bodyPr>
          <a:lstStyle/>
          <a:p>
            <a:r>
              <a:rPr lang="pt-BR" dirty="0"/>
              <a:t>Evolução Tecnológica e o servidor</a:t>
            </a:r>
            <a:br>
              <a:rPr lang="pt-BR" b="1" dirty="0">
                <a:effectLst/>
              </a:rPr>
            </a:br>
            <a:endParaRPr lang="pt-BR" dirty="0"/>
          </a:p>
        </p:txBody>
      </p:sp>
      <p:graphicFrame>
        <p:nvGraphicFramePr>
          <p:cNvPr id="5" name="Espaço Reservado para Conteúdo 4">
            <a:extLst>
              <a:ext uri="{FF2B5EF4-FFF2-40B4-BE49-F238E27FC236}">
                <a16:creationId xmlns:a16="http://schemas.microsoft.com/office/drawing/2014/main" id="{C07B64B8-17B1-49C4-BEA4-36677ABE0C0D}"/>
              </a:ext>
            </a:extLst>
          </p:cNvPr>
          <p:cNvGraphicFramePr>
            <a:graphicFrameLocks noGrp="1"/>
          </p:cNvGraphicFramePr>
          <p:nvPr>
            <p:ph idx="1"/>
            <p:extLst>
              <p:ext uri="{D42A27DB-BD31-4B8C-83A1-F6EECF244321}">
                <p14:modId xmlns:p14="http://schemas.microsoft.com/office/powerpoint/2010/main" val="4261053930"/>
              </p:ext>
            </p:extLst>
          </p:nvPr>
        </p:nvGraphicFramePr>
        <p:xfrm>
          <a:off x="1023500" y="2093976"/>
          <a:ext cx="10144999"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4230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ítulo 2">
            <a:extLst>
              <a:ext uri="{FF2B5EF4-FFF2-40B4-BE49-F238E27FC236}">
                <a16:creationId xmlns:a16="http://schemas.microsoft.com/office/drawing/2014/main" id="{C085C8BC-374E-4746-B94E-85A0D04B54F2}"/>
              </a:ext>
            </a:extLst>
          </p:cNvPr>
          <p:cNvSpPr>
            <a:spLocks noGrp="1"/>
          </p:cNvSpPr>
          <p:nvPr>
            <p:ph type="ctrTitle"/>
          </p:nvPr>
        </p:nvSpPr>
        <p:spPr>
          <a:xfrm>
            <a:off x="1084731" y="1819835"/>
            <a:ext cx="10345270" cy="2667281"/>
          </a:xfrm>
        </p:spPr>
        <p:txBody>
          <a:bodyPr>
            <a:noAutofit/>
          </a:bodyPr>
          <a:lstStyle/>
          <a:p>
            <a:r>
              <a:rPr lang="pt-BR" sz="15000" dirty="0"/>
              <a:t>Modelos</a:t>
            </a:r>
          </a:p>
        </p:txBody>
      </p:sp>
    </p:spTree>
    <p:extLst>
      <p:ext uri="{BB962C8B-B14F-4D97-AF65-F5344CB8AC3E}">
        <p14:creationId xmlns:p14="http://schemas.microsoft.com/office/powerpoint/2010/main" val="2953109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3F966F-1BDA-41FA-813F-68306463D4DB}"/>
              </a:ext>
            </a:extLst>
          </p:cNvPr>
          <p:cNvSpPr>
            <a:spLocks noGrp="1"/>
          </p:cNvSpPr>
          <p:nvPr>
            <p:ph type="title"/>
          </p:nvPr>
        </p:nvSpPr>
        <p:spPr/>
        <p:txBody>
          <a:bodyPr/>
          <a:lstStyle/>
          <a:p>
            <a:r>
              <a:rPr lang="pt-BR" b="1" dirty="0"/>
              <a:t>Servidor Web</a:t>
            </a:r>
            <a:r>
              <a:rPr lang="pt-BR" dirty="0"/>
              <a:t>: </a:t>
            </a:r>
          </a:p>
        </p:txBody>
      </p:sp>
      <p:graphicFrame>
        <p:nvGraphicFramePr>
          <p:cNvPr id="4" name="Espaço Reservado para Conteúdo 3">
            <a:extLst>
              <a:ext uri="{FF2B5EF4-FFF2-40B4-BE49-F238E27FC236}">
                <a16:creationId xmlns:a16="http://schemas.microsoft.com/office/drawing/2014/main" id="{C0460827-D88C-4E55-8CE9-68BA89E48CA0}"/>
              </a:ext>
            </a:extLst>
          </p:cNvPr>
          <p:cNvGraphicFramePr>
            <a:graphicFrameLocks noGrp="1"/>
          </p:cNvGraphicFramePr>
          <p:nvPr>
            <p:ph idx="1"/>
            <p:extLst>
              <p:ext uri="{D42A27DB-BD31-4B8C-83A1-F6EECF244321}">
                <p14:modId xmlns:p14="http://schemas.microsoft.com/office/powerpoint/2010/main" val="2395348913"/>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9565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CF97B7-F740-44E1-8DDB-BFECC8702DD6}"/>
              </a:ext>
            </a:extLst>
          </p:cNvPr>
          <p:cNvSpPr>
            <a:spLocks noGrp="1"/>
          </p:cNvSpPr>
          <p:nvPr>
            <p:ph type="title"/>
          </p:nvPr>
        </p:nvSpPr>
        <p:spPr/>
        <p:txBody>
          <a:bodyPr/>
          <a:lstStyle/>
          <a:p>
            <a:r>
              <a:rPr lang="pt-BR" b="1" dirty="0"/>
              <a:t>Servidor de Arquivos</a:t>
            </a:r>
            <a:r>
              <a:rPr lang="pt-BR" dirty="0"/>
              <a:t>: </a:t>
            </a:r>
          </a:p>
        </p:txBody>
      </p:sp>
      <p:graphicFrame>
        <p:nvGraphicFramePr>
          <p:cNvPr id="4" name="Espaço Reservado para Conteúdo 3">
            <a:extLst>
              <a:ext uri="{FF2B5EF4-FFF2-40B4-BE49-F238E27FC236}">
                <a16:creationId xmlns:a16="http://schemas.microsoft.com/office/drawing/2014/main" id="{51E45D06-B662-469E-85AA-E45B4885313A}"/>
              </a:ext>
            </a:extLst>
          </p:cNvPr>
          <p:cNvGraphicFramePr>
            <a:graphicFrameLocks noGrp="1"/>
          </p:cNvGraphicFramePr>
          <p:nvPr>
            <p:ph idx="1"/>
            <p:extLst>
              <p:ext uri="{D42A27DB-BD31-4B8C-83A1-F6EECF244321}">
                <p14:modId xmlns:p14="http://schemas.microsoft.com/office/powerpoint/2010/main" val="2322675232"/>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5000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2F27C-DFD3-4E18-A4CC-E55404699031}"/>
              </a:ext>
            </a:extLst>
          </p:cNvPr>
          <p:cNvSpPr>
            <a:spLocks noGrp="1"/>
          </p:cNvSpPr>
          <p:nvPr>
            <p:ph type="title"/>
          </p:nvPr>
        </p:nvSpPr>
        <p:spPr/>
        <p:txBody>
          <a:bodyPr/>
          <a:lstStyle/>
          <a:p>
            <a:r>
              <a:rPr lang="pt-BR" b="1" dirty="0"/>
              <a:t>Servidor de Banco de Dados</a:t>
            </a:r>
            <a:r>
              <a:rPr lang="pt-BR" dirty="0"/>
              <a:t>: </a:t>
            </a:r>
          </a:p>
        </p:txBody>
      </p:sp>
      <p:graphicFrame>
        <p:nvGraphicFramePr>
          <p:cNvPr id="4" name="Espaço Reservado para Conteúdo 3">
            <a:extLst>
              <a:ext uri="{FF2B5EF4-FFF2-40B4-BE49-F238E27FC236}">
                <a16:creationId xmlns:a16="http://schemas.microsoft.com/office/drawing/2014/main" id="{77AD647C-9E25-49CA-BD3F-A8B66CDE827B}"/>
              </a:ext>
            </a:extLst>
          </p:cNvPr>
          <p:cNvGraphicFramePr>
            <a:graphicFrameLocks noGrp="1"/>
          </p:cNvGraphicFramePr>
          <p:nvPr>
            <p:ph idx="1"/>
            <p:extLst>
              <p:ext uri="{D42A27DB-BD31-4B8C-83A1-F6EECF244321}">
                <p14:modId xmlns:p14="http://schemas.microsoft.com/office/powerpoint/2010/main" val="3124661513"/>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9494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944A3E-0A85-45AA-AF03-B5185DE7F2F1}"/>
              </a:ext>
            </a:extLst>
          </p:cNvPr>
          <p:cNvSpPr>
            <a:spLocks noGrp="1"/>
          </p:cNvSpPr>
          <p:nvPr>
            <p:ph type="title"/>
          </p:nvPr>
        </p:nvSpPr>
        <p:spPr/>
        <p:txBody>
          <a:bodyPr/>
          <a:lstStyle/>
          <a:p>
            <a:r>
              <a:rPr lang="pt-BR" b="1" dirty="0"/>
              <a:t>Servidor de E-mail</a:t>
            </a:r>
            <a:r>
              <a:rPr lang="pt-BR" dirty="0"/>
              <a:t>: </a:t>
            </a:r>
          </a:p>
        </p:txBody>
      </p:sp>
      <p:graphicFrame>
        <p:nvGraphicFramePr>
          <p:cNvPr id="4" name="Espaço Reservado para Conteúdo 3">
            <a:extLst>
              <a:ext uri="{FF2B5EF4-FFF2-40B4-BE49-F238E27FC236}">
                <a16:creationId xmlns:a16="http://schemas.microsoft.com/office/drawing/2014/main" id="{A0A13425-0929-4304-A8B1-FFE85784D52A}"/>
              </a:ext>
            </a:extLst>
          </p:cNvPr>
          <p:cNvGraphicFramePr>
            <a:graphicFrameLocks noGrp="1"/>
          </p:cNvGraphicFramePr>
          <p:nvPr>
            <p:ph idx="1"/>
            <p:extLst>
              <p:ext uri="{D42A27DB-BD31-4B8C-83A1-F6EECF244321}">
                <p14:modId xmlns:p14="http://schemas.microsoft.com/office/powerpoint/2010/main" val="2733881481"/>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0080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226AC-10C9-4ABA-97B0-327BF0AA1A05}"/>
              </a:ext>
            </a:extLst>
          </p:cNvPr>
          <p:cNvSpPr>
            <a:spLocks noGrp="1"/>
          </p:cNvSpPr>
          <p:nvPr>
            <p:ph type="title"/>
          </p:nvPr>
        </p:nvSpPr>
        <p:spPr/>
        <p:txBody>
          <a:bodyPr/>
          <a:lstStyle/>
          <a:p>
            <a:r>
              <a:rPr lang="pt-BR" b="1" dirty="0"/>
              <a:t>Servidor de Aplicações</a:t>
            </a:r>
            <a:r>
              <a:rPr lang="pt-BR" dirty="0"/>
              <a:t>: </a:t>
            </a:r>
          </a:p>
        </p:txBody>
      </p:sp>
      <p:graphicFrame>
        <p:nvGraphicFramePr>
          <p:cNvPr id="4" name="Espaço Reservado para Conteúdo 3">
            <a:extLst>
              <a:ext uri="{FF2B5EF4-FFF2-40B4-BE49-F238E27FC236}">
                <a16:creationId xmlns:a16="http://schemas.microsoft.com/office/drawing/2014/main" id="{BBF2DE94-D56B-4FE8-A50A-1708539315F6}"/>
              </a:ext>
            </a:extLst>
          </p:cNvPr>
          <p:cNvGraphicFramePr>
            <a:graphicFrameLocks noGrp="1"/>
          </p:cNvGraphicFramePr>
          <p:nvPr>
            <p:ph idx="1"/>
            <p:extLst>
              <p:ext uri="{D42A27DB-BD31-4B8C-83A1-F6EECF244321}">
                <p14:modId xmlns:p14="http://schemas.microsoft.com/office/powerpoint/2010/main" val="3019781515"/>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2209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3F788B-093F-42CD-9295-F719158F4202}"/>
              </a:ext>
            </a:extLst>
          </p:cNvPr>
          <p:cNvSpPr>
            <a:spLocks noGrp="1"/>
          </p:cNvSpPr>
          <p:nvPr>
            <p:ph type="title"/>
          </p:nvPr>
        </p:nvSpPr>
        <p:spPr/>
        <p:txBody>
          <a:bodyPr>
            <a:normAutofit/>
          </a:bodyPr>
          <a:lstStyle/>
          <a:p>
            <a:r>
              <a:rPr lang="pt-BR" b="1" dirty="0"/>
              <a:t>Servidor DNS (Domain </a:t>
            </a:r>
            <a:r>
              <a:rPr lang="pt-BR" b="1" dirty="0" err="1"/>
              <a:t>Name</a:t>
            </a:r>
            <a:r>
              <a:rPr lang="pt-BR" b="1" dirty="0"/>
              <a:t> System)</a:t>
            </a:r>
            <a:r>
              <a:rPr lang="pt-BR" dirty="0"/>
              <a:t>: </a:t>
            </a:r>
          </a:p>
        </p:txBody>
      </p:sp>
      <p:graphicFrame>
        <p:nvGraphicFramePr>
          <p:cNvPr id="4" name="Espaço Reservado para Conteúdo 3">
            <a:extLst>
              <a:ext uri="{FF2B5EF4-FFF2-40B4-BE49-F238E27FC236}">
                <a16:creationId xmlns:a16="http://schemas.microsoft.com/office/drawing/2014/main" id="{BD174CEC-CED7-48C9-B80F-6B82B5B1F2CD}"/>
              </a:ext>
            </a:extLst>
          </p:cNvPr>
          <p:cNvGraphicFramePr>
            <a:graphicFrameLocks noGrp="1"/>
          </p:cNvGraphicFramePr>
          <p:nvPr>
            <p:ph idx="1"/>
            <p:extLst>
              <p:ext uri="{D42A27DB-BD31-4B8C-83A1-F6EECF244321}">
                <p14:modId xmlns:p14="http://schemas.microsoft.com/office/powerpoint/2010/main" val="2567092083"/>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1568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56EBED-5A77-42BA-9A06-413E3CB880FF}"/>
              </a:ext>
            </a:extLst>
          </p:cNvPr>
          <p:cNvSpPr>
            <a:spLocks noGrp="1"/>
          </p:cNvSpPr>
          <p:nvPr>
            <p:ph type="title"/>
          </p:nvPr>
        </p:nvSpPr>
        <p:spPr/>
        <p:txBody>
          <a:bodyPr/>
          <a:lstStyle/>
          <a:p>
            <a:r>
              <a:rPr lang="pt-BR" b="1" dirty="0"/>
              <a:t>Servidor Proxy</a:t>
            </a:r>
            <a:r>
              <a:rPr lang="pt-BR" dirty="0"/>
              <a:t>: </a:t>
            </a:r>
          </a:p>
        </p:txBody>
      </p:sp>
      <p:graphicFrame>
        <p:nvGraphicFramePr>
          <p:cNvPr id="4" name="Espaço Reservado para Conteúdo 3">
            <a:extLst>
              <a:ext uri="{FF2B5EF4-FFF2-40B4-BE49-F238E27FC236}">
                <a16:creationId xmlns:a16="http://schemas.microsoft.com/office/drawing/2014/main" id="{32C26B22-60D3-4FBA-A2BC-BAEEE0E562A9}"/>
              </a:ext>
            </a:extLst>
          </p:cNvPr>
          <p:cNvGraphicFramePr>
            <a:graphicFrameLocks noGrp="1"/>
          </p:cNvGraphicFramePr>
          <p:nvPr>
            <p:ph idx="1"/>
            <p:extLst>
              <p:ext uri="{D42A27DB-BD31-4B8C-83A1-F6EECF244321}">
                <p14:modId xmlns:p14="http://schemas.microsoft.com/office/powerpoint/2010/main" val="2375573350"/>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2566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4326E2-E91C-4358-863B-453815D0FE70}"/>
              </a:ext>
            </a:extLst>
          </p:cNvPr>
          <p:cNvSpPr>
            <a:spLocks noGrp="1"/>
          </p:cNvSpPr>
          <p:nvPr>
            <p:ph type="title"/>
          </p:nvPr>
        </p:nvSpPr>
        <p:spPr/>
        <p:txBody>
          <a:bodyPr/>
          <a:lstStyle/>
          <a:p>
            <a:r>
              <a:rPr lang="pt-BR" b="1" dirty="0"/>
              <a:t>Servidor de Virtualização</a:t>
            </a:r>
            <a:r>
              <a:rPr lang="pt-BR" dirty="0"/>
              <a:t>: </a:t>
            </a:r>
          </a:p>
        </p:txBody>
      </p:sp>
      <p:graphicFrame>
        <p:nvGraphicFramePr>
          <p:cNvPr id="4" name="Espaço Reservado para Conteúdo 3">
            <a:extLst>
              <a:ext uri="{FF2B5EF4-FFF2-40B4-BE49-F238E27FC236}">
                <a16:creationId xmlns:a16="http://schemas.microsoft.com/office/drawing/2014/main" id="{B3E18C24-EC88-45EF-BAA4-9BED9920EBDD}"/>
              </a:ext>
            </a:extLst>
          </p:cNvPr>
          <p:cNvGraphicFramePr>
            <a:graphicFrameLocks noGrp="1"/>
          </p:cNvGraphicFramePr>
          <p:nvPr>
            <p:ph idx="1"/>
            <p:extLst>
              <p:ext uri="{D42A27DB-BD31-4B8C-83A1-F6EECF244321}">
                <p14:modId xmlns:p14="http://schemas.microsoft.com/office/powerpoint/2010/main" val="2628524150"/>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7601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5A4194-DD9F-48DF-ADEF-52FFF96D0987}"/>
              </a:ext>
            </a:extLst>
          </p:cNvPr>
          <p:cNvSpPr>
            <a:spLocks noGrp="1"/>
          </p:cNvSpPr>
          <p:nvPr>
            <p:ph type="title"/>
          </p:nvPr>
        </p:nvSpPr>
        <p:spPr>
          <a:xfrm>
            <a:off x="2559220" y="325449"/>
            <a:ext cx="6706008" cy="1015663"/>
          </a:xfrm>
        </p:spPr>
        <p:txBody>
          <a:bodyPr>
            <a:noAutofit/>
          </a:bodyPr>
          <a:lstStyle/>
          <a:p>
            <a:pPr algn="ctr"/>
            <a:r>
              <a:rPr lang="pt-BR" sz="8000" dirty="0"/>
              <a:t>CURIOSIDADES</a:t>
            </a:r>
          </a:p>
        </p:txBody>
      </p:sp>
      <p:graphicFrame>
        <p:nvGraphicFramePr>
          <p:cNvPr id="11" name="Diagrama 10">
            <a:extLst>
              <a:ext uri="{FF2B5EF4-FFF2-40B4-BE49-F238E27FC236}">
                <a16:creationId xmlns:a16="http://schemas.microsoft.com/office/drawing/2014/main" id="{38532D14-6ADE-4F9F-8621-F427473E5C63}"/>
              </a:ext>
            </a:extLst>
          </p:cNvPr>
          <p:cNvGraphicFramePr/>
          <p:nvPr/>
        </p:nvGraphicFramePr>
        <p:xfrm>
          <a:off x="134471" y="1156446"/>
          <a:ext cx="5593976" cy="203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a 11">
            <a:extLst>
              <a:ext uri="{FF2B5EF4-FFF2-40B4-BE49-F238E27FC236}">
                <a16:creationId xmlns:a16="http://schemas.microsoft.com/office/drawing/2014/main" id="{88A6FBBE-8FE4-43B9-867E-BCD2CB4E947E}"/>
              </a:ext>
            </a:extLst>
          </p:cNvPr>
          <p:cNvGraphicFramePr/>
          <p:nvPr/>
        </p:nvGraphicFramePr>
        <p:xfrm>
          <a:off x="6096000" y="1674674"/>
          <a:ext cx="6096000" cy="17543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3" name="Diagrama 12">
            <a:extLst>
              <a:ext uri="{FF2B5EF4-FFF2-40B4-BE49-F238E27FC236}">
                <a16:creationId xmlns:a16="http://schemas.microsoft.com/office/drawing/2014/main" id="{3FA4C106-EC68-4525-B62B-CA9B2A485477}"/>
              </a:ext>
            </a:extLst>
          </p:cNvPr>
          <p:cNvGraphicFramePr/>
          <p:nvPr/>
        </p:nvGraphicFramePr>
        <p:xfrm>
          <a:off x="510989" y="3187771"/>
          <a:ext cx="6096000" cy="286232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4" name="Diagrama 13">
            <a:extLst>
              <a:ext uri="{FF2B5EF4-FFF2-40B4-BE49-F238E27FC236}">
                <a16:creationId xmlns:a16="http://schemas.microsoft.com/office/drawing/2014/main" id="{1BE16C54-5E71-4ECE-A090-58BB04ED480C}"/>
              </a:ext>
            </a:extLst>
          </p:cNvPr>
          <p:cNvGraphicFramePr/>
          <p:nvPr/>
        </p:nvGraphicFramePr>
        <p:xfrm>
          <a:off x="6998176" y="4202839"/>
          <a:ext cx="5280212" cy="147732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3201877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F83919-26E6-4A9D-9D3C-CDC7463960F9}"/>
              </a:ext>
            </a:extLst>
          </p:cNvPr>
          <p:cNvSpPr>
            <a:spLocks noGrp="1"/>
          </p:cNvSpPr>
          <p:nvPr>
            <p:ph type="ctrTitle"/>
          </p:nvPr>
        </p:nvSpPr>
        <p:spPr/>
        <p:txBody>
          <a:bodyPr/>
          <a:lstStyle/>
          <a:p>
            <a:r>
              <a:rPr lang="pt-BR" sz="15000" dirty="0"/>
              <a:t>Conclusão</a:t>
            </a:r>
          </a:p>
        </p:txBody>
      </p:sp>
    </p:spTree>
    <p:extLst>
      <p:ext uri="{BB962C8B-B14F-4D97-AF65-F5344CB8AC3E}">
        <p14:creationId xmlns:p14="http://schemas.microsoft.com/office/powerpoint/2010/main" val="1619935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A749D8-155C-42E8-8D40-EA0496D13E42}"/>
              </a:ext>
            </a:extLst>
          </p:cNvPr>
          <p:cNvSpPr>
            <a:spLocks noGrp="1"/>
          </p:cNvSpPr>
          <p:nvPr>
            <p:ph type="title"/>
          </p:nvPr>
        </p:nvSpPr>
        <p:spPr/>
        <p:txBody>
          <a:bodyPr>
            <a:normAutofit/>
          </a:bodyPr>
          <a:lstStyle/>
          <a:p>
            <a:r>
              <a:rPr lang="pt-BR" dirty="0"/>
              <a:t>Conclusão</a:t>
            </a:r>
            <a:br>
              <a:rPr lang="pt-BR" b="0" dirty="0">
                <a:effectLst/>
              </a:rPr>
            </a:br>
            <a:endParaRPr lang="pt-BR" dirty="0"/>
          </a:p>
        </p:txBody>
      </p:sp>
      <p:sp>
        <p:nvSpPr>
          <p:cNvPr id="3" name="Espaço Reservado para Conteúdo 2">
            <a:extLst>
              <a:ext uri="{FF2B5EF4-FFF2-40B4-BE49-F238E27FC236}">
                <a16:creationId xmlns:a16="http://schemas.microsoft.com/office/drawing/2014/main" id="{46DBC00D-15E5-4F15-A06D-62079BCC5516}"/>
              </a:ext>
            </a:extLst>
          </p:cNvPr>
          <p:cNvSpPr>
            <a:spLocks noGrp="1"/>
          </p:cNvSpPr>
          <p:nvPr>
            <p:ph idx="1"/>
          </p:nvPr>
        </p:nvSpPr>
        <p:spPr/>
        <p:txBody>
          <a:bodyPr>
            <a:normAutofit fontScale="92500" lnSpcReduction="20000"/>
          </a:bodyPr>
          <a:lstStyle/>
          <a:p>
            <a:pPr algn="just"/>
            <a:r>
              <a:rPr lang="pt-BR" sz="2800" dirty="0"/>
              <a:t> Os servidores são muito importantes no mundo moderno digital, fornecendo recursos e serviços a outros dispositivos. Desde os primeiros experimentos na década de 60 até os servidores em nuvens, com uma evolução impulsionada por inovações tecnológicas, eles se tornaram mais acessíveis e poderosos. Os servidores garantem o funcionamento de diversos serviços, como e-mails, sites e armazenamento de dados. Além da busca por soluções mais renováveis. Em resumo, os servidores são a base do mundo digital atual e continuarão a crescer para atender às necessidades de conectividade e processamento de dados.</a:t>
            </a:r>
            <a:endParaRPr lang="pt-BR" sz="2800" b="0" dirty="0">
              <a:effectLst/>
            </a:endParaRPr>
          </a:p>
          <a:p>
            <a:pPr marL="0" indent="0">
              <a:buNone/>
            </a:pPr>
            <a:br>
              <a:rPr lang="pt-BR" dirty="0"/>
            </a:br>
            <a:endParaRPr lang="pt-BR" dirty="0"/>
          </a:p>
        </p:txBody>
      </p:sp>
    </p:spTree>
    <p:extLst>
      <p:ext uri="{BB962C8B-B14F-4D97-AF65-F5344CB8AC3E}">
        <p14:creationId xmlns:p14="http://schemas.microsoft.com/office/powerpoint/2010/main" val="178441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FD7E9B-D7BA-4E87-8D22-5174F5C7AF19}"/>
              </a:ext>
            </a:extLst>
          </p:cNvPr>
          <p:cNvSpPr>
            <a:spLocks noGrp="1"/>
          </p:cNvSpPr>
          <p:nvPr>
            <p:ph type="title"/>
          </p:nvPr>
        </p:nvSpPr>
        <p:spPr/>
        <p:txBody>
          <a:bodyPr>
            <a:normAutofit/>
          </a:bodyPr>
          <a:lstStyle/>
          <a:p>
            <a:r>
              <a:rPr lang="pt-BR" dirty="0"/>
              <a:t>Bibliografia</a:t>
            </a:r>
            <a:br>
              <a:rPr lang="pt-BR" b="0" dirty="0">
                <a:effectLst/>
              </a:rPr>
            </a:br>
            <a:endParaRPr lang="pt-BR" dirty="0"/>
          </a:p>
        </p:txBody>
      </p:sp>
      <p:sp>
        <p:nvSpPr>
          <p:cNvPr id="3" name="Espaço Reservado para Conteúdo 2">
            <a:extLst>
              <a:ext uri="{FF2B5EF4-FFF2-40B4-BE49-F238E27FC236}">
                <a16:creationId xmlns:a16="http://schemas.microsoft.com/office/drawing/2014/main" id="{4FAD779B-F8CC-4B8A-9A82-9FCE6B921246}"/>
              </a:ext>
            </a:extLst>
          </p:cNvPr>
          <p:cNvSpPr>
            <a:spLocks noGrp="1"/>
          </p:cNvSpPr>
          <p:nvPr>
            <p:ph idx="1"/>
          </p:nvPr>
        </p:nvSpPr>
        <p:spPr/>
        <p:txBody>
          <a:bodyPr>
            <a:normAutofit/>
          </a:bodyPr>
          <a:lstStyle/>
          <a:p>
            <a:pPr fontAlgn="base"/>
            <a:r>
              <a:rPr lang="pt-BR" u="sng" dirty="0">
                <a:hlinkClick r:id="rId2"/>
              </a:rPr>
              <a:t>https://www.hostmidia.com.br/blog/o-que-e-servidor/</a:t>
            </a:r>
            <a:endParaRPr lang="pt-BR" dirty="0"/>
          </a:p>
          <a:p>
            <a:pPr fontAlgn="base"/>
            <a:r>
              <a:rPr lang="pt-BR" u="sng" dirty="0">
                <a:hlinkClick r:id="rId3"/>
              </a:rPr>
              <a:t>https://pt.wikipedia.org/wiki/Servidor</a:t>
            </a:r>
            <a:endParaRPr lang="pt-BR" dirty="0"/>
          </a:p>
          <a:p>
            <a:pPr fontAlgn="base"/>
            <a:r>
              <a:rPr lang="pt-BR" u="sng" dirty="0">
                <a:hlinkClick r:id="rId4"/>
              </a:rPr>
              <a:t>https://www.controle.net/faq/o-que-sao-servidores</a:t>
            </a:r>
            <a:endParaRPr lang="pt-BR" dirty="0"/>
          </a:p>
          <a:p>
            <a:pPr fontAlgn="base"/>
            <a:r>
              <a:rPr lang="pt-BR" dirty="0"/>
              <a:t>https://www.ipmetal.com.br/blogs/</a:t>
            </a:r>
            <a:r>
              <a:rPr lang="pt-BR" dirty="0" err="1"/>
              <a:t>news</a:t>
            </a:r>
            <a:r>
              <a:rPr lang="pt-BR" dirty="0"/>
              <a:t>/8-curiosidades-sobre-dados-e-data-centers#:~:</a:t>
            </a:r>
            <a:r>
              <a:rPr lang="pt-BR" dirty="0" err="1"/>
              <a:t>text</a:t>
            </a:r>
            <a:r>
              <a:rPr lang="pt-BR" dirty="0"/>
              <a:t>=1.,de%2050%20geradores%20de%20energia.</a:t>
            </a:r>
          </a:p>
          <a:p>
            <a:pPr marL="0" indent="0">
              <a:buNone/>
            </a:pPr>
            <a:br>
              <a:rPr lang="pt-BR" dirty="0"/>
            </a:br>
            <a:endParaRPr lang="pt-BR" dirty="0"/>
          </a:p>
        </p:txBody>
      </p:sp>
    </p:spTree>
    <p:extLst>
      <p:ext uri="{BB962C8B-B14F-4D97-AF65-F5344CB8AC3E}">
        <p14:creationId xmlns:p14="http://schemas.microsoft.com/office/powerpoint/2010/main" val="9508095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ira">
  <a:themeElements>
    <a:clrScheme name="Tipo de Madeira">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ipo de Madeira">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ipo de Madeira">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Tipo de Madeira</Template>
  <TotalTime>98</TotalTime>
  <Words>1284</Words>
  <Application>Microsoft Office PowerPoint</Application>
  <PresentationFormat>Widescreen</PresentationFormat>
  <Paragraphs>49</Paragraphs>
  <Slides>20</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20</vt:i4>
      </vt:variant>
    </vt:vector>
  </HeadingPairs>
  <TitlesOfParts>
    <vt:vector size="25" baseType="lpstr">
      <vt:lpstr>Arial</vt:lpstr>
      <vt:lpstr>Rockwell</vt:lpstr>
      <vt:lpstr>Rockwell Condensed</vt:lpstr>
      <vt:lpstr>Wingdings</vt:lpstr>
      <vt:lpstr>Tipo de Madeira</vt:lpstr>
      <vt:lpstr>SERVIDORES</vt:lpstr>
      <vt:lpstr>INTRODUÇÃO </vt:lpstr>
      <vt:lpstr>PRA QUE SERVE? </vt:lpstr>
      <vt:lpstr>Pra que serve </vt:lpstr>
      <vt:lpstr>História</vt:lpstr>
      <vt:lpstr>História </vt:lpstr>
      <vt:lpstr>Evolução Tecnológica e o servidor </vt:lpstr>
      <vt:lpstr>Modelos</vt:lpstr>
      <vt:lpstr>Servidor Web: </vt:lpstr>
      <vt:lpstr>Servidor de Arquivos: </vt:lpstr>
      <vt:lpstr>Servidor de Banco de Dados: </vt:lpstr>
      <vt:lpstr>Servidor de E-mail: </vt:lpstr>
      <vt:lpstr>Servidor de Aplicações: </vt:lpstr>
      <vt:lpstr>Servidor DNS (Domain Name System): </vt:lpstr>
      <vt:lpstr>Servidor Proxy: </vt:lpstr>
      <vt:lpstr>Servidor de Virtualização: </vt:lpstr>
      <vt:lpstr>CURIOSIDADES</vt:lpstr>
      <vt:lpstr>Conclusão</vt:lpstr>
      <vt:lpstr>Conclusão </vt:lpstr>
      <vt:lpstr>Bibliografia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Acer</dc:creator>
  <cp:lastModifiedBy>Acer</cp:lastModifiedBy>
  <cp:revision>6</cp:revision>
  <dcterms:created xsi:type="dcterms:W3CDTF">2024-11-19T02:32:00Z</dcterms:created>
  <dcterms:modified xsi:type="dcterms:W3CDTF">2024-11-19T04:21:10Z</dcterms:modified>
</cp:coreProperties>
</file>