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rlow Bold" charset="1" panose="00000800000000000000"/>
      <p:regular r:id="rId13"/>
    </p:embeddedFont>
    <p:embeddedFont>
      <p:font typeface="Barlow Semi-Bold Italics" charset="1" panose="00000700000000000000"/>
      <p:regular r:id="rId14"/>
    </p:embeddedFont>
    <p:embeddedFont>
      <p:font typeface="Barlow" charset="1" panose="00000500000000000000"/>
      <p:regular r:id="rId15"/>
    </p:embeddedFont>
    <p:embeddedFont>
      <p:font typeface="Barlow Bold Italics" charset="1" panose="00000800000000000000"/>
      <p:regular r:id="rId16"/>
    </p:embeddedFont>
    <p:embeddedFont>
      <p:font typeface="Barlow Semi-Bold" charset="1" panose="000007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49996" y="-41740"/>
            <a:ext cx="7618608" cy="11480095"/>
          </a:xfrm>
          <a:custGeom>
            <a:avLst/>
            <a:gdLst/>
            <a:ahLst/>
            <a:cxnLst/>
            <a:rect r="r" b="b" t="t" l="l"/>
            <a:pathLst>
              <a:path h="11480095" w="7618608">
                <a:moveTo>
                  <a:pt x="0" y="0"/>
                </a:moveTo>
                <a:lnTo>
                  <a:pt x="7618608" y="0"/>
                </a:lnTo>
                <a:lnTo>
                  <a:pt x="7618608" y="11480095"/>
                </a:lnTo>
                <a:lnTo>
                  <a:pt x="0" y="1148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54195" y="-1193095"/>
            <a:ext cx="7618608" cy="11480095"/>
          </a:xfrm>
          <a:custGeom>
            <a:avLst/>
            <a:gdLst/>
            <a:ahLst/>
            <a:cxnLst/>
            <a:rect r="r" b="b" t="t" l="l"/>
            <a:pathLst>
              <a:path h="11480095" w="7618608">
                <a:moveTo>
                  <a:pt x="0" y="0"/>
                </a:moveTo>
                <a:lnTo>
                  <a:pt x="7618608" y="0"/>
                </a:lnTo>
                <a:lnTo>
                  <a:pt x="7618608" y="11480095"/>
                </a:lnTo>
                <a:lnTo>
                  <a:pt x="0" y="1148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4998" y="3178750"/>
            <a:ext cx="14998005" cy="251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7"/>
              </a:lnSpc>
            </a:pPr>
            <a:r>
              <a:rPr lang="en-US" b="true" sz="1561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</a:t>
            </a:r>
            <a:r>
              <a:rPr lang="en-US" b="true" sz="1561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presentação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4413" y="4518528"/>
            <a:ext cx="10998571" cy="1872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23"/>
              </a:lnSpc>
            </a:pPr>
            <a:r>
              <a:rPr lang="en-US" b="true" sz="11556" i="true">
                <a:solidFill>
                  <a:srgbClr val="FFFFFF"/>
                </a:solidFill>
                <a:latin typeface="Barlow Semi-Bold Italics"/>
                <a:ea typeface="Barlow Semi-Bold Italics"/>
                <a:cs typeface="Barlow Semi-Bold Italics"/>
                <a:sym typeface="Barlow Semi-Bold Italics"/>
              </a:rPr>
              <a:t>da placa de rede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114764" y="6391056"/>
            <a:ext cx="2058472" cy="558361"/>
          </a:xfrm>
          <a:custGeom>
            <a:avLst/>
            <a:gdLst/>
            <a:ahLst/>
            <a:cxnLst/>
            <a:rect r="r" b="b" t="t" l="l"/>
            <a:pathLst>
              <a:path h="558361" w="2058472">
                <a:moveTo>
                  <a:pt x="0" y="0"/>
                </a:moveTo>
                <a:lnTo>
                  <a:pt x="2058472" y="0"/>
                </a:lnTo>
                <a:lnTo>
                  <a:pt x="2058472" y="558360"/>
                </a:lnTo>
                <a:lnTo>
                  <a:pt x="0" y="558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05859">
            <a:off x="12712759" y="6578049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1" y="0"/>
                </a:lnTo>
                <a:lnTo>
                  <a:pt x="73004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670323">
            <a:off x="-1829068" y="-672774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366054" y="7235732"/>
            <a:ext cx="11455856" cy="830549"/>
            <a:chOff x="0" y="0"/>
            <a:chExt cx="3017180" cy="2187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17180" cy="218745"/>
            </a:xfrm>
            <a:custGeom>
              <a:avLst/>
              <a:gdLst/>
              <a:ahLst/>
              <a:cxnLst/>
              <a:rect r="r" b="b" t="t" l="l"/>
              <a:pathLst>
                <a:path h="218745" w="3017180">
                  <a:moveTo>
                    <a:pt x="34466" y="0"/>
                  </a:moveTo>
                  <a:lnTo>
                    <a:pt x="2982714" y="0"/>
                  </a:lnTo>
                  <a:cubicBezTo>
                    <a:pt x="2991855" y="0"/>
                    <a:pt x="3000622" y="3631"/>
                    <a:pt x="3007085" y="10095"/>
                  </a:cubicBezTo>
                  <a:cubicBezTo>
                    <a:pt x="3013549" y="16559"/>
                    <a:pt x="3017180" y="25325"/>
                    <a:pt x="3017180" y="34466"/>
                  </a:cubicBezTo>
                  <a:lnTo>
                    <a:pt x="3017180" y="184279"/>
                  </a:lnTo>
                  <a:cubicBezTo>
                    <a:pt x="3017180" y="193420"/>
                    <a:pt x="3013549" y="202187"/>
                    <a:pt x="3007085" y="208651"/>
                  </a:cubicBezTo>
                  <a:cubicBezTo>
                    <a:pt x="3000622" y="215114"/>
                    <a:pt x="2991855" y="218745"/>
                    <a:pt x="2982714" y="218745"/>
                  </a:cubicBezTo>
                  <a:lnTo>
                    <a:pt x="34466" y="218745"/>
                  </a:lnTo>
                  <a:cubicBezTo>
                    <a:pt x="25325" y="218745"/>
                    <a:pt x="16559" y="215114"/>
                    <a:pt x="10095" y="208651"/>
                  </a:cubicBezTo>
                  <a:cubicBezTo>
                    <a:pt x="3631" y="202187"/>
                    <a:pt x="0" y="193420"/>
                    <a:pt x="0" y="184279"/>
                  </a:cubicBezTo>
                  <a:lnTo>
                    <a:pt x="0" y="34466"/>
                  </a:lnTo>
                  <a:cubicBezTo>
                    <a:pt x="0" y="25325"/>
                    <a:pt x="3631" y="16559"/>
                    <a:pt x="10095" y="10095"/>
                  </a:cubicBezTo>
                  <a:cubicBezTo>
                    <a:pt x="16559" y="3631"/>
                    <a:pt x="25325" y="0"/>
                    <a:pt x="34466" y="0"/>
                  </a:cubicBezTo>
                  <a:close/>
                </a:path>
              </a:pathLst>
            </a:custGeom>
            <a:solidFill>
              <a:srgbClr val="404664"/>
            </a:solidFill>
            <a:ln w="66675" cap="rnd">
              <a:solidFill>
                <a:srgbClr val="06D0C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017180" cy="266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51423" y="7217581"/>
            <a:ext cx="8685118" cy="63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3893" spc="15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LEONARDO A. PÁDUA E DANIEL SGODA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84891" y="-531902"/>
            <a:ext cx="3382092" cy="11662387"/>
          </a:xfrm>
          <a:custGeom>
            <a:avLst/>
            <a:gdLst/>
            <a:ahLst/>
            <a:cxnLst/>
            <a:rect r="r" b="b" t="t" l="l"/>
            <a:pathLst>
              <a:path h="11662387" w="3382092">
                <a:moveTo>
                  <a:pt x="0" y="0"/>
                </a:moveTo>
                <a:lnTo>
                  <a:pt x="3382092" y="0"/>
                </a:lnTo>
                <a:lnTo>
                  <a:pt x="3382092" y="11662387"/>
                </a:lnTo>
                <a:lnTo>
                  <a:pt x="0" y="11662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440981"/>
            <a:ext cx="6642467" cy="8281035"/>
            <a:chOff x="0" y="0"/>
            <a:chExt cx="1324253" cy="1650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4253" cy="1650921"/>
            </a:xfrm>
            <a:custGeom>
              <a:avLst/>
              <a:gdLst/>
              <a:ahLst/>
              <a:cxnLst/>
              <a:rect r="r" b="b" t="t" l="l"/>
              <a:pathLst>
                <a:path h="1650921" w="1324253">
                  <a:moveTo>
                    <a:pt x="59441" y="0"/>
                  </a:moveTo>
                  <a:lnTo>
                    <a:pt x="1264812" y="0"/>
                  </a:lnTo>
                  <a:cubicBezTo>
                    <a:pt x="1297640" y="0"/>
                    <a:pt x="1324253" y="26613"/>
                    <a:pt x="1324253" y="59441"/>
                  </a:cubicBezTo>
                  <a:lnTo>
                    <a:pt x="1324253" y="1591479"/>
                  </a:lnTo>
                  <a:cubicBezTo>
                    <a:pt x="1324253" y="1624308"/>
                    <a:pt x="1297640" y="1650921"/>
                    <a:pt x="1264812" y="1650921"/>
                  </a:cubicBezTo>
                  <a:lnTo>
                    <a:pt x="59441" y="1650921"/>
                  </a:lnTo>
                  <a:cubicBezTo>
                    <a:pt x="26613" y="1650921"/>
                    <a:pt x="0" y="1624308"/>
                    <a:pt x="0" y="1591479"/>
                  </a:cubicBezTo>
                  <a:lnTo>
                    <a:pt x="0" y="59441"/>
                  </a:lnTo>
                  <a:cubicBezTo>
                    <a:pt x="0" y="26613"/>
                    <a:pt x="26613" y="0"/>
                    <a:pt x="594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B548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24253" cy="169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78866" y="1532658"/>
            <a:ext cx="5057297" cy="289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3"/>
              </a:lnSpc>
            </a:pPr>
            <a:r>
              <a:rPr lang="en-US" b="true" sz="14616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intro</a:t>
            </a:r>
          </a:p>
          <a:p>
            <a:pPr algn="l" marL="0" indent="0" lvl="0">
              <a:lnSpc>
                <a:spcPts val="10523"/>
              </a:lnSpc>
            </a:pPr>
            <a:r>
              <a:rPr lang="en-US" b="true" sz="14616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dução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74823" y="5852500"/>
            <a:ext cx="4152464" cy="4685432"/>
          </a:xfrm>
          <a:custGeom>
            <a:avLst/>
            <a:gdLst/>
            <a:ahLst/>
            <a:cxnLst/>
            <a:rect r="r" b="b" t="t" l="l"/>
            <a:pathLst>
              <a:path h="4685432" w="4152464">
                <a:moveTo>
                  <a:pt x="0" y="0"/>
                </a:moveTo>
                <a:lnTo>
                  <a:pt x="4152464" y="0"/>
                </a:lnTo>
                <a:lnTo>
                  <a:pt x="4152464" y="4685433"/>
                </a:lnTo>
                <a:lnTo>
                  <a:pt x="0" y="4685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79787" y="2436806"/>
            <a:ext cx="5570892" cy="445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9" spc="11">
                <a:solidFill>
                  <a:srgbClr val="353B57"/>
                </a:solidFill>
                <a:latin typeface="Barlow"/>
                <a:ea typeface="Barlow"/>
                <a:cs typeface="Barlow"/>
                <a:sym typeface="Barlow"/>
              </a:rPr>
              <a:t>As placas de rede começaram a ser utilizadas nos anos 80, após a comercialização em massa das placas Ethernet. A Ethernet se tornou o tipo padrão de placa de rede devido ao seu custo mais acessível em comparação com outras tecnologias da época, como o Token Ring, que era mais caro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9575" y="471152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49863" y="471152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57933" y="1979999"/>
            <a:ext cx="10372134" cy="6327002"/>
          </a:xfrm>
          <a:custGeom>
            <a:avLst/>
            <a:gdLst/>
            <a:ahLst/>
            <a:cxnLst/>
            <a:rect r="r" b="b" t="t" l="l"/>
            <a:pathLst>
              <a:path h="6327002" w="10372134">
                <a:moveTo>
                  <a:pt x="0" y="0"/>
                </a:moveTo>
                <a:lnTo>
                  <a:pt x="10372134" y="0"/>
                </a:lnTo>
                <a:lnTo>
                  <a:pt x="10372134" y="6327002"/>
                </a:lnTo>
                <a:lnTo>
                  <a:pt x="0" y="632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86481" y="3099831"/>
            <a:ext cx="9115037" cy="46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86"/>
              </a:lnSpc>
            </a:pPr>
            <a:r>
              <a:rPr lang="en-US" b="true" sz="14251">
                <a:solidFill>
                  <a:srgbClr val="06D0C4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Os Tipos de Placas de Rede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21510" y="3908545"/>
            <a:ext cx="2019152" cy="2469910"/>
          </a:xfrm>
          <a:custGeom>
            <a:avLst/>
            <a:gdLst/>
            <a:ahLst/>
            <a:cxnLst/>
            <a:rect r="r" b="b" t="t" l="l"/>
            <a:pathLst>
              <a:path h="2469910" w="2019152">
                <a:moveTo>
                  <a:pt x="0" y="0"/>
                </a:moveTo>
                <a:lnTo>
                  <a:pt x="2019151" y="0"/>
                </a:lnTo>
                <a:lnTo>
                  <a:pt x="2019151" y="2469910"/>
                </a:lnTo>
                <a:lnTo>
                  <a:pt x="0" y="2469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26387" y="3768584"/>
            <a:ext cx="1838951" cy="2749833"/>
          </a:xfrm>
          <a:custGeom>
            <a:avLst/>
            <a:gdLst/>
            <a:ahLst/>
            <a:cxnLst/>
            <a:rect r="r" b="b" t="t" l="l"/>
            <a:pathLst>
              <a:path h="2749833" w="1838951">
                <a:moveTo>
                  <a:pt x="0" y="0"/>
                </a:moveTo>
                <a:lnTo>
                  <a:pt x="1838950" y="0"/>
                </a:lnTo>
                <a:lnTo>
                  <a:pt x="1838950" y="2749832"/>
                </a:lnTo>
                <a:lnTo>
                  <a:pt x="0" y="27498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1302" y="2281030"/>
            <a:ext cx="10350695" cy="6051266"/>
            <a:chOff x="0" y="0"/>
            <a:chExt cx="2063531" cy="120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3531" cy="1206390"/>
            </a:xfrm>
            <a:custGeom>
              <a:avLst/>
              <a:gdLst/>
              <a:ahLst/>
              <a:cxnLst/>
              <a:rect r="r" b="b" t="t" l="l"/>
              <a:pathLst>
                <a:path h="1206390" w="2063531">
                  <a:moveTo>
                    <a:pt x="74796" y="0"/>
                  </a:moveTo>
                  <a:lnTo>
                    <a:pt x="1988735" y="0"/>
                  </a:lnTo>
                  <a:cubicBezTo>
                    <a:pt x="2008572" y="0"/>
                    <a:pt x="2027597" y="7880"/>
                    <a:pt x="2041624" y="21907"/>
                  </a:cubicBezTo>
                  <a:cubicBezTo>
                    <a:pt x="2055651" y="35934"/>
                    <a:pt x="2063531" y="54959"/>
                    <a:pt x="2063531" y="74796"/>
                  </a:cubicBezTo>
                  <a:lnTo>
                    <a:pt x="2063531" y="1131594"/>
                  </a:lnTo>
                  <a:cubicBezTo>
                    <a:pt x="2063531" y="1151431"/>
                    <a:pt x="2055651" y="1170456"/>
                    <a:pt x="2041624" y="1184483"/>
                  </a:cubicBezTo>
                  <a:cubicBezTo>
                    <a:pt x="2027597" y="1198510"/>
                    <a:pt x="2008572" y="1206390"/>
                    <a:pt x="1988735" y="1206390"/>
                  </a:cubicBezTo>
                  <a:lnTo>
                    <a:pt x="74796" y="1206390"/>
                  </a:lnTo>
                  <a:cubicBezTo>
                    <a:pt x="54959" y="1206390"/>
                    <a:pt x="35934" y="1198510"/>
                    <a:pt x="21907" y="1184483"/>
                  </a:cubicBezTo>
                  <a:cubicBezTo>
                    <a:pt x="7880" y="1170456"/>
                    <a:pt x="0" y="1151431"/>
                    <a:pt x="0" y="1131594"/>
                  </a:cubicBezTo>
                  <a:lnTo>
                    <a:pt x="0" y="74796"/>
                  </a:lnTo>
                  <a:cubicBezTo>
                    <a:pt x="0" y="54959"/>
                    <a:pt x="7880" y="35934"/>
                    <a:pt x="21907" y="21907"/>
                  </a:cubicBezTo>
                  <a:cubicBezTo>
                    <a:pt x="35934" y="7880"/>
                    <a:pt x="54959" y="0"/>
                    <a:pt x="74796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1B548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63531" cy="125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66212" y="3721248"/>
            <a:ext cx="8668774" cy="292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46446" indent="-423223" lvl="1">
              <a:lnSpc>
                <a:spcPts val="3842"/>
              </a:lnSpc>
              <a:buFont typeface="Arial"/>
              <a:buChar char="•"/>
            </a:pPr>
            <a:r>
              <a:rPr lang="en-US" sz="3920" spc="15">
                <a:solidFill>
                  <a:srgbClr val="353B57"/>
                </a:solidFill>
                <a:latin typeface="Barlow"/>
                <a:ea typeface="Barlow"/>
                <a:cs typeface="Barlow"/>
                <a:sym typeface="Barlow"/>
              </a:rPr>
              <a:t>Ethe</a:t>
            </a:r>
            <a:r>
              <a:rPr lang="en-US" sz="3920" spc="15">
                <a:solidFill>
                  <a:srgbClr val="353B57"/>
                </a:solidFill>
                <a:latin typeface="Barlow"/>
                <a:ea typeface="Barlow"/>
                <a:cs typeface="Barlow"/>
                <a:sym typeface="Barlow"/>
              </a:rPr>
              <a:t>rnet: A mais comum, usada para conexões com fio.</a:t>
            </a:r>
          </a:p>
          <a:p>
            <a:pPr algn="ctr" marL="846446" indent="-423223" lvl="1">
              <a:lnSpc>
                <a:spcPts val="3842"/>
              </a:lnSpc>
              <a:buFont typeface="Arial"/>
              <a:buChar char="•"/>
            </a:pPr>
            <a:r>
              <a:rPr lang="en-US" sz="3920" spc="15">
                <a:solidFill>
                  <a:srgbClr val="353B57"/>
                </a:solidFill>
                <a:latin typeface="Barlow"/>
                <a:ea typeface="Barlow"/>
                <a:cs typeface="Barlow"/>
                <a:sym typeface="Barlow"/>
              </a:rPr>
              <a:t>Wi-Fi: Permite conexões sem fio.</a:t>
            </a:r>
          </a:p>
          <a:p>
            <a:pPr algn="ctr" marL="846446" indent="-423223" lvl="1">
              <a:lnSpc>
                <a:spcPts val="3842"/>
              </a:lnSpc>
              <a:buFont typeface="Arial"/>
              <a:buChar char="•"/>
            </a:pPr>
            <a:r>
              <a:rPr lang="en-US" sz="3920" spc="15">
                <a:solidFill>
                  <a:srgbClr val="353B57"/>
                </a:solidFill>
                <a:latin typeface="Barlow"/>
                <a:ea typeface="Barlow"/>
                <a:cs typeface="Barlow"/>
                <a:sym typeface="Barlow"/>
              </a:rPr>
              <a:t>Fiber Optic: Usada para conexões de alta velocidade via fibra óptica.</a:t>
            </a:r>
          </a:p>
          <a:p>
            <a:pPr algn="ctr">
              <a:lnSpc>
                <a:spcPts val="384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12507" y="1255922"/>
            <a:ext cx="2668303" cy="2993889"/>
          </a:xfrm>
          <a:custGeom>
            <a:avLst/>
            <a:gdLst/>
            <a:ahLst/>
            <a:cxnLst/>
            <a:rect r="r" b="b" t="t" l="l"/>
            <a:pathLst>
              <a:path h="2993889" w="2668303">
                <a:moveTo>
                  <a:pt x="0" y="0"/>
                </a:moveTo>
                <a:lnTo>
                  <a:pt x="2668304" y="0"/>
                </a:lnTo>
                <a:lnTo>
                  <a:pt x="2668304" y="2993889"/>
                </a:lnTo>
                <a:lnTo>
                  <a:pt x="0" y="299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463187">
            <a:off x="13050465" y="-434340"/>
            <a:ext cx="7315200" cy="2926080"/>
          </a:xfrm>
          <a:custGeom>
            <a:avLst/>
            <a:gdLst/>
            <a:ahLst/>
            <a:cxnLst/>
            <a:rect r="r" b="b" t="t" l="l"/>
            <a:pathLst>
              <a:path h="2926080" w="7315200">
                <a:moveTo>
                  <a:pt x="0" y="0"/>
                </a:moveTo>
                <a:lnTo>
                  <a:pt x="7315200" y="0"/>
                </a:lnTo>
                <a:lnTo>
                  <a:pt x="731520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463187">
            <a:off x="-1949869" y="7255075"/>
            <a:ext cx="7315200" cy="2926080"/>
          </a:xfrm>
          <a:custGeom>
            <a:avLst/>
            <a:gdLst/>
            <a:ahLst/>
            <a:cxnLst/>
            <a:rect r="r" b="b" t="t" l="l"/>
            <a:pathLst>
              <a:path h="2926080" w="7315200">
                <a:moveTo>
                  <a:pt x="0" y="0"/>
                </a:moveTo>
                <a:lnTo>
                  <a:pt x="7315200" y="0"/>
                </a:lnTo>
                <a:lnTo>
                  <a:pt x="731520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10378" y="5305535"/>
            <a:ext cx="17391849" cy="11799"/>
          </a:xfrm>
          <a:prstGeom prst="line">
            <a:avLst/>
          </a:prstGeom>
          <a:ln cap="rnd" w="19050">
            <a:solidFill>
              <a:srgbClr val="F652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6528" y="5155519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62380" y="5155519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721584" y="5155519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02227" y="514350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7463187">
            <a:off x="12850391" y="-164247"/>
            <a:ext cx="7315200" cy="2926080"/>
          </a:xfrm>
          <a:custGeom>
            <a:avLst/>
            <a:gdLst/>
            <a:ahLst/>
            <a:cxnLst/>
            <a:rect r="r" b="b" t="t" l="l"/>
            <a:pathLst>
              <a:path h="2926080" w="7315200">
                <a:moveTo>
                  <a:pt x="0" y="0"/>
                </a:moveTo>
                <a:lnTo>
                  <a:pt x="7315200" y="0"/>
                </a:lnTo>
                <a:lnTo>
                  <a:pt x="731520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7463187">
            <a:off x="-1121433" y="8808359"/>
            <a:ext cx="3657600" cy="1463040"/>
          </a:xfrm>
          <a:custGeom>
            <a:avLst/>
            <a:gdLst/>
            <a:ahLst/>
            <a:cxnLst/>
            <a:rect r="r" b="b" t="t" l="l"/>
            <a:pathLst>
              <a:path h="1463040" w="3657600">
                <a:moveTo>
                  <a:pt x="0" y="0"/>
                </a:moveTo>
                <a:lnTo>
                  <a:pt x="3657600" y="0"/>
                </a:lnTo>
                <a:lnTo>
                  <a:pt x="3657600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463187">
            <a:off x="15818153" y="-395038"/>
            <a:ext cx="3657600" cy="1463040"/>
          </a:xfrm>
          <a:custGeom>
            <a:avLst/>
            <a:gdLst/>
            <a:ahLst/>
            <a:cxnLst/>
            <a:rect r="r" b="b" t="t" l="l"/>
            <a:pathLst>
              <a:path h="1463040" w="3657600">
                <a:moveTo>
                  <a:pt x="0" y="0"/>
                </a:moveTo>
                <a:lnTo>
                  <a:pt x="3657600" y="0"/>
                </a:lnTo>
                <a:lnTo>
                  <a:pt x="3657600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393204"/>
            <a:ext cx="13872395" cy="286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8"/>
              </a:lnSpc>
            </a:pPr>
            <a:r>
              <a:rPr lang="en-US" b="true" sz="12692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Principais usos da placa de rede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0378" y="5631368"/>
            <a:ext cx="5052002" cy="41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69"/>
              </a:lnSpc>
            </a:pPr>
            <a:r>
              <a:rPr lang="en-US" sz="4447" spc="1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Conexão à rede: Permite que o computador se conecte a outras máquinas e dispositivos na rede.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74032" y="3581121"/>
            <a:ext cx="1304519" cy="17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07"/>
              </a:lnSpc>
            </a:pPr>
            <a:r>
              <a:rPr lang="en-US" b="true" sz="8091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72420" y="3593139"/>
            <a:ext cx="1304519" cy="17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07"/>
              </a:lnSpc>
            </a:pPr>
            <a:r>
              <a:rPr lang="en-US" b="true" sz="8091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2780" y="3581121"/>
            <a:ext cx="1304519" cy="172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07"/>
              </a:lnSpc>
            </a:pPr>
            <a:r>
              <a:rPr lang="en-US" b="true" sz="8091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72353" y="5536519"/>
            <a:ext cx="4804787" cy="41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69"/>
              </a:lnSpc>
              <a:spcBef>
                <a:spcPct val="0"/>
              </a:spcBef>
            </a:pPr>
            <a:r>
              <a:rPr lang="en-US" sz="4447" spc="1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Comunicação de dados: Facilita a troca de dados entre o computador e outros dispositivos na rede.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45434" y="5631368"/>
            <a:ext cx="5979210" cy="416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69"/>
              </a:lnSpc>
              <a:spcBef>
                <a:spcPct val="0"/>
              </a:spcBef>
            </a:pPr>
            <a:r>
              <a:rPr lang="en-US" sz="4447" spc="1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Controle de acesso à rede: Gerencia o acesso do computador à rede, garantindo que os dados sejam enviados e recebidos corretamente.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605614" y="2817493"/>
            <a:ext cx="1365331" cy="1644977"/>
          </a:xfrm>
          <a:custGeom>
            <a:avLst/>
            <a:gdLst/>
            <a:ahLst/>
            <a:cxnLst/>
            <a:rect r="r" b="b" t="t" l="l"/>
            <a:pathLst>
              <a:path h="1644977" w="1365331">
                <a:moveTo>
                  <a:pt x="0" y="0"/>
                </a:moveTo>
                <a:lnTo>
                  <a:pt x="1365331" y="0"/>
                </a:lnTo>
                <a:lnTo>
                  <a:pt x="1365331" y="1644976"/>
                </a:lnTo>
                <a:lnTo>
                  <a:pt x="0" y="1644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9793" y="8044601"/>
            <a:ext cx="1878009" cy="2242399"/>
          </a:xfrm>
          <a:custGeom>
            <a:avLst/>
            <a:gdLst/>
            <a:ahLst/>
            <a:cxnLst/>
            <a:rect r="r" b="b" t="t" l="l"/>
            <a:pathLst>
              <a:path h="2242399" w="1878009">
                <a:moveTo>
                  <a:pt x="0" y="0"/>
                </a:moveTo>
                <a:lnTo>
                  <a:pt x="1878009" y="0"/>
                </a:lnTo>
                <a:lnTo>
                  <a:pt x="1878009" y="2242399"/>
                </a:lnTo>
                <a:lnTo>
                  <a:pt x="0" y="2242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63149">
            <a:off x="-7108150" y="2309026"/>
            <a:ext cx="15090556" cy="3731483"/>
          </a:xfrm>
          <a:custGeom>
            <a:avLst/>
            <a:gdLst/>
            <a:ahLst/>
            <a:cxnLst/>
            <a:rect r="r" b="b" t="t" l="l"/>
            <a:pathLst>
              <a:path h="3731483" w="15090556">
                <a:moveTo>
                  <a:pt x="0" y="0"/>
                </a:moveTo>
                <a:lnTo>
                  <a:pt x="15090556" y="0"/>
                </a:lnTo>
                <a:lnTo>
                  <a:pt x="15090556" y="3731482"/>
                </a:lnTo>
                <a:lnTo>
                  <a:pt x="0" y="373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63149">
            <a:off x="10309460" y="2309026"/>
            <a:ext cx="15090556" cy="3731483"/>
          </a:xfrm>
          <a:custGeom>
            <a:avLst/>
            <a:gdLst/>
            <a:ahLst/>
            <a:cxnLst/>
            <a:rect r="r" b="b" t="t" l="l"/>
            <a:pathLst>
              <a:path h="3731483" w="15090556">
                <a:moveTo>
                  <a:pt x="0" y="0"/>
                </a:moveTo>
                <a:lnTo>
                  <a:pt x="15090556" y="0"/>
                </a:lnTo>
                <a:lnTo>
                  <a:pt x="15090556" y="3731482"/>
                </a:lnTo>
                <a:lnTo>
                  <a:pt x="0" y="373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56468" y="5626117"/>
            <a:ext cx="10375064" cy="245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1"/>
              </a:lnSpc>
              <a:spcBef>
                <a:spcPct val="0"/>
              </a:spcBef>
            </a:pPr>
            <a:r>
              <a:rPr lang="en-US" sz="2647" spc="1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Também conhecida como NIC (Network Interface Card), é um componente de hardware que permite que um computador se conecte a uma rede. Ela pode ser usada para conectar o computador a uma rede local (LAN) ou à internet. As placas de rede podem ser integradas à placa-mãe do computador ou instaladas como placas de expansão.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75507" y="1897966"/>
            <a:ext cx="11336985" cy="380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14"/>
              </a:lnSpc>
            </a:pPr>
            <a:r>
              <a:rPr lang="en-US" b="true" sz="11725" i="true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Mas no fim, o que é uma placa de rede?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2768772" y="3438565"/>
            <a:ext cx="706735" cy="869585"/>
          </a:xfrm>
          <a:custGeom>
            <a:avLst/>
            <a:gdLst/>
            <a:ahLst/>
            <a:cxnLst/>
            <a:rect r="r" b="b" t="t" l="l"/>
            <a:pathLst>
              <a:path h="869585" w="706735">
                <a:moveTo>
                  <a:pt x="0" y="869585"/>
                </a:moveTo>
                <a:lnTo>
                  <a:pt x="706735" y="869585"/>
                </a:lnTo>
                <a:lnTo>
                  <a:pt x="706735" y="0"/>
                </a:lnTo>
                <a:lnTo>
                  <a:pt x="0" y="0"/>
                </a:lnTo>
                <a:lnTo>
                  <a:pt x="0" y="8695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812493" y="3438565"/>
            <a:ext cx="706735" cy="869585"/>
          </a:xfrm>
          <a:custGeom>
            <a:avLst/>
            <a:gdLst/>
            <a:ahLst/>
            <a:cxnLst/>
            <a:rect r="r" b="b" t="t" l="l"/>
            <a:pathLst>
              <a:path h="869585" w="706735">
                <a:moveTo>
                  <a:pt x="706735" y="869585"/>
                </a:moveTo>
                <a:lnTo>
                  <a:pt x="0" y="869585"/>
                </a:lnTo>
                <a:lnTo>
                  <a:pt x="0" y="0"/>
                </a:lnTo>
                <a:lnTo>
                  <a:pt x="706735" y="0"/>
                </a:lnTo>
                <a:lnTo>
                  <a:pt x="706735" y="8695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4151" y="2544615"/>
            <a:ext cx="15239697" cy="402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45"/>
              </a:lnSpc>
              <a:spcBef>
                <a:spcPct val="0"/>
              </a:spcBef>
            </a:pPr>
            <a:r>
              <a:rPr lang="en-US" b="true" sz="23460" u="non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Obrigado!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38592" y="7230493"/>
            <a:ext cx="2210816" cy="51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4"/>
              </a:lnSpc>
            </a:pPr>
            <a:r>
              <a:rPr lang="en-US" sz="2376" spc="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PLACA DE REDE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696318" y="-661135"/>
            <a:ext cx="11148209" cy="11148209"/>
          </a:xfrm>
          <a:custGeom>
            <a:avLst/>
            <a:gdLst/>
            <a:ahLst/>
            <a:cxnLst/>
            <a:rect r="r" b="b" t="t" l="l"/>
            <a:pathLst>
              <a:path h="11148209" w="11148209">
                <a:moveTo>
                  <a:pt x="0" y="0"/>
                </a:moveTo>
                <a:lnTo>
                  <a:pt x="11148209" y="0"/>
                </a:lnTo>
                <a:lnTo>
                  <a:pt x="11148209" y="11148209"/>
                </a:lnTo>
                <a:lnTo>
                  <a:pt x="0" y="11148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95908" y="-430604"/>
            <a:ext cx="11148209" cy="11148209"/>
          </a:xfrm>
          <a:custGeom>
            <a:avLst/>
            <a:gdLst/>
            <a:ahLst/>
            <a:cxnLst/>
            <a:rect r="r" b="b" t="t" l="l"/>
            <a:pathLst>
              <a:path h="11148209" w="11148209">
                <a:moveTo>
                  <a:pt x="0" y="0"/>
                </a:moveTo>
                <a:lnTo>
                  <a:pt x="11148208" y="0"/>
                </a:lnTo>
                <a:lnTo>
                  <a:pt x="11148208" y="11148208"/>
                </a:lnTo>
                <a:lnTo>
                  <a:pt x="0" y="11148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86586" y="8208393"/>
            <a:ext cx="2058472" cy="558361"/>
          </a:xfrm>
          <a:custGeom>
            <a:avLst/>
            <a:gdLst/>
            <a:ahLst/>
            <a:cxnLst/>
            <a:rect r="r" b="b" t="t" l="l"/>
            <a:pathLst>
              <a:path h="558361" w="2058472">
                <a:moveTo>
                  <a:pt x="0" y="0"/>
                </a:moveTo>
                <a:lnTo>
                  <a:pt x="2058472" y="0"/>
                </a:lnTo>
                <a:lnTo>
                  <a:pt x="2058472" y="558361"/>
                </a:lnTo>
                <a:lnTo>
                  <a:pt x="0" y="558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83566" y="1225519"/>
            <a:ext cx="1720869" cy="2503082"/>
          </a:xfrm>
          <a:custGeom>
            <a:avLst/>
            <a:gdLst/>
            <a:ahLst/>
            <a:cxnLst/>
            <a:rect r="r" b="b" t="t" l="l"/>
            <a:pathLst>
              <a:path h="2503082" w="1720869">
                <a:moveTo>
                  <a:pt x="0" y="0"/>
                </a:moveTo>
                <a:lnTo>
                  <a:pt x="1720868" y="0"/>
                </a:lnTo>
                <a:lnTo>
                  <a:pt x="1720868" y="2503082"/>
                </a:lnTo>
                <a:lnTo>
                  <a:pt x="0" y="25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DAGW02ICan0</dc:identifier>
  <dcterms:modified xsi:type="dcterms:W3CDTF">2011-08-01T06:04:30Z</dcterms:modified>
  <cp:revision>1</cp:revision>
  <dc:title>Placa de Rede</dc:title>
</cp:coreProperties>
</file>